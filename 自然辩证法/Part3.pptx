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81" r:id="rId2"/>
    <p:sldId id="298" r:id="rId3"/>
    <p:sldId id="302" r:id="rId4"/>
    <p:sldId id="300" r:id="rId5"/>
    <p:sldId id="301" r:id="rId6"/>
    <p:sldId id="303" r:id="rId7"/>
    <p:sldId id="304" r:id="rId8"/>
    <p:sldId id="305" r:id="rId9"/>
    <p:sldId id="306" r:id="rId10"/>
  </p:sldIdLst>
  <p:sldSz cx="12192000" cy="6858000"/>
  <p:notesSz cx="6858000" cy="9144000"/>
  <p:custDataLst>
    <p:tags r:id="rId1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Fangke@JLU" initials="FK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F5819"/>
    <a:srgbClr val="E38239"/>
    <a:srgbClr val="CD773C"/>
    <a:srgbClr val="17499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009" autoAdjust="0"/>
    <p:restoredTop sz="94660"/>
  </p:normalViewPr>
  <p:slideViewPr>
    <p:cSldViewPr snapToGrid="0">
      <p:cViewPr varScale="1">
        <p:scale>
          <a:sx n="155" d="100"/>
          <a:sy n="155" d="100"/>
        </p:scale>
        <p:origin x="582" y="1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gs" Target="tags/tag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FB5BAD-2394-4612-9617-4CB2CDBF0983}" type="datetimeFigureOut">
              <a:rPr lang="zh-CN" altLang="en-US" smtClean="0"/>
              <a:t>2025/10/11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326D4-EF95-420F-AE7E-D1272D9B081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FB5BAD-2394-4612-9617-4CB2CDBF0983}" type="datetimeFigureOut">
              <a:rPr lang="zh-CN" altLang="en-US" smtClean="0"/>
              <a:t>2025/10/11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326D4-EF95-420F-AE7E-D1272D9B081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FB5BAD-2394-4612-9617-4CB2CDBF0983}" type="datetimeFigureOut">
              <a:rPr lang="zh-CN" altLang="en-US" smtClean="0"/>
              <a:t>2025/10/11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326D4-EF95-420F-AE7E-D1272D9B081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FB5BAD-2394-4612-9617-4CB2CDBF0983}" type="datetimeFigureOut">
              <a:rPr lang="zh-CN" altLang="en-US" smtClean="0"/>
              <a:t>2025/10/11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326D4-EF95-420F-AE7E-D1272D9B081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FB5BAD-2394-4612-9617-4CB2CDBF0983}" type="datetimeFigureOut">
              <a:rPr lang="zh-CN" altLang="en-US" smtClean="0"/>
              <a:t>2025/10/11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326D4-EF95-420F-AE7E-D1272D9B081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FB5BAD-2394-4612-9617-4CB2CDBF0983}" type="datetimeFigureOut">
              <a:rPr lang="zh-CN" altLang="en-US" smtClean="0"/>
              <a:t>2025/10/11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326D4-EF95-420F-AE7E-D1272D9B081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FB5BAD-2394-4612-9617-4CB2CDBF0983}" type="datetimeFigureOut">
              <a:rPr lang="zh-CN" altLang="en-US" smtClean="0"/>
              <a:t>2025/10/11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326D4-EF95-420F-AE7E-D1272D9B081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FB5BAD-2394-4612-9617-4CB2CDBF0983}" type="datetimeFigureOut">
              <a:rPr lang="zh-CN" altLang="en-US" smtClean="0"/>
              <a:t>2025/10/11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326D4-EF95-420F-AE7E-D1272D9B081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FB5BAD-2394-4612-9617-4CB2CDBF0983}" type="datetimeFigureOut">
              <a:rPr lang="zh-CN" altLang="en-US" smtClean="0"/>
              <a:t>2025/10/11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326D4-EF95-420F-AE7E-D1272D9B081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FB5BAD-2394-4612-9617-4CB2CDBF0983}" type="datetimeFigureOut">
              <a:rPr lang="zh-CN" altLang="en-US" smtClean="0"/>
              <a:t>2025/10/11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326D4-EF95-420F-AE7E-D1272D9B081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FB5BAD-2394-4612-9617-4CB2CDBF0983}" type="datetimeFigureOut">
              <a:rPr lang="zh-CN" altLang="en-US" smtClean="0"/>
              <a:t>2025/10/11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326D4-EF95-420F-AE7E-D1272D9B081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B5BAD-2394-4612-9617-4CB2CDBF0983}" type="datetimeFigureOut">
              <a:rPr lang="zh-CN" altLang="en-US" smtClean="0"/>
              <a:t>2025/10/11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E326D4-EF95-420F-AE7E-D1272D9B081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任意多边形: 形状 56"/>
          <p:cNvSpPr/>
          <p:nvPr/>
        </p:nvSpPr>
        <p:spPr>
          <a:xfrm flipH="1">
            <a:off x="4926379" y="-1643605"/>
            <a:ext cx="7423807" cy="8501605"/>
          </a:xfrm>
          <a:custGeom>
            <a:avLst/>
            <a:gdLst>
              <a:gd name="connsiteX0" fmla="*/ 1746778 w 7423807"/>
              <a:gd name="connsiteY0" fmla="*/ 0 h 8501605"/>
              <a:gd name="connsiteX1" fmla="*/ 1746778 w 7423807"/>
              <a:gd name="connsiteY1" fmla="*/ 1 h 8501605"/>
              <a:gd name="connsiteX2" fmla="*/ 0 w 7423807"/>
              <a:gd name="connsiteY2" fmla="*/ 1 h 8501605"/>
              <a:gd name="connsiteX3" fmla="*/ 0 w 7423807"/>
              <a:gd name="connsiteY3" fmla="*/ 2747956 h 8501605"/>
              <a:gd name="connsiteX4" fmla="*/ 3805464 w 7423807"/>
              <a:gd name="connsiteY4" fmla="*/ 8501605 h 8501605"/>
              <a:gd name="connsiteX5" fmla="*/ 7423807 w 7423807"/>
              <a:gd name="connsiteY5" fmla="*/ 8501605 h 85016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423807" h="8501605">
                <a:moveTo>
                  <a:pt x="1746778" y="0"/>
                </a:moveTo>
                <a:lnTo>
                  <a:pt x="1746778" y="1"/>
                </a:lnTo>
                <a:lnTo>
                  <a:pt x="0" y="1"/>
                </a:lnTo>
                <a:lnTo>
                  <a:pt x="0" y="2747956"/>
                </a:lnTo>
                <a:lnTo>
                  <a:pt x="3805464" y="8501605"/>
                </a:lnTo>
                <a:lnTo>
                  <a:pt x="7423807" y="8501605"/>
                </a:lnTo>
                <a:close/>
              </a:path>
            </a:pathLst>
          </a:custGeom>
          <a:solidFill>
            <a:srgbClr val="AF581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/>
          <p:cNvSpPr txBox="1"/>
          <p:nvPr/>
        </p:nvSpPr>
        <p:spPr>
          <a:xfrm>
            <a:off x="287506" y="2989886"/>
            <a:ext cx="480131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>
                <a:solidFill>
                  <a:srgbClr val="AF5819"/>
                </a:solidFill>
                <a:latin typeface="Times New Roman" panose="02020603050405020304" charset="0"/>
                <a:ea typeface="思源黑体" panose="020B0400000000000000" charset="-122"/>
              </a:rPr>
              <a:t>伽利略与教会的冲突</a:t>
            </a:r>
          </a:p>
        </p:txBody>
      </p:sp>
      <p:sp>
        <p:nvSpPr>
          <p:cNvPr id="22" name="文本框 21"/>
          <p:cNvSpPr txBox="1"/>
          <p:nvPr/>
        </p:nvSpPr>
        <p:spPr>
          <a:xfrm>
            <a:off x="321112" y="3586628"/>
            <a:ext cx="3584575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rgbClr val="AF5819"/>
                </a:solidFill>
                <a:latin typeface="Times New Roman" panose="02020603050405020304" charset="0"/>
                <a:ea typeface="思源黑体" panose="020B0400000000000000" charset="-122"/>
                <a:cs typeface="阿里巴巴普惠体 L" panose="00020600040101010101" pitchFamily="18" charset="-122"/>
              </a:rPr>
              <a:t>Please input your topic here</a:t>
            </a:r>
          </a:p>
        </p:txBody>
      </p:sp>
      <p:sp>
        <p:nvSpPr>
          <p:cNvPr id="28" name="矩形 27"/>
          <p:cNvSpPr/>
          <p:nvPr/>
        </p:nvSpPr>
        <p:spPr>
          <a:xfrm>
            <a:off x="424113" y="1522062"/>
            <a:ext cx="1210588" cy="132343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8000" dirty="0">
                <a:solidFill>
                  <a:srgbClr val="AF5819"/>
                </a:solidFill>
                <a:latin typeface="Times New Roman" panose="02020603050405020304" charset="0"/>
                <a:ea typeface="思源黑体" panose="020B0400000000000000" charset="-122"/>
              </a:rPr>
              <a:t>03</a:t>
            </a:r>
          </a:p>
        </p:txBody>
      </p:sp>
      <p:pic>
        <p:nvPicPr>
          <p:cNvPr id="31" name="图片 3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730788" y="1754570"/>
            <a:ext cx="6140100" cy="3070050"/>
          </a:xfrm>
          <a:prstGeom prst="rect">
            <a:avLst/>
          </a:prstGeom>
        </p:spPr>
      </p:pic>
      <p:sp>
        <p:nvSpPr>
          <p:cNvPr id="33" name="矩形 32"/>
          <p:cNvSpPr/>
          <p:nvPr/>
        </p:nvSpPr>
        <p:spPr>
          <a:xfrm>
            <a:off x="287506" y="4985417"/>
            <a:ext cx="350521" cy="350521"/>
          </a:xfrm>
          <a:prstGeom prst="rect">
            <a:avLst/>
          </a:prstGeom>
          <a:solidFill>
            <a:srgbClr val="AF581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矩形 33"/>
          <p:cNvSpPr/>
          <p:nvPr/>
        </p:nvSpPr>
        <p:spPr>
          <a:xfrm>
            <a:off x="638027" y="5335938"/>
            <a:ext cx="350521" cy="350521"/>
          </a:xfrm>
          <a:prstGeom prst="rect">
            <a:avLst/>
          </a:prstGeom>
          <a:solidFill>
            <a:srgbClr val="E382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矩形 34"/>
          <p:cNvSpPr/>
          <p:nvPr/>
        </p:nvSpPr>
        <p:spPr>
          <a:xfrm>
            <a:off x="287506" y="5686459"/>
            <a:ext cx="350521" cy="350521"/>
          </a:xfrm>
          <a:prstGeom prst="rect">
            <a:avLst/>
          </a:prstGeom>
          <a:solidFill>
            <a:srgbClr val="AF581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矩形 43"/>
          <p:cNvSpPr/>
          <p:nvPr/>
        </p:nvSpPr>
        <p:spPr>
          <a:xfrm>
            <a:off x="0" y="6418175"/>
            <a:ext cx="12192000" cy="461657"/>
          </a:xfrm>
          <a:prstGeom prst="rect">
            <a:avLst/>
          </a:prstGeom>
          <a:solidFill>
            <a:srgbClr val="AF581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6" name="直接连接符 45"/>
          <p:cNvCxnSpPr/>
          <p:nvPr/>
        </p:nvCxnSpPr>
        <p:spPr>
          <a:xfrm flipV="1">
            <a:off x="4926379" y="5331240"/>
            <a:ext cx="710687" cy="1144512"/>
          </a:xfrm>
          <a:prstGeom prst="line">
            <a:avLst/>
          </a:prstGeom>
          <a:ln w="114300">
            <a:solidFill>
              <a:srgbClr val="AF581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1" name="图片 5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4191" y="171769"/>
            <a:ext cx="2497769" cy="527052"/>
          </a:xfrm>
          <a:prstGeom prst="rect">
            <a:avLst/>
          </a:prstGeom>
        </p:spPr>
      </p:pic>
      <p:sp>
        <p:nvSpPr>
          <p:cNvPr id="55" name="文本框 54"/>
          <p:cNvSpPr txBox="1"/>
          <p:nvPr/>
        </p:nvSpPr>
        <p:spPr>
          <a:xfrm rot="16200000">
            <a:off x="2316659" y="4354149"/>
            <a:ext cx="459740" cy="451612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  <a:latin typeface="Times New Roman" panose="02020603050405020304" charset="0"/>
                <a:ea typeface="思源黑体" panose="020B0400000000000000" charset="-122"/>
              </a:rPr>
              <a:t>University of Chinese Academy of Sciences</a:t>
            </a:r>
          </a:p>
        </p:txBody>
      </p:sp>
      <p:cxnSp>
        <p:nvCxnSpPr>
          <p:cNvPr id="14" name="直接连接符 13"/>
          <p:cNvCxnSpPr/>
          <p:nvPr/>
        </p:nvCxnSpPr>
        <p:spPr>
          <a:xfrm flipV="1">
            <a:off x="8540621" y="-204930"/>
            <a:ext cx="710687" cy="1144512"/>
          </a:xfrm>
          <a:prstGeom prst="line">
            <a:avLst/>
          </a:prstGeom>
          <a:ln w="114300">
            <a:solidFill>
              <a:srgbClr val="AF581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>
            <a:extLst>
              <a:ext uri="{FF2B5EF4-FFF2-40B4-BE49-F238E27FC236}">
                <a16:creationId xmlns:a16="http://schemas.microsoft.com/office/drawing/2014/main" id="{B48C3E70-7A60-C2BB-F1B6-2B3AC8206C09}"/>
              </a:ext>
            </a:extLst>
          </p:cNvPr>
          <p:cNvGrpSpPr/>
          <p:nvPr/>
        </p:nvGrpSpPr>
        <p:grpSpPr>
          <a:xfrm>
            <a:off x="4759273" y="1046515"/>
            <a:ext cx="6767317" cy="2985893"/>
            <a:chOff x="4759275" y="1667098"/>
            <a:chExt cx="6767317" cy="2985893"/>
          </a:xfrm>
        </p:grpSpPr>
        <p:sp>
          <p:nvSpPr>
            <p:cNvPr id="7" name="圆角矩形 3"/>
            <p:cNvSpPr>
              <a:spLocks noChangeArrowheads="1"/>
            </p:cNvSpPr>
            <p:nvPr/>
          </p:nvSpPr>
          <p:spPr>
            <a:xfrm>
              <a:off x="4759275" y="2005502"/>
              <a:ext cx="6767317" cy="2647489"/>
            </a:xfrm>
            <a:prstGeom prst="roundRect">
              <a:avLst>
                <a:gd name="adj" fmla="val 9083"/>
              </a:avLst>
            </a:prstGeom>
            <a:solidFill>
              <a:srgbClr val="FFFFFF"/>
            </a:solidFill>
            <a:ln w="12700">
              <a:solidFill>
                <a:srgbClr val="9A0000"/>
              </a:solidFill>
              <a:round/>
            </a:ln>
          </p:spPr>
          <p:txBody>
            <a:bodyPr anchor="ctr"/>
            <a:lstStyle>
              <a:lvl1pPr lvl="0">
                <a:defRPr>
                  <a:solidFill>
                    <a:schemeClr val="tx1"/>
                  </a:solidFill>
                  <a:latin typeface="Calibri" panose="020F0502020204030204"/>
                  <a:ea typeface="宋体" pitchFamily="2" charset="-122"/>
                </a:defRPr>
              </a:lvl1pPr>
              <a:lvl2pPr marL="742950" lvl="1" indent="-285750">
                <a:defRPr>
                  <a:solidFill>
                    <a:schemeClr val="tx1"/>
                  </a:solidFill>
                  <a:latin typeface="Calibri" panose="020F0502020204030204"/>
                  <a:ea typeface="宋体" pitchFamily="2" charset="-122"/>
                </a:defRPr>
              </a:lvl2pPr>
              <a:lvl3pPr marL="1143000" lvl="2" indent="-228600">
                <a:defRPr>
                  <a:solidFill>
                    <a:schemeClr val="tx1"/>
                  </a:solidFill>
                  <a:latin typeface="Calibri" panose="020F0502020204030204"/>
                  <a:ea typeface="宋体" pitchFamily="2" charset="-122"/>
                </a:defRPr>
              </a:lvl3pPr>
              <a:lvl4pPr marL="1600200" lvl="3" indent="-228600">
                <a:defRPr>
                  <a:solidFill>
                    <a:schemeClr val="tx1"/>
                  </a:solidFill>
                  <a:latin typeface="Calibri" panose="020F0502020204030204"/>
                  <a:ea typeface="宋体" pitchFamily="2" charset="-122"/>
                </a:defRPr>
              </a:lvl4pPr>
              <a:lvl5pPr marL="2057400" lvl="4" indent="-228600">
                <a:defRPr>
                  <a:solidFill>
                    <a:schemeClr val="tx1"/>
                  </a:solidFill>
                  <a:latin typeface="Calibri" panose="020F0502020204030204"/>
                  <a:ea typeface="宋体" pitchFamily="2" charset="-122"/>
                </a:defRPr>
              </a:lvl5pPr>
              <a:lvl6pPr marL="2514600" lvl="5" indent="-22860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/>
                  <a:ea typeface="宋体" pitchFamily="2" charset="-122"/>
                </a:defRPr>
              </a:lvl6pPr>
              <a:lvl7pPr marL="2971800" lvl="6" indent="-22860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/>
                  <a:ea typeface="宋体" pitchFamily="2" charset="-122"/>
                </a:defRPr>
              </a:lvl7pPr>
              <a:lvl8pPr marL="3429000" lvl="7" indent="-22860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/>
                  <a:ea typeface="宋体" pitchFamily="2" charset="-122"/>
                </a:defRPr>
              </a:lvl8pPr>
              <a:lvl9pPr marL="3886200" lvl="8" indent="-22860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/>
                  <a:ea typeface="宋体" pitchFamily="2" charset="-122"/>
                </a:defRPr>
              </a:lvl9pPr>
            </a:lstStyle>
            <a:p>
              <a:pPr algn="ctr"/>
              <a:endParaRPr lang="zh-CN" sz="2000">
                <a:solidFill>
                  <a:srgbClr val="FFFFFF"/>
                </a:solidFill>
                <a:latin typeface="FZShengShiKaiShuS-EB-GB"/>
                <a:ea typeface="FZShengShiKaiShuS-EB-GB"/>
              </a:endParaRPr>
            </a:p>
          </p:txBody>
        </p:sp>
        <p:sp>
          <p:nvSpPr>
            <p:cNvPr id="8" name="矩形 4"/>
            <p:cNvSpPr>
              <a:spLocks noChangeArrowheads="1"/>
            </p:cNvSpPr>
            <p:nvPr/>
          </p:nvSpPr>
          <p:spPr>
            <a:xfrm>
              <a:off x="5250678" y="2472345"/>
              <a:ext cx="5784512" cy="1884747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 lvl="0" defTabSz="1216025">
                <a:defRPr>
                  <a:solidFill>
                    <a:schemeClr val="tx1"/>
                  </a:solidFill>
                  <a:latin typeface="Calibri" panose="020F0502020204030204"/>
                  <a:ea typeface="宋体" pitchFamily="2" charset="-122"/>
                </a:defRPr>
              </a:lvl1pPr>
              <a:lvl2pPr marL="742950" lvl="1" indent="-285750" defTabSz="1216025">
                <a:defRPr>
                  <a:solidFill>
                    <a:schemeClr val="tx1"/>
                  </a:solidFill>
                  <a:latin typeface="Calibri" panose="020F0502020204030204"/>
                  <a:ea typeface="宋体" pitchFamily="2" charset="-122"/>
                </a:defRPr>
              </a:lvl2pPr>
              <a:lvl3pPr marL="1143000" lvl="2" indent="-228600" defTabSz="1216025">
                <a:defRPr>
                  <a:solidFill>
                    <a:schemeClr val="tx1"/>
                  </a:solidFill>
                  <a:latin typeface="Calibri" panose="020F0502020204030204"/>
                  <a:ea typeface="宋体" pitchFamily="2" charset="-122"/>
                </a:defRPr>
              </a:lvl3pPr>
              <a:lvl4pPr marL="1600200" lvl="3" indent="-228600" defTabSz="1216025">
                <a:defRPr>
                  <a:solidFill>
                    <a:schemeClr val="tx1"/>
                  </a:solidFill>
                  <a:latin typeface="Calibri" panose="020F0502020204030204"/>
                  <a:ea typeface="宋体" pitchFamily="2" charset="-122"/>
                </a:defRPr>
              </a:lvl4pPr>
              <a:lvl5pPr marL="2057400" lvl="4" indent="-228600" defTabSz="1216025">
                <a:defRPr>
                  <a:solidFill>
                    <a:schemeClr val="tx1"/>
                  </a:solidFill>
                  <a:latin typeface="Calibri" panose="020F0502020204030204"/>
                  <a:ea typeface="宋体" pitchFamily="2" charset="-122"/>
                </a:defRPr>
              </a:lvl5pPr>
              <a:lvl6pPr marL="2514600" lvl="5" indent="-228600" defTabSz="1216025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/>
                  <a:ea typeface="宋体" pitchFamily="2" charset="-122"/>
                </a:defRPr>
              </a:lvl6pPr>
              <a:lvl7pPr marL="2971800" lvl="6" indent="-228600" defTabSz="1216025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/>
                  <a:ea typeface="宋体" pitchFamily="2" charset="-122"/>
                </a:defRPr>
              </a:lvl7pPr>
              <a:lvl8pPr marL="3429000" lvl="7" indent="-228600" defTabSz="1216025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/>
                  <a:ea typeface="宋体" pitchFamily="2" charset="-122"/>
                </a:defRPr>
              </a:lvl8pPr>
              <a:lvl9pPr marL="3886200" lvl="8" indent="-228600" defTabSz="1216025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/>
                  <a:ea typeface="宋体" pitchFamily="2" charset="-122"/>
                </a:defRPr>
              </a:lvl9pPr>
            </a:lstStyle>
            <a:p>
              <a:pPr>
                <a:lnSpc>
                  <a:spcPts val="2560"/>
                </a:lnSpc>
              </a:pPr>
              <a:r>
                <a:rPr lang="zh-CN" altLang="en-US" dirty="0">
                  <a:latin typeface="Times New Roman" panose="02020603050405020304" charset="0"/>
                  <a:ea typeface="思源黑体" panose="020B0400000000000000" charset="-122"/>
                </a:rPr>
                <a:t>    </a:t>
              </a:r>
              <a:r>
                <a:rPr lang="en-US" altLang="zh-CN" dirty="0">
                  <a:latin typeface="Times New Roman" panose="02020603050405020304" charset="0"/>
                  <a:ea typeface="思源黑体" panose="020B0400000000000000" charset="-122"/>
                </a:rPr>
                <a:t>1609</a:t>
              </a:r>
              <a:r>
                <a:rPr lang="zh-CN" altLang="en-US" dirty="0">
                  <a:latin typeface="Times New Roman" panose="02020603050405020304" charset="0"/>
                  <a:ea typeface="思源黑体" panose="020B0400000000000000" charset="-122"/>
                </a:rPr>
                <a:t>年</a:t>
              </a:r>
              <a:r>
                <a:rPr lang="en-US" altLang="zh-CN" dirty="0">
                  <a:latin typeface="Times New Roman" panose="02020603050405020304" charset="0"/>
                  <a:ea typeface="思源黑体" panose="020B0400000000000000" charset="-122"/>
                </a:rPr>
                <a:t>10</a:t>
              </a:r>
              <a:r>
                <a:rPr lang="zh-CN" altLang="en-US" dirty="0">
                  <a:latin typeface="Times New Roman" panose="02020603050405020304" charset="0"/>
                  <a:ea typeface="思源黑体" panose="020B0400000000000000" charset="-122"/>
                </a:rPr>
                <a:t>月，伽利略制成了可以放大</a:t>
              </a:r>
              <a:r>
                <a:rPr lang="en-US" altLang="zh-CN" dirty="0">
                  <a:latin typeface="Times New Roman" panose="02020603050405020304" charset="0"/>
                  <a:ea typeface="思源黑体" panose="020B0400000000000000" charset="-122"/>
                </a:rPr>
                <a:t>32</a:t>
              </a:r>
              <a:r>
                <a:rPr lang="zh-CN" altLang="en-US" dirty="0">
                  <a:latin typeface="Times New Roman" panose="02020603050405020304" charset="0"/>
                  <a:ea typeface="思源黑体" panose="020B0400000000000000" charset="-122"/>
                </a:rPr>
                <a:t>倍的望远镜，他开始进行观测并记录下了许多发现：</a:t>
              </a:r>
              <a:endParaRPr lang="en-US" altLang="zh-CN" dirty="0">
                <a:latin typeface="Times New Roman" panose="02020603050405020304" charset="0"/>
                <a:ea typeface="思源黑体" panose="020B0400000000000000" charset="-122"/>
              </a:endParaRPr>
            </a:p>
            <a:p>
              <a:pPr marL="285750">
                <a:lnSpc>
                  <a:spcPts val="2560"/>
                </a:lnSpc>
                <a:spcBef>
                  <a:spcPts val="1200"/>
                </a:spcBef>
                <a:buFont typeface="Arial" panose="020B0604020202020204" pitchFamily="34" charset="0"/>
                <a:buChar char="•"/>
              </a:pPr>
              <a:r>
                <a:rPr lang="zh-CN" altLang="en-US" dirty="0">
                  <a:latin typeface="Times New Roman" panose="02020603050405020304" charset="0"/>
                  <a:ea typeface="思源黑体" panose="020B0400000000000000" charset="-122"/>
                </a:rPr>
                <a:t>月球表面并非光滑完美，而是坑坑洼洼、凹凸不平</a:t>
              </a:r>
              <a:endParaRPr lang="en-US" altLang="zh-CN" dirty="0">
                <a:latin typeface="Times New Roman" panose="02020603050405020304" charset="0"/>
                <a:ea typeface="思源黑体" panose="020B0400000000000000" charset="-122"/>
              </a:endParaRPr>
            </a:p>
            <a:p>
              <a:pPr marL="285750">
                <a:lnSpc>
                  <a:spcPts val="2560"/>
                </a:lnSpc>
                <a:buFont typeface="Arial" panose="020B0604020202020204" pitchFamily="34" charset="0"/>
                <a:buChar char="•"/>
              </a:pPr>
              <a:r>
                <a:rPr lang="zh-CN" altLang="en-US" dirty="0">
                  <a:latin typeface="Times New Roman" panose="02020603050405020304" charset="0"/>
                  <a:ea typeface="思源黑体" panose="020B0400000000000000" charset="-122"/>
                </a:rPr>
                <a:t>木星拥有四颗卫星</a:t>
              </a:r>
              <a:endParaRPr lang="en-US" altLang="zh-CN" dirty="0">
                <a:latin typeface="Times New Roman" panose="02020603050405020304" charset="0"/>
                <a:ea typeface="思源黑体" panose="020B0400000000000000" charset="-122"/>
              </a:endParaRPr>
            </a:p>
            <a:p>
              <a:pPr marL="285750">
                <a:lnSpc>
                  <a:spcPts val="2560"/>
                </a:lnSpc>
                <a:buFont typeface="Arial" panose="020B0604020202020204" pitchFamily="34" charset="0"/>
                <a:buChar char="•"/>
              </a:pPr>
              <a:r>
                <a:rPr lang="zh-CN" altLang="en-US" dirty="0">
                  <a:latin typeface="Times New Roman" panose="02020603050405020304" charset="0"/>
                  <a:ea typeface="思源黑体" panose="020B0400000000000000" charset="-122"/>
                </a:rPr>
                <a:t>金星呈现出类似月亮的“盈亏相位变化”</a:t>
              </a:r>
              <a:endParaRPr lang="en-US" altLang="zh-CN" dirty="0">
                <a:latin typeface="Times New Roman" panose="02020603050405020304" charset="0"/>
                <a:ea typeface="思源黑体" panose="020B0400000000000000" charset="-122"/>
              </a:endParaRPr>
            </a:p>
          </p:txBody>
        </p:sp>
        <p:sp>
          <p:nvSpPr>
            <p:cNvPr id="11" name="圆角矩形 7"/>
            <p:cNvSpPr>
              <a:spLocks noChangeArrowheads="1"/>
            </p:cNvSpPr>
            <p:nvPr/>
          </p:nvSpPr>
          <p:spPr>
            <a:xfrm>
              <a:off x="5739741" y="1667098"/>
              <a:ext cx="4834466" cy="552605"/>
            </a:xfrm>
            <a:prstGeom prst="roundRect">
              <a:avLst>
                <a:gd name="adj" fmla="val 16667"/>
              </a:avLst>
            </a:prstGeom>
            <a:solidFill>
              <a:srgbClr val="AF5819"/>
            </a:solidFill>
            <a:ln>
              <a:noFill/>
            </a:ln>
          </p:spPr>
          <p:txBody>
            <a:bodyPr anchor="ctr"/>
            <a:lstStyle>
              <a:lvl1pPr lvl="0">
                <a:defRPr>
                  <a:solidFill>
                    <a:schemeClr val="tx1"/>
                  </a:solidFill>
                  <a:latin typeface="Calibri" panose="020F0502020204030204"/>
                  <a:ea typeface="宋体" pitchFamily="2" charset="-122"/>
                </a:defRPr>
              </a:lvl1pPr>
              <a:lvl2pPr marL="742950" lvl="1" indent="-285750">
                <a:defRPr>
                  <a:solidFill>
                    <a:schemeClr val="tx1"/>
                  </a:solidFill>
                  <a:latin typeface="Calibri" panose="020F0502020204030204"/>
                  <a:ea typeface="宋体" pitchFamily="2" charset="-122"/>
                </a:defRPr>
              </a:lvl2pPr>
              <a:lvl3pPr marL="1143000" lvl="2" indent="-228600">
                <a:defRPr>
                  <a:solidFill>
                    <a:schemeClr val="tx1"/>
                  </a:solidFill>
                  <a:latin typeface="Calibri" panose="020F0502020204030204"/>
                  <a:ea typeface="宋体" pitchFamily="2" charset="-122"/>
                </a:defRPr>
              </a:lvl3pPr>
              <a:lvl4pPr marL="1600200" lvl="3" indent="-228600">
                <a:defRPr>
                  <a:solidFill>
                    <a:schemeClr val="tx1"/>
                  </a:solidFill>
                  <a:latin typeface="Calibri" panose="020F0502020204030204"/>
                  <a:ea typeface="宋体" pitchFamily="2" charset="-122"/>
                </a:defRPr>
              </a:lvl4pPr>
              <a:lvl5pPr marL="2057400" lvl="4" indent="-228600">
                <a:defRPr>
                  <a:solidFill>
                    <a:schemeClr val="tx1"/>
                  </a:solidFill>
                  <a:latin typeface="Calibri" panose="020F0502020204030204"/>
                  <a:ea typeface="宋体" pitchFamily="2" charset="-122"/>
                </a:defRPr>
              </a:lvl5pPr>
              <a:lvl6pPr marL="2514600" lvl="5" indent="-22860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/>
                  <a:ea typeface="宋体" pitchFamily="2" charset="-122"/>
                </a:defRPr>
              </a:lvl6pPr>
              <a:lvl7pPr marL="2971800" lvl="6" indent="-22860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/>
                  <a:ea typeface="宋体" pitchFamily="2" charset="-122"/>
                </a:defRPr>
              </a:lvl7pPr>
              <a:lvl8pPr marL="3429000" lvl="7" indent="-22860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/>
                  <a:ea typeface="宋体" pitchFamily="2" charset="-122"/>
                </a:defRPr>
              </a:lvl8pPr>
              <a:lvl9pPr marL="3886200" lvl="8" indent="-22860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/>
                  <a:ea typeface="宋体" pitchFamily="2" charset="-122"/>
                </a:defRPr>
              </a:lvl9pPr>
            </a:lstStyle>
            <a:p>
              <a:pPr algn="ctr"/>
              <a:endParaRPr lang="zh-CN" sz="2000">
                <a:solidFill>
                  <a:srgbClr val="FFFFFF"/>
                </a:solidFill>
                <a:latin typeface="FZShengShiKaiShuS-EB-GB"/>
                <a:ea typeface="FZShengShiKaiShuS-EB-GB"/>
              </a:endParaRPr>
            </a:p>
          </p:txBody>
        </p:sp>
        <p:sp>
          <p:nvSpPr>
            <p:cNvPr id="12" name="文本框 8"/>
            <p:cNvSpPr txBox="1">
              <a:spLocks noChangeArrowheads="1"/>
            </p:cNvSpPr>
            <p:nvPr/>
          </p:nvSpPr>
          <p:spPr>
            <a:xfrm>
              <a:off x="5680070" y="1681790"/>
              <a:ext cx="4953808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>
              <a:lvl1pPr lvl="0" defTabSz="1216025">
                <a:defRPr>
                  <a:solidFill>
                    <a:schemeClr val="tx1"/>
                  </a:solidFill>
                  <a:latin typeface="Calibri" panose="020F0502020204030204"/>
                  <a:ea typeface="宋体" pitchFamily="2" charset="-122"/>
                </a:defRPr>
              </a:lvl1pPr>
              <a:lvl2pPr marL="742950" lvl="1" indent="-285750" defTabSz="1216025">
                <a:defRPr>
                  <a:solidFill>
                    <a:schemeClr val="tx1"/>
                  </a:solidFill>
                  <a:latin typeface="Calibri" panose="020F0502020204030204"/>
                  <a:ea typeface="宋体" pitchFamily="2" charset="-122"/>
                </a:defRPr>
              </a:lvl2pPr>
              <a:lvl3pPr marL="1143000" lvl="2" indent="-228600" defTabSz="1216025">
                <a:defRPr>
                  <a:solidFill>
                    <a:schemeClr val="tx1"/>
                  </a:solidFill>
                  <a:latin typeface="Calibri" panose="020F0502020204030204"/>
                  <a:ea typeface="宋体" pitchFamily="2" charset="-122"/>
                </a:defRPr>
              </a:lvl3pPr>
              <a:lvl4pPr marL="1600200" lvl="3" indent="-228600" defTabSz="1216025">
                <a:defRPr>
                  <a:solidFill>
                    <a:schemeClr val="tx1"/>
                  </a:solidFill>
                  <a:latin typeface="Calibri" panose="020F0502020204030204"/>
                  <a:ea typeface="宋体" pitchFamily="2" charset="-122"/>
                </a:defRPr>
              </a:lvl4pPr>
              <a:lvl5pPr marL="2057400" lvl="4" indent="-228600" defTabSz="1216025">
                <a:defRPr>
                  <a:solidFill>
                    <a:schemeClr val="tx1"/>
                  </a:solidFill>
                  <a:latin typeface="Calibri" panose="020F0502020204030204"/>
                  <a:ea typeface="宋体" pitchFamily="2" charset="-122"/>
                </a:defRPr>
              </a:lvl5pPr>
              <a:lvl6pPr marL="2514600" lvl="5" indent="-228600" defTabSz="1216025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/>
                  <a:ea typeface="宋体" pitchFamily="2" charset="-122"/>
                </a:defRPr>
              </a:lvl6pPr>
              <a:lvl7pPr marL="2971800" lvl="6" indent="-228600" defTabSz="1216025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/>
                  <a:ea typeface="宋体" pitchFamily="2" charset="-122"/>
                </a:defRPr>
              </a:lvl7pPr>
              <a:lvl8pPr marL="3429000" lvl="7" indent="-228600" defTabSz="1216025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/>
                  <a:ea typeface="宋体" pitchFamily="2" charset="-122"/>
                </a:defRPr>
              </a:lvl8pPr>
              <a:lvl9pPr marL="3886200" lvl="8" indent="-228600" defTabSz="1216025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/>
                  <a:ea typeface="宋体" pitchFamily="2" charset="-122"/>
                </a:defRPr>
              </a:lvl9pPr>
            </a:lstStyle>
            <a:p>
              <a:pPr algn="ctr"/>
              <a:r>
                <a:rPr lang="zh-CN" altLang="en-US" sz="2800" b="1" dirty="0">
                  <a:solidFill>
                    <a:schemeClr val="bg1"/>
                  </a:solidFill>
                  <a:latin typeface="Times New Roman" panose="02020603050405020304" charset="0"/>
                  <a:ea typeface="思源黑体" panose="020B0400000000000000" charset="-122"/>
                </a:rPr>
                <a:t>望远镜下的新世界</a:t>
              </a:r>
              <a:endParaRPr lang="zh-CN" sz="2800" b="1" dirty="0">
                <a:solidFill>
                  <a:schemeClr val="bg1"/>
                </a:solidFill>
                <a:latin typeface="Times New Roman" panose="02020603050405020304" charset="0"/>
                <a:ea typeface="思源黑体" panose="020B0400000000000000" charset="-122"/>
              </a:endParaRPr>
            </a:p>
          </p:txBody>
        </p:sp>
      </p:grpSp>
      <p:sp>
        <p:nvSpPr>
          <p:cNvPr id="15" name="平行四边形 14"/>
          <p:cNvSpPr/>
          <p:nvPr/>
        </p:nvSpPr>
        <p:spPr>
          <a:xfrm>
            <a:off x="8855234" y="0"/>
            <a:ext cx="3961606" cy="817543"/>
          </a:xfrm>
          <a:prstGeom prst="parallelogram">
            <a:avLst/>
          </a:prstGeom>
          <a:solidFill>
            <a:srgbClr val="AF581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4191" y="171769"/>
            <a:ext cx="2497769" cy="527052"/>
          </a:xfrm>
          <a:prstGeom prst="rect">
            <a:avLst/>
          </a:prstGeom>
        </p:spPr>
      </p:pic>
      <p:sp>
        <p:nvSpPr>
          <p:cNvPr id="17" name="平行四边形 16"/>
          <p:cNvSpPr/>
          <p:nvPr/>
        </p:nvSpPr>
        <p:spPr>
          <a:xfrm>
            <a:off x="-487680" y="0"/>
            <a:ext cx="1364756" cy="817543"/>
          </a:xfrm>
          <a:prstGeom prst="parallelogram">
            <a:avLst/>
          </a:prstGeom>
          <a:solidFill>
            <a:srgbClr val="AF581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TextBox 19"/>
          <p:cNvSpPr txBox="1"/>
          <p:nvPr/>
        </p:nvSpPr>
        <p:spPr>
          <a:xfrm>
            <a:off x="877076" y="109657"/>
            <a:ext cx="544448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lvl="0"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EngraversGothic BT"/>
              </a:defRPr>
            </a:lvl1pPr>
          </a:lstStyle>
          <a:p>
            <a:pPr marL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4000" b="1" dirty="0">
                <a:solidFill>
                  <a:srgbClr val="AF5819"/>
                </a:solidFill>
                <a:latin typeface="Times New Roman" panose="02020603050405020304" charset="0"/>
                <a:ea typeface="思源黑体" panose="020B0400000000000000" charset="-122"/>
              </a:rPr>
              <a:t>地心说</a:t>
            </a:r>
            <a:r>
              <a:rPr lang="en-US" altLang="zh-CN" sz="4000" b="1" dirty="0">
                <a:solidFill>
                  <a:srgbClr val="AF5819"/>
                </a:solidFill>
                <a:latin typeface="Times New Roman" panose="02020603050405020304" charset="0"/>
                <a:ea typeface="思源黑体" panose="020B0400000000000000" charset="-122"/>
              </a:rPr>
              <a:t>vs</a:t>
            </a:r>
            <a:r>
              <a:rPr lang="zh-CN" altLang="en-US" sz="4000" b="1" dirty="0">
                <a:solidFill>
                  <a:srgbClr val="AF5819"/>
                </a:solidFill>
                <a:latin typeface="Times New Roman" panose="02020603050405020304" charset="0"/>
                <a:ea typeface="思源黑体" panose="020B0400000000000000" charset="-122"/>
              </a:rPr>
              <a:t>日心说</a:t>
            </a:r>
            <a:endParaRPr lang="zh-CN" sz="4000" b="1" u="none" strike="noStrike" kern="1200" spc="0" baseline="0" dirty="0">
              <a:ln>
                <a:noFill/>
              </a:ln>
              <a:solidFill>
                <a:srgbClr val="AF5819"/>
              </a:solidFill>
              <a:latin typeface="Times New Roman" panose="02020603050405020304" charset="0"/>
              <a:ea typeface="思源黑体" panose="020B0400000000000000" charset="-122"/>
            </a:endParaRPr>
          </a:p>
        </p:txBody>
      </p:sp>
      <p:sp>
        <p:nvSpPr>
          <p:cNvPr id="29" name="矩形 28"/>
          <p:cNvSpPr/>
          <p:nvPr/>
        </p:nvSpPr>
        <p:spPr>
          <a:xfrm flipV="1">
            <a:off x="0" y="6748343"/>
            <a:ext cx="4682001" cy="128741"/>
          </a:xfrm>
          <a:prstGeom prst="rect">
            <a:avLst/>
          </a:prstGeom>
          <a:solidFill>
            <a:srgbClr val="AF5819"/>
          </a:solidFill>
          <a:ln>
            <a:noFill/>
          </a:ln>
        </p:spPr>
        <p:txBody>
          <a:bodyPr anchor="ctr"/>
          <a:lstStyle/>
          <a:p>
            <a:pPr algn="ctr"/>
            <a:endParaRPr lang="zh-CN">
              <a:solidFill>
                <a:schemeClr val="lt1"/>
              </a:solidFill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3C65C39E-193B-083D-FE7D-3402EF305108}"/>
              </a:ext>
            </a:extLst>
          </p:cNvPr>
          <p:cNvGrpSpPr/>
          <p:nvPr/>
        </p:nvGrpSpPr>
        <p:grpSpPr>
          <a:xfrm>
            <a:off x="293738" y="1087186"/>
            <a:ext cx="4083169" cy="5050736"/>
            <a:chOff x="293738" y="1087186"/>
            <a:chExt cx="4083169" cy="5050736"/>
          </a:xfrm>
        </p:grpSpPr>
        <p:pic>
          <p:nvPicPr>
            <p:cNvPr id="28" name="图片 27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762230" y="1087186"/>
              <a:ext cx="3255978" cy="4673546"/>
            </a:xfrm>
            <a:prstGeom prst="rect">
              <a:avLst/>
            </a:prstGeom>
          </p:spPr>
        </p:pic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A46A0B8E-8EB6-DD48-F43D-E32272E891F1}"/>
                </a:ext>
              </a:extLst>
            </p:cNvPr>
            <p:cNvSpPr txBox="1"/>
            <p:nvPr/>
          </p:nvSpPr>
          <p:spPr>
            <a:xfrm>
              <a:off x="293738" y="5799368"/>
              <a:ext cx="408316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600" dirty="0">
                  <a:latin typeface="Times New Roman" panose="02020603050405020304" charset="0"/>
                  <a:ea typeface="思源黑体" panose="020B0400000000000000" charset="-122"/>
                </a:rPr>
                <a:t>伽利略手绘的他在望远镜中看到的月球表面</a:t>
              </a:r>
            </a:p>
          </p:txBody>
        </p:sp>
      </p:grpSp>
      <p:pic>
        <p:nvPicPr>
          <p:cNvPr id="13" name="图片 12">
            <a:extLst>
              <a:ext uri="{FF2B5EF4-FFF2-40B4-BE49-F238E27FC236}">
                <a16:creationId xmlns:a16="http://schemas.microsoft.com/office/drawing/2014/main" id="{53FFCD83-044B-6F72-3F14-61D06284BE87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91" t="15114" r="3162"/>
          <a:stretch/>
        </p:blipFill>
        <p:spPr>
          <a:xfrm>
            <a:off x="5680068" y="4344702"/>
            <a:ext cx="4953808" cy="1978377"/>
          </a:xfrm>
          <a:prstGeom prst="rect">
            <a:avLst/>
          </a:prstGeom>
        </p:spPr>
      </p:pic>
      <p:sp>
        <p:nvSpPr>
          <p:cNvPr id="19" name="文本框 18">
            <a:extLst>
              <a:ext uri="{FF2B5EF4-FFF2-40B4-BE49-F238E27FC236}">
                <a16:creationId xmlns:a16="http://schemas.microsoft.com/office/drawing/2014/main" id="{3858C759-E696-D1E6-454C-5A653D85F37F}"/>
              </a:ext>
            </a:extLst>
          </p:cNvPr>
          <p:cNvSpPr txBox="1"/>
          <p:nvPr/>
        </p:nvSpPr>
        <p:spPr>
          <a:xfrm>
            <a:off x="7141309" y="6348837"/>
            <a:ext cx="20313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>
                <a:latin typeface="Times New Roman" panose="02020603050405020304" charset="0"/>
                <a:ea typeface="思源黑体" panose="020B0400000000000000" charset="-122"/>
              </a:rPr>
              <a:t>伽利略自制的望远镜</a:t>
            </a:r>
          </a:p>
        </p:txBody>
      </p:sp>
    </p:spTree>
    <p:extLst>
      <p:ext uri="{BB962C8B-B14F-4D97-AF65-F5344CB8AC3E}">
        <p14:creationId xmlns:p14="http://schemas.microsoft.com/office/powerpoint/2010/main" val="18957493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平行四边形 14"/>
          <p:cNvSpPr/>
          <p:nvPr/>
        </p:nvSpPr>
        <p:spPr>
          <a:xfrm>
            <a:off x="8855234" y="0"/>
            <a:ext cx="3961606" cy="817543"/>
          </a:xfrm>
          <a:prstGeom prst="parallelogram">
            <a:avLst/>
          </a:prstGeom>
          <a:solidFill>
            <a:srgbClr val="AF581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4191" y="171769"/>
            <a:ext cx="2497769" cy="527052"/>
          </a:xfrm>
          <a:prstGeom prst="rect">
            <a:avLst/>
          </a:prstGeom>
        </p:spPr>
      </p:pic>
      <p:sp>
        <p:nvSpPr>
          <p:cNvPr id="17" name="平行四边形 16"/>
          <p:cNvSpPr/>
          <p:nvPr/>
        </p:nvSpPr>
        <p:spPr>
          <a:xfrm>
            <a:off x="-487680" y="0"/>
            <a:ext cx="1364756" cy="817543"/>
          </a:xfrm>
          <a:prstGeom prst="parallelogram">
            <a:avLst/>
          </a:prstGeom>
          <a:solidFill>
            <a:srgbClr val="AF581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TextBox 19"/>
          <p:cNvSpPr txBox="1"/>
          <p:nvPr/>
        </p:nvSpPr>
        <p:spPr>
          <a:xfrm>
            <a:off x="877076" y="109657"/>
            <a:ext cx="544448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lvl="0"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EngraversGothic BT"/>
              </a:defRPr>
            </a:lvl1pPr>
          </a:lstStyle>
          <a:p>
            <a:pPr marL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4000" b="1" u="none" strike="noStrike" kern="1200" spc="0" baseline="0" dirty="0">
                <a:ln>
                  <a:noFill/>
                </a:ln>
                <a:solidFill>
                  <a:srgbClr val="AF5819"/>
                </a:solidFill>
                <a:latin typeface="Times New Roman" panose="02020603050405020304" charset="0"/>
                <a:ea typeface="思源黑体" panose="020B0400000000000000" charset="-122"/>
              </a:rPr>
              <a:t>伽利略事件</a:t>
            </a:r>
            <a:endParaRPr lang="zh-CN" sz="4000" b="1" u="none" strike="noStrike" kern="1200" spc="0" baseline="0" dirty="0">
              <a:ln>
                <a:noFill/>
              </a:ln>
              <a:solidFill>
                <a:srgbClr val="AF5819"/>
              </a:solidFill>
              <a:latin typeface="Times New Roman" panose="02020603050405020304" charset="0"/>
              <a:ea typeface="思源黑体" panose="020B0400000000000000" charset="-122"/>
            </a:endParaRPr>
          </a:p>
        </p:txBody>
      </p:sp>
      <p:sp>
        <p:nvSpPr>
          <p:cNvPr id="29" name="矩形 28"/>
          <p:cNvSpPr/>
          <p:nvPr/>
        </p:nvSpPr>
        <p:spPr>
          <a:xfrm flipV="1">
            <a:off x="0" y="6748343"/>
            <a:ext cx="4682001" cy="128741"/>
          </a:xfrm>
          <a:prstGeom prst="rect">
            <a:avLst/>
          </a:prstGeom>
          <a:solidFill>
            <a:srgbClr val="AF5819"/>
          </a:solidFill>
          <a:ln>
            <a:noFill/>
          </a:ln>
        </p:spPr>
        <p:txBody>
          <a:bodyPr anchor="ctr"/>
          <a:lstStyle/>
          <a:p>
            <a:pPr algn="ctr"/>
            <a:endParaRPr lang="zh-CN">
              <a:solidFill>
                <a:schemeClr val="lt1"/>
              </a:solidFill>
            </a:endParaRPr>
          </a:p>
        </p:txBody>
      </p:sp>
      <p:grpSp>
        <p:nvGrpSpPr>
          <p:cNvPr id="43" name="组合 42">
            <a:extLst>
              <a:ext uri="{FF2B5EF4-FFF2-40B4-BE49-F238E27FC236}">
                <a16:creationId xmlns:a16="http://schemas.microsoft.com/office/drawing/2014/main" id="{E0EC8057-5382-D29C-60ED-8043DE16AB75}"/>
              </a:ext>
            </a:extLst>
          </p:cNvPr>
          <p:cNvGrpSpPr/>
          <p:nvPr/>
        </p:nvGrpSpPr>
        <p:grpSpPr>
          <a:xfrm>
            <a:off x="508418" y="3095416"/>
            <a:ext cx="2892361" cy="2068295"/>
            <a:chOff x="508418" y="3095416"/>
            <a:chExt cx="2892361" cy="2068295"/>
          </a:xfrm>
        </p:grpSpPr>
        <p:sp>
          <p:nvSpPr>
            <p:cNvPr id="6" name="Shape 332">
              <a:extLst>
                <a:ext uri="{FF2B5EF4-FFF2-40B4-BE49-F238E27FC236}">
                  <a16:creationId xmlns:a16="http://schemas.microsoft.com/office/drawing/2014/main" id="{564D231D-119B-B98F-5A00-AF8C7F9545BE}"/>
                </a:ext>
              </a:extLst>
            </p:cNvPr>
            <p:cNvSpPr/>
            <p:nvPr/>
          </p:nvSpPr>
          <p:spPr>
            <a:xfrm>
              <a:off x="508418" y="3095416"/>
              <a:ext cx="2892361" cy="723679"/>
            </a:xfrm>
            <a:custGeom>
              <a:avLst/>
              <a:gdLst/>
              <a:ahLst/>
              <a:cxnLst/>
              <a:rect l="0" t="0" r="r" b="b"/>
              <a:pathLst>
                <a:path w="2776294" h="635001">
                  <a:moveTo>
                    <a:pt x="2470189" y="635001"/>
                  </a:moveTo>
                  <a:cubicBezTo>
                    <a:pt x="29324" y="635001"/>
                    <a:pt x="29324" y="635001"/>
                    <a:pt x="29324" y="635001"/>
                  </a:cubicBezTo>
                  <a:cubicBezTo>
                    <a:pt x="14662" y="635001"/>
                    <a:pt x="0" y="623977"/>
                    <a:pt x="0" y="612982"/>
                  </a:cubicBezTo>
                  <a:cubicBezTo>
                    <a:pt x="0" y="18344"/>
                    <a:pt x="0" y="18344"/>
                    <a:pt x="0" y="18344"/>
                  </a:cubicBezTo>
                  <a:cubicBezTo>
                    <a:pt x="0" y="7350"/>
                    <a:pt x="14662" y="0"/>
                    <a:pt x="29324" y="0"/>
                  </a:cubicBezTo>
                  <a:cubicBezTo>
                    <a:pt x="2470189" y="0"/>
                    <a:pt x="2470189" y="0"/>
                    <a:pt x="2470189" y="0"/>
                  </a:cubicBezTo>
                  <a:cubicBezTo>
                    <a:pt x="2481250" y="0"/>
                    <a:pt x="2488581" y="3675"/>
                    <a:pt x="2492182" y="7350"/>
                  </a:cubicBezTo>
                  <a:cubicBezTo>
                    <a:pt x="2770764" y="304653"/>
                    <a:pt x="2770764" y="304653"/>
                    <a:pt x="2770764" y="304653"/>
                  </a:cubicBezTo>
                  <a:cubicBezTo>
                    <a:pt x="2778095" y="312003"/>
                    <a:pt x="2778095" y="319323"/>
                    <a:pt x="2770764" y="326673"/>
                  </a:cubicBezTo>
                  <a:cubicBezTo>
                    <a:pt x="2492182" y="623977"/>
                    <a:pt x="2492182" y="623977"/>
                    <a:pt x="2492182" y="623977"/>
                  </a:cubicBezTo>
                  <a:cubicBezTo>
                    <a:pt x="2488581" y="631326"/>
                    <a:pt x="2481250" y="635001"/>
                    <a:pt x="2470189" y="635001"/>
                  </a:cubicBezTo>
                  <a:close/>
                </a:path>
              </a:pathLst>
            </a:custGeom>
            <a:solidFill>
              <a:srgbClr val="AF5819"/>
            </a:solidFill>
            <a:ln w="12700">
              <a:miter/>
            </a:ln>
          </p:spPr>
          <p:txBody>
            <a:bodyPr lIns="45719" rIns="45719"/>
            <a:lstStyle/>
            <a:p>
              <a:endParaRPr sz="1100">
                <a:solidFill>
                  <a:schemeClr val="tx1">
                    <a:lumMod val="50000"/>
                    <a:lumOff val="50000"/>
                  </a:schemeClr>
                </a:solidFill>
                <a:latin typeface="FZShengShiKaiShuS-EB-GB"/>
                <a:ea typeface="FZShengShiKaiShuS-EB-GB"/>
              </a:endParaRPr>
            </a:p>
          </p:txBody>
        </p:sp>
        <p:sp>
          <p:nvSpPr>
            <p:cNvPr id="10" name="TextBox 27">
              <a:extLst>
                <a:ext uri="{FF2B5EF4-FFF2-40B4-BE49-F238E27FC236}">
                  <a16:creationId xmlns:a16="http://schemas.microsoft.com/office/drawing/2014/main" id="{18C6D8E9-FFE9-82AF-9241-7BFCBC64E67B}"/>
                </a:ext>
              </a:extLst>
            </p:cNvPr>
            <p:cNvSpPr txBox="1"/>
            <p:nvPr/>
          </p:nvSpPr>
          <p:spPr>
            <a:xfrm>
              <a:off x="1342648" y="3248914"/>
              <a:ext cx="904053" cy="541844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defTabSz="1828165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2400" b="1" dirty="0">
                  <a:solidFill>
                    <a:schemeClr val="bg1"/>
                  </a:solidFill>
                  <a:latin typeface="华光标题宋_CNKI" panose="02000500000000000000" pitchFamily="2" charset="-122"/>
                  <a:ea typeface="华光标题宋_CNKI" panose="02000500000000000000" pitchFamily="2" charset="-122"/>
                </a:rPr>
                <a:t>1610</a:t>
              </a:r>
              <a:endParaRPr lang="id-ID" sz="2400" b="1" dirty="0">
                <a:solidFill>
                  <a:schemeClr val="bg1"/>
                </a:solidFill>
                <a:latin typeface="华光标题宋_CNKI" panose="02000500000000000000" pitchFamily="2" charset="-122"/>
                <a:ea typeface="华光标题宋_CNKI" panose="02000500000000000000" pitchFamily="2" charset="-122"/>
              </a:endParaRPr>
            </a:p>
          </p:txBody>
        </p:sp>
        <p:cxnSp>
          <p:nvCxnSpPr>
            <p:cNvPr id="14" name="Straight Connector 34">
              <a:extLst>
                <a:ext uri="{FF2B5EF4-FFF2-40B4-BE49-F238E27FC236}">
                  <a16:creationId xmlns:a16="http://schemas.microsoft.com/office/drawing/2014/main" id="{BC0F0C62-F690-ACD9-4485-F73C48C0692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48144" y="3854686"/>
              <a:ext cx="0" cy="693429"/>
            </a:xfrm>
            <a:prstGeom prst="line">
              <a:avLst/>
            </a:prstGeom>
            <a:ln w="38100">
              <a:solidFill>
                <a:srgbClr val="AF5819"/>
              </a:solidFill>
              <a:prstDash val="sysDash"/>
              <a:miter/>
              <a:headEnd type="arrow"/>
            </a:ln>
          </p:spPr>
        </p:cxnSp>
        <p:grpSp>
          <p:nvGrpSpPr>
            <p:cNvPr id="35" name="组合 34">
              <a:extLst>
                <a:ext uri="{FF2B5EF4-FFF2-40B4-BE49-F238E27FC236}">
                  <a16:creationId xmlns:a16="http://schemas.microsoft.com/office/drawing/2014/main" id="{CD88BDFE-AEA2-CB3C-387A-2608AEFAFF66}"/>
                </a:ext>
              </a:extLst>
            </p:cNvPr>
            <p:cNvGrpSpPr/>
            <p:nvPr/>
          </p:nvGrpSpPr>
          <p:grpSpPr>
            <a:xfrm>
              <a:off x="511620" y="4658434"/>
              <a:ext cx="2546515" cy="505277"/>
              <a:chOff x="2345506" y="4519984"/>
              <a:chExt cx="2272100" cy="430509"/>
            </a:xfrm>
          </p:grpSpPr>
          <p:sp>
            <p:nvSpPr>
              <p:cNvPr id="32" name="矩形: 圆角 35">
                <a:extLst>
                  <a:ext uri="{FF2B5EF4-FFF2-40B4-BE49-F238E27FC236}">
                    <a16:creationId xmlns:a16="http://schemas.microsoft.com/office/drawing/2014/main" id="{984B7ECF-0B09-91DA-570C-0B5159B4D4EB}"/>
                  </a:ext>
                </a:extLst>
              </p:cNvPr>
              <p:cNvSpPr/>
              <p:nvPr/>
            </p:nvSpPr>
            <p:spPr>
              <a:xfrm>
                <a:off x="2420401" y="4519984"/>
                <a:ext cx="2197205" cy="430509"/>
              </a:xfrm>
              <a:prstGeom prst="roundRect">
                <a:avLst>
                  <a:gd name="adj" fmla="val 50000"/>
                </a:avLst>
              </a:prstGeom>
              <a:solidFill>
                <a:srgbClr val="AF581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3" name="TextBox 66">
                <a:extLst>
                  <a:ext uri="{FF2B5EF4-FFF2-40B4-BE49-F238E27FC236}">
                    <a16:creationId xmlns:a16="http://schemas.microsoft.com/office/drawing/2014/main" id="{054DCA45-9E1E-3F20-08B7-CE5D684E38DD}"/>
                  </a:ext>
                </a:extLst>
              </p:cNvPr>
              <p:cNvSpPr txBox="1"/>
              <p:nvPr/>
            </p:nvSpPr>
            <p:spPr>
              <a:xfrm>
                <a:off x="2345506" y="4535183"/>
                <a:ext cx="2236510" cy="400110"/>
              </a:xfrm>
              <a:prstGeom prst="rect">
                <a:avLst/>
              </a:prstGeom>
              <a:noFill/>
            </p:spPr>
            <p:txBody>
              <a:bodyPr wrap="none" anchor="ctr" anchorCtr="0">
                <a:spAutoFit/>
              </a:bodyPr>
              <a:lstStyle/>
              <a:p>
                <a:pPr algn="r"/>
                <a:r>
                  <a:rPr lang="zh-CN" altLang="en-US" sz="2000" b="1" dirty="0">
                    <a:solidFill>
                      <a:schemeClr val="bg1"/>
                    </a:solidFill>
                    <a:latin typeface="Times New Roman" panose="02020603050405020304" charset="0"/>
                    <a:ea typeface="思源黑体" panose="020B0400000000000000" charset="-122"/>
                  </a:rPr>
                  <a:t>出版</a:t>
                </a:r>
                <a:r>
                  <a:rPr lang="en-US" altLang="zh-CN" sz="2000" b="1" dirty="0">
                    <a:solidFill>
                      <a:schemeClr val="bg1"/>
                    </a:solidFill>
                    <a:latin typeface="Times New Roman" panose="02020603050405020304" charset="0"/>
                    <a:ea typeface="思源黑体" panose="020B0400000000000000" charset="-122"/>
                  </a:rPr>
                  <a:t>《</a:t>
                </a:r>
                <a:r>
                  <a:rPr lang="zh-CN" altLang="en-US" sz="2000" b="1" dirty="0">
                    <a:solidFill>
                      <a:schemeClr val="bg1"/>
                    </a:solidFill>
                    <a:latin typeface="Times New Roman" panose="02020603050405020304" charset="0"/>
                    <a:ea typeface="思源黑体" panose="020B0400000000000000" charset="-122"/>
                  </a:rPr>
                  <a:t>星际使者</a:t>
                </a:r>
                <a:r>
                  <a:rPr lang="en-US" altLang="zh-CN" sz="2000" b="1" dirty="0">
                    <a:solidFill>
                      <a:schemeClr val="bg1"/>
                    </a:solidFill>
                    <a:latin typeface="Times New Roman" panose="02020603050405020304" charset="0"/>
                    <a:ea typeface="思源黑体" panose="020B0400000000000000" charset="-122"/>
                  </a:rPr>
                  <a:t>》</a:t>
                </a:r>
                <a:endParaRPr lang="zh-CN" sz="2000" b="1" dirty="0">
                  <a:solidFill>
                    <a:schemeClr val="bg1"/>
                  </a:solidFill>
                  <a:latin typeface="Times New Roman" panose="02020603050405020304" charset="0"/>
                  <a:ea typeface="思源黑体" panose="020B0400000000000000" charset="-122"/>
                </a:endParaRPr>
              </a:p>
            </p:txBody>
          </p:sp>
        </p:grpSp>
      </p:grpSp>
      <p:pic>
        <p:nvPicPr>
          <p:cNvPr id="40" name="图片 39">
            <a:extLst>
              <a:ext uri="{FF2B5EF4-FFF2-40B4-BE49-F238E27FC236}">
                <a16:creationId xmlns:a16="http://schemas.microsoft.com/office/drawing/2014/main" id="{446DB858-491A-DC59-272A-1E3F9609B5C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9796" y="1457579"/>
            <a:ext cx="2588790" cy="4124513"/>
          </a:xfrm>
          <a:prstGeom prst="rect">
            <a:avLst/>
          </a:prstGeom>
        </p:spPr>
      </p:pic>
      <p:grpSp>
        <p:nvGrpSpPr>
          <p:cNvPr id="5" name="组合 4">
            <a:extLst>
              <a:ext uri="{FF2B5EF4-FFF2-40B4-BE49-F238E27FC236}">
                <a16:creationId xmlns:a16="http://schemas.microsoft.com/office/drawing/2014/main" id="{10AEF9F5-D4AD-D3D1-7D26-E8F5025D4B90}"/>
              </a:ext>
            </a:extLst>
          </p:cNvPr>
          <p:cNvGrpSpPr/>
          <p:nvPr/>
        </p:nvGrpSpPr>
        <p:grpSpPr>
          <a:xfrm>
            <a:off x="3720074" y="2689147"/>
            <a:ext cx="4084261" cy="2294977"/>
            <a:chOff x="7043085" y="2640169"/>
            <a:chExt cx="4090091" cy="1849227"/>
          </a:xfrm>
        </p:grpSpPr>
        <p:sp>
          <p:nvSpPr>
            <p:cNvPr id="3" name="圆角矩形 3">
              <a:extLst>
                <a:ext uri="{FF2B5EF4-FFF2-40B4-BE49-F238E27FC236}">
                  <a16:creationId xmlns:a16="http://schemas.microsoft.com/office/drawing/2014/main" id="{7F4DB85F-1BCD-5A27-41D6-3E9094C30617}"/>
                </a:ext>
              </a:extLst>
            </p:cNvPr>
            <p:cNvSpPr>
              <a:spLocks noChangeArrowheads="1"/>
            </p:cNvSpPr>
            <p:nvPr/>
          </p:nvSpPr>
          <p:spPr>
            <a:xfrm>
              <a:off x="7043085" y="2640169"/>
              <a:ext cx="4090091" cy="1661376"/>
            </a:xfrm>
            <a:prstGeom prst="roundRect">
              <a:avLst>
                <a:gd name="adj" fmla="val 9083"/>
              </a:avLst>
            </a:prstGeom>
            <a:solidFill>
              <a:srgbClr val="FFFFFF"/>
            </a:solidFill>
            <a:ln w="12700">
              <a:solidFill>
                <a:srgbClr val="9A0000"/>
              </a:solidFill>
              <a:round/>
            </a:ln>
          </p:spPr>
          <p:txBody>
            <a:bodyPr anchor="ctr"/>
            <a:lstStyle>
              <a:lvl1pPr lvl="0">
                <a:defRPr>
                  <a:solidFill>
                    <a:schemeClr val="tx1"/>
                  </a:solidFill>
                  <a:latin typeface="Calibri" panose="020F0502020204030204"/>
                  <a:ea typeface="宋体" pitchFamily="2" charset="-122"/>
                </a:defRPr>
              </a:lvl1pPr>
              <a:lvl2pPr marL="742950" lvl="1" indent="-285750">
                <a:defRPr>
                  <a:solidFill>
                    <a:schemeClr val="tx1"/>
                  </a:solidFill>
                  <a:latin typeface="Calibri" panose="020F0502020204030204"/>
                  <a:ea typeface="宋体" pitchFamily="2" charset="-122"/>
                </a:defRPr>
              </a:lvl2pPr>
              <a:lvl3pPr marL="1143000" lvl="2" indent="-228600">
                <a:defRPr>
                  <a:solidFill>
                    <a:schemeClr val="tx1"/>
                  </a:solidFill>
                  <a:latin typeface="Calibri" panose="020F0502020204030204"/>
                  <a:ea typeface="宋体" pitchFamily="2" charset="-122"/>
                </a:defRPr>
              </a:lvl3pPr>
              <a:lvl4pPr marL="1600200" lvl="3" indent="-228600">
                <a:defRPr>
                  <a:solidFill>
                    <a:schemeClr val="tx1"/>
                  </a:solidFill>
                  <a:latin typeface="Calibri" panose="020F0502020204030204"/>
                  <a:ea typeface="宋体" pitchFamily="2" charset="-122"/>
                </a:defRPr>
              </a:lvl4pPr>
              <a:lvl5pPr marL="2057400" lvl="4" indent="-228600">
                <a:defRPr>
                  <a:solidFill>
                    <a:schemeClr val="tx1"/>
                  </a:solidFill>
                  <a:latin typeface="Calibri" panose="020F0502020204030204"/>
                  <a:ea typeface="宋体" pitchFamily="2" charset="-122"/>
                </a:defRPr>
              </a:lvl5pPr>
              <a:lvl6pPr marL="2514600" lvl="5" indent="-22860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/>
                  <a:ea typeface="宋体" pitchFamily="2" charset="-122"/>
                </a:defRPr>
              </a:lvl6pPr>
              <a:lvl7pPr marL="2971800" lvl="6" indent="-22860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/>
                  <a:ea typeface="宋体" pitchFamily="2" charset="-122"/>
                </a:defRPr>
              </a:lvl7pPr>
              <a:lvl8pPr marL="3429000" lvl="7" indent="-22860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/>
                  <a:ea typeface="宋体" pitchFamily="2" charset="-122"/>
                </a:defRPr>
              </a:lvl8pPr>
              <a:lvl9pPr marL="3886200" lvl="8" indent="-22860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/>
                  <a:ea typeface="宋体" pitchFamily="2" charset="-122"/>
                </a:defRPr>
              </a:lvl9pPr>
            </a:lstStyle>
            <a:p>
              <a:pPr algn="ctr"/>
              <a:endParaRPr lang="zh-CN" sz="2000">
                <a:solidFill>
                  <a:srgbClr val="FFFFFF"/>
                </a:solidFill>
                <a:latin typeface="FZShengShiKaiShuS-EB-GB"/>
                <a:ea typeface="FZShengShiKaiShuS-EB-GB"/>
              </a:endParaRPr>
            </a:p>
          </p:txBody>
        </p:sp>
        <p:sp>
          <p:nvSpPr>
            <p:cNvPr id="2" name="矩形 4">
              <a:extLst>
                <a:ext uri="{FF2B5EF4-FFF2-40B4-BE49-F238E27FC236}">
                  <a16:creationId xmlns:a16="http://schemas.microsoft.com/office/drawing/2014/main" id="{54552E3B-F0C4-797D-7221-4D22C0CCF86B}"/>
                </a:ext>
              </a:extLst>
            </p:cNvPr>
            <p:cNvSpPr>
              <a:spLocks noChangeArrowheads="1"/>
            </p:cNvSpPr>
            <p:nvPr/>
          </p:nvSpPr>
          <p:spPr>
            <a:xfrm>
              <a:off x="7120053" y="2758538"/>
              <a:ext cx="3961606" cy="173085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>
              <a:lvl1pPr lvl="0" defTabSz="1216025">
                <a:defRPr>
                  <a:solidFill>
                    <a:schemeClr val="tx1"/>
                  </a:solidFill>
                  <a:latin typeface="Calibri" panose="020F0502020204030204"/>
                  <a:ea typeface="宋体" pitchFamily="2" charset="-122"/>
                </a:defRPr>
              </a:lvl1pPr>
              <a:lvl2pPr marL="742950" lvl="1" indent="-285750" defTabSz="1216025">
                <a:defRPr>
                  <a:solidFill>
                    <a:schemeClr val="tx1"/>
                  </a:solidFill>
                  <a:latin typeface="Calibri" panose="020F0502020204030204"/>
                  <a:ea typeface="宋体" pitchFamily="2" charset="-122"/>
                </a:defRPr>
              </a:lvl2pPr>
              <a:lvl3pPr marL="1143000" lvl="2" indent="-228600" defTabSz="1216025">
                <a:defRPr>
                  <a:solidFill>
                    <a:schemeClr val="tx1"/>
                  </a:solidFill>
                  <a:latin typeface="Calibri" panose="020F0502020204030204"/>
                  <a:ea typeface="宋体" pitchFamily="2" charset="-122"/>
                </a:defRPr>
              </a:lvl3pPr>
              <a:lvl4pPr marL="1600200" lvl="3" indent="-228600" defTabSz="1216025">
                <a:defRPr>
                  <a:solidFill>
                    <a:schemeClr val="tx1"/>
                  </a:solidFill>
                  <a:latin typeface="Calibri" panose="020F0502020204030204"/>
                  <a:ea typeface="宋体" pitchFamily="2" charset="-122"/>
                </a:defRPr>
              </a:lvl4pPr>
              <a:lvl5pPr marL="2057400" lvl="4" indent="-228600" defTabSz="1216025">
                <a:defRPr>
                  <a:solidFill>
                    <a:schemeClr val="tx1"/>
                  </a:solidFill>
                  <a:latin typeface="Calibri" panose="020F0502020204030204"/>
                  <a:ea typeface="宋体" pitchFamily="2" charset="-122"/>
                </a:defRPr>
              </a:lvl5pPr>
              <a:lvl6pPr marL="2514600" lvl="5" indent="-228600" defTabSz="1216025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/>
                  <a:ea typeface="宋体" pitchFamily="2" charset="-122"/>
                </a:defRPr>
              </a:lvl6pPr>
              <a:lvl7pPr marL="2971800" lvl="6" indent="-228600" defTabSz="1216025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/>
                  <a:ea typeface="宋体" pitchFamily="2" charset="-122"/>
                </a:defRPr>
              </a:lvl7pPr>
              <a:lvl8pPr marL="3429000" lvl="7" indent="-228600" defTabSz="1216025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/>
                  <a:ea typeface="宋体" pitchFamily="2" charset="-122"/>
                </a:defRPr>
              </a:lvl8pPr>
              <a:lvl9pPr marL="3886200" lvl="8" indent="-228600" defTabSz="1216025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/>
                  <a:ea typeface="宋体" pitchFamily="2" charset="-122"/>
                </a:defRPr>
              </a:lvl9pPr>
            </a:lstStyle>
            <a:p>
              <a:pPr>
                <a:lnSpc>
                  <a:spcPts val="2560"/>
                </a:lnSpc>
              </a:pPr>
              <a:r>
                <a:rPr lang="zh-CN" altLang="en-US" dirty="0">
                  <a:latin typeface="Times New Roman" panose="02020603050405020304" charset="0"/>
                  <a:ea typeface="思源黑体" panose="020B0400000000000000" charset="-122"/>
                </a:rPr>
                <a:t>        给当时的神学家和自然哲学家带来了极大困扰，这些事实都与罗马天主教会支持并认可的托勒密地心说模型相矛盾，反而支持了哥白尼日心说模型。</a:t>
              </a:r>
              <a:endParaRPr lang="en-US" altLang="zh-CN" dirty="0">
                <a:latin typeface="Times New Roman" panose="02020603050405020304" charset="0"/>
                <a:ea typeface="思源黑体" panose="020B0400000000000000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703786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平行四边形 14"/>
          <p:cNvSpPr/>
          <p:nvPr/>
        </p:nvSpPr>
        <p:spPr>
          <a:xfrm>
            <a:off x="8855234" y="0"/>
            <a:ext cx="3961606" cy="817543"/>
          </a:xfrm>
          <a:prstGeom prst="parallelogram">
            <a:avLst/>
          </a:prstGeom>
          <a:solidFill>
            <a:srgbClr val="AF581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4191" y="171769"/>
            <a:ext cx="2497769" cy="527052"/>
          </a:xfrm>
          <a:prstGeom prst="rect">
            <a:avLst/>
          </a:prstGeom>
        </p:spPr>
      </p:pic>
      <p:sp>
        <p:nvSpPr>
          <p:cNvPr id="17" name="平行四边形 16"/>
          <p:cNvSpPr/>
          <p:nvPr/>
        </p:nvSpPr>
        <p:spPr>
          <a:xfrm>
            <a:off x="-487680" y="0"/>
            <a:ext cx="1364756" cy="817543"/>
          </a:xfrm>
          <a:prstGeom prst="parallelogram">
            <a:avLst/>
          </a:prstGeom>
          <a:solidFill>
            <a:srgbClr val="AF581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TextBox 19"/>
          <p:cNvSpPr txBox="1"/>
          <p:nvPr/>
        </p:nvSpPr>
        <p:spPr>
          <a:xfrm>
            <a:off x="877076" y="109657"/>
            <a:ext cx="544448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lvl="0"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EngraversGothic BT"/>
              </a:defRPr>
            </a:lvl1pPr>
          </a:lstStyle>
          <a:p>
            <a:pPr marL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4000" b="1" u="none" strike="noStrike" kern="1200" spc="0" baseline="0" dirty="0">
                <a:ln>
                  <a:noFill/>
                </a:ln>
                <a:solidFill>
                  <a:srgbClr val="AF5819"/>
                </a:solidFill>
                <a:latin typeface="Times New Roman" panose="02020603050405020304" charset="0"/>
                <a:ea typeface="思源黑体" panose="020B0400000000000000" charset="-122"/>
              </a:rPr>
              <a:t>伽利略事件</a:t>
            </a:r>
            <a:endParaRPr lang="zh-CN" sz="4000" b="1" u="none" strike="noStrike" kern="1200" spc="0" baseline="0" dirty="0">
              <a:ln>
                <a:noFill/>
              </a:ln>
              <a:solidFill>
                <a:srgbClr val="AF5819"/>
              </a:solidFill>
              <a:latin typeface="Times New Roman" panose="02020603050405020304" charset="0"/>
              <a:ea typeface="思源黑体" panose="020B0400000000000000" charset="-122"/>
            </a:endParaRPr>
          </a:p>
        </p:txBody>
      </p:sp>
      <p:sp>
        <p:nvSpPr>
          <p:cNvPr id="29" name="矩形 28"/>
          <p:cNvSpPr/>
          <p:nvPr/>
        </p:nvSpPr>
        <p:spPr>
          <a:xfrm flipV="1">
            <a:off x="0" y="6748343"/>
            <a:ext cx="4682001" cy="128741"/>
          </a:xfrm>
          <a:prstGeom prst="rect">
            <a:avLst/>
          </a:prstGeom>
          <a:solidFill>
            <a:srgbClr val="AF5819"/>
          </a:solidFill>
          <a:ln>
            <a:noFill/>
          </a:ln>
        </p:spPr>
        <p:txBody>
          <a:bodyPr anchor="ctr"/>
          <a:lstStyle/>
          <a:p>
            <a:pPr algn="ctr"/>
            <a:endParaRPr lang="zh-CN">
              <a:solidFill>
                <a:schemeClr val="lt1"/>
              </a:solidFill>
            </a:endParaRPr>
          </a:p>
        </p:txBody>
      </p: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FD66BD42-C440-AD0A-4883-C966597E4790}"/>
              </a:ext>
            </a:extLst>
          </p:cNvPr>
          <p:cNvGrpSpPr/>
          <p:nvPr/>
        </p:nvGrpSpPr>
        <p:grpSpPr>
          <a:xfrm>
            <a:off x="3260873" y="1694288"/>
            <a:ext cx="2867134" cy="2124807"/>
            <a:chOff x="3260873" y="1694288"/>
            <a:chExt cx="2867134" cy="2124807"/>
          </a:xfrm>
        </p:grpSpPr>
        <p:sp>
          <p:nvSpPr>
            <p:cNvPr id="7" name="Shape 333">
              <a:extLst>
                <a:ext uri="{FF2B5EF4-FFF2-40B4-BE49-F238E27FC236}">
                  <a16:creationId xmlns:a16="http://schemas.microsoft.com/office/drawing/2014/main" id="{4533310E-5663-B4A5-4B02-E59B422AB4FC}"/>
                </a:ext>
              </a:extLst>
            </p:cNvPr>
            <p:cNvSpPr/>
            <p:nvPr/>
          </p:nvSpPr>
          <p:spPr>
            <a:xfrm>
              <a:off x="3260873" y="3095416"/>
              <a:ext cx="2867134" cy="723679"/>
            </a:xfrm>
            <a:custGeom>
              <a:avLst/>
              <a:gdLst/>
              <a:ahLst/>
              <a:cxnLst/>
              <a:rect l="0" t="0" r="r" b="b"/>
              <a:pathLst>
                <a:path w="2752079" h="635001">
                  <a:moveTo>
                    <a:pt x="2445852" y="635001"/>
                  </a:moveTo>
                  <a:cubicBezTo>
                    <a:pt x="29907" y="635001"/>
                    <a:pt x="29907" y="635001"/>
                    <a:pt x="29907" y="635001"/>
                  </a:cubicBezTo>
                  <a:cubicBezTo>
                    <a:pt x="4218" y="635001"/>
                    <a:pt x="-6774" y="616657"/>
                    <a:pt x="4218" y="601957"/>
                  </a:cubicBezTo>
                  <a:cubicBezTo>
                    <a:pt x="260855" y="326673"/>
                    <a:pt x="260855" y="326673"/>
                    <a:pt x="260855" y="326673"/>
                  </a:cubicBezTo>
                  <a:cubicBezTo>
                    <a:pt x="268140" y="319323"/>
                    <a:pt x="268140" y="312003"/>
                    <a:pt x="260855" y="304653"/>
                  </a:cubicBezTo>
                  <a:cubicBezTo>
                    <a:pt x="4218" y="29369"/>
                    <a:pt x="4218" y="29369"/>
                    <a:pt x="4218" y="29369"/>
                  </a:cubicBezTo>
                  <a:cubicBezTo>
                    <a:pt x="-6774" y="14670"/>
                    <a:pt x="4218" y="0"/>
                    <a:pt x="29907" y="0"/>
                  </a:cubicBezTo>
                  <a:cubicBezTo>
                    <a:pt x="2445852" y="0"/>
                    <a:pt x="2445852" y="0"/>
                    <a:pt x="2445852" y="0"/>
                  </a:cubicBezTo>
                  <a:cubicBezTo>
                    <a:pt x="2453265" y="0"/>
                    <a:pt x="2464256" y="3675"/>
                    <a:pt x="2467963" y="7350"/>
                  </a:cubicBezTo>
                  <a:cubicBezTo>
                    <a:pt x="2746583" y="304653"/>
                    <a:pt x="2746583" y="304653"/>
                    <a:pt x="2746583" y="304653"/>
                  </a:cubicBezTo>
                  <a:cubicBezTo>
                    <a:pt x="2753868" y="312003"/>
                    <a:pt x="2753868" y="319323"/>
                    <a:pt x="2746583" y="326673"/>
                  </a:cubicBezTo>
                  <a:cubicBezTo>
                    <a:pt x="2467963" y="623977"/>
                    <a:pt x="2467963" y="623977"/>
                    <a:pt x="2467963" y="623977"/>
                  </a:cubicBezTo>
                  <a:cubicBezTo>
                    <a:pt x="2464256" y="631326"/>
                    <a:pt x="2453265" y="635001"/>
                    <a:pt x="2445852" y="635001"/>
                  </a:cubicBezTo>
                  <a:close/>
                </a:path>
              </a:pathLst>
            </a:custGeom>
            <a:solidFill>
              <a:srgbClr val="E38239"/>
            </a:solidFill>
            <a:ln w="12700">
              <a:miter/>
            </a:ln>
          </p:spPr>
          <p:txBody>
            <a:bodyPr lIns="45719" rIns="45719"/>
            <a:lstStyle/>
            <a:p>
              <a:endParaRPr sz="1100">
                <a:solidFill>
                  <a:schemeClr val="tx1">
                    <a:lumMod val="50000"/>
                    <a:lumOff val="50000"/>
                  </a:schemeClr>
                </a:solidFill>
                <a:latin typeface="FZShengShiKaiShuS-EB-GB"/>
                <a:ea typeface="FZShengShiKaiShuS-EB-GB"/>
              </a:endParaRPr>
            </a:p>
          </p:txBody>
        </p:sp>
        <p:sp>
          <p:nvSpPr>
            <p:cNvPr id="11" name="TextBox 28">
              <a:extLst>
                <a:ext uri="{FF2B5EF4-FFF2-40B4-BE49-F238E27FC236}">
                  <a16:creationId xmlns:a16="http://schemas.microsoft.com/office/drawing/2014/main" id="{45D4C6FD-B00E-AA03-E5BB-12584D87B430}"/>
                </a:ext>
              </a:extLst>
            </p:cNvPr>
            <p:cNvSpPr txBox="1"/>
            <p:nvPr/>
          </p:nvSpPr>
          <p:spPr>
            <a:xfrm>
              <a:off x="4224495" y="3248914"/>
              <a:ext cx="904053" cy="541844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defTabSz="1828165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2400" b="1" dirty="0">
                  <a:solidFill>
                    <a:schemeClr val="bg1"/>
                  </a:solidFill>
                  <a:latin typeface="华光标题宋_CNKI" panose="02000500000000000000" pitchFamily="2" charset="-122"/>
                  <a:ea typeface="华光标题宋_CNKI" panose="02000500000000000000" pitchFamily="2" charset="-122"/>
                </a:rPr>
                <a:t>1613</a:t>
              </a:r>
              <a:endParaRPr lang="id-ID" sz="2400" b="1" dirty="0">
                <a:solidFill>
                  <a:schemeClr val="bg1"/>
                </a:solidFill>
                <a:latin typeface="华光标题宋_CNKI" panose="02000500000000000000" pitchFamily="2" charset="-122"/>
                <a:ea typeface="华光标题宋_CNKI" panose="02000500000000000000" pitchFamily="2" charset="-122"/>
              </a:endParaRPr>
            </a:p>
          </p:txBody>
        </p:sp>
        <p:cxnSp>
          <p:nvCxnSpPr>
            <p:cNvPr id="19" name="Straight Connector 37">
              <a:extLst>
                <a:ext uri="{FF2B5EF4-FFF2-40B4-BE49-F238E27FC236}">
                  <a16:creationId xmlns:a16="http://schemas.microsoft.com/office/drawing/2014/main" id="{CDD46A20-CF88-77D1-242F-5F9D4E4DFB3B}"/>
                </a:ext>
              </a:extLst>
            </p:cNvPr>
            <p:cNvCxnSpPr/>
            <p:nvPr/>
          </p:nvCxnSpPr>
          <p:spPr>
            <a:xfrm>
              <a:off x="4623851" y="2341486"/>
              <a:ext cx="0" cy="693429"/>
            </a:xfrm>
            <a:prstGeom prst="line">
              <a:avLst/>
            </a:prstGeom>
            <a:ln w="38100">
              <a:solidFill>
                <a:srgbClr val="AF5819"/>
              </a:solidFill>
              <a:prstDash val="sysDash"/>
              <a:miter/>
              <a:headEnd type="arrow"/>
            </a:ln>
          </p:spPr>
        </p:cxnSp>
        <p:grpSp>
          <p:nvGrpSpPr>
            <p:cNvPr id="34" name="组合 33">
              <a:extLst>
                <a:ext uri="{FF2B5EF4-FFF2-40B4-BE49-F238E27FC236}">
                  <a16:creationId xmlns:a16="http://schemas.microsoft.com/office/drawing/2014/main" id="{810E37D4-018B-B5B0-0448-899E3A6064D7}"/>
                </a:ext>
              </a:extLst>
            </p:cNvPr>
            <p:cNvGrpSpPr/>
            <p:nvPr/>
          </p:nvGrpSpPr>
          <p:grpSpPr>
            <a:xfrm>
              <a:off x="3278699" y="1694288"/>
              <a:ext cx="2611211" cy="505277"/>
              <a:chOff x="4775765" y="1517930"/>
              <a:chExt cx="2329824" cy="430509"/>
            </a:xfrm>
          </p:grpSpPr>
          <p:sp>
            <p:nvSpPr>
              <p:cNvPr id="4" name="矩形: 圆角 30">
                <a:extLst>
                  <a:ext uri="{FF2B5EF4-FFF2-40B4-BE49-F238E27FC236}">
                    <a16:creationId xmlns:a16="http://schemas.microsoft.com/office/drawing/2014/main" id="{F88E9021-1EF9-06EC-B86D-00E16F6A6413}"/>
                  </a:ext>
                </a:extLst>
              </p:cNvPr>
              <p:cNvSpPr/>
              <p:nvPr/>
            </p:nvSpPr>
            <p:spPr>
              <a:xfrm>
                <a:off x="4869078" y="1517930"/>
                <a:ext cx="2236511" cy="430509"/>
              </a:xfrm>
              <a:prstGeom prst="roundRect">
                <a:avLst>
                  <a:gd name="adj" fmla="val 50000"/>
                </a:avLst>
              </a:prstGeom>
              <a:solidFill>
                <a:srgbClr val="AF581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" name="TextBox 66">
                <a:extLst>
                  <a:ext uri="{FF2B5EF4-FFF2-40B4-BE49-F238E27FC236}">
                    <a16:creationId xmlns:a16="http://schemas.microsoft.com/office/drawing/2014/main" id="{B08016B2-30FF-DF28-4BA8-C161CEDFBCCB}"/>
                  </a:ext>
                </a:extLst>
              </p:cNvPr>
              <p:cNvSpPr txBox="1"/>
              <p:nvPr/>
            </p:nvSpPr>
            <p:spPr>
              <a:xfrm>
                <a:off x="4775765" y="1533129"/>
                <a:ext cx="2236511" cy="400110"/>
              </a:xfrm>
              <a:prstGeom prst="rect">
                <a:avLst/>
              </a:prstGeom>
              <a:noFill/>
            </p:spPr>
            <p:txBody>
              <a:bodyPr wrap="none" anchor="ctr" anchorCtr="0">
                <a:spAutoFit/>
              </a:bodyPr>
              <a:lstStyle/>
              <a:p>
                <a:pPr algn="r"/>
                <a:r>
                  <a:rPr lang="zh-CN" altLang="en-US" sz="2000" b="1" dirty="0">
                    <a:solidFill>
                      <a:schemeClr val="bg1"/>
                    </a:solidFill>
                    <a:latin typeface="Times New Roman" panose="02020603050405020304" charset="0"/>
                    <a:ea typeface="思源黑体" panose="020B0400000000000000" charset="-122"/>
                  </a:rPr>
                  <a:t>给卡斯泰利的信件</a:t>
                </a:r>
                <a:endParaRPr lang="zh-CN" sz="2000" b="1" dirty="0">
                  <a:solidFill>
                    <a:schemeClr val="bg1"/>
                  </a:solidFill>
                  <a:latin typeface="Times New Roman" panose="02020603050405020304" charset="0"/>
                  <a:ea typeface="思源黑体" panose="020B0400000000000000" charset="-122"/>
                </a:endParaRPr>
              </a:p>
            </p:txBody>
          </p:sp>
        </p:grpSp>
      </p:grpSp>
      <p:grpSp>
        <p:nvGrpSpPr>
          <p:cNvPr id="43" name="组合 42">
            <a:extLst>
              <a:ext uri="{FF2B5EF4-FFF2-40B4-BE49-F238E27FC236}">
                <a16:creationId xmlns:a16="http://schemas.microsoft.com/office/drawing/2014/main" id="{E0EC8057-5382-D29C-60ED-8043DE16AB75}"/>
              </a:ext>
            </a:extLst>
          </p:cNvPr>
          <p:cNvGrpSpPr/>
          <p:nvPr/>
        </p:nvGrpSpPr>
        <p:grpSpPr>
          <a:xfrm>
            <a:off x="508418" y="3095416"/>
            <a:ext cx="2892361" cy="2068295"/>
            <a:chOff x="508418" y="3095416"/>
            <a:chExt cx="2892361" cy="2068295"/>
          </a:xfrm>
        </p:grpSpPr>
        <p:sp>
          <p:nvSpPr>
            <p:cNvPr id="6" name="Shape 332">
              <a:extLst>
                <a:ext uri="{FF2B5EF4-FFF2-40B4-BE49-F238E27FC236}">
                  <a16:creationId xmlns:a16="http://schemas.microsoft.com/office/drawing/2014/main" id="{564D231D-119B-B98F-5A00-AF8C7F9545BE}"/>
                </a:ext>
              </a:extLst>
            </p:cNvPr>
            <p:cNvSpPr/>
            <p:nvPr/>
          </p:nvSpPr>
          <p:spPr>
            <a:xfrm>
              <a:off x="508418" y="3095416"/>
              <a:ext cx="2892361" cy="723679"/>
            </a:xfrm>
            <a:custGeom>
              <a:avLst/>
              <a:gdLst/>
              <a:ahLst/>
              <a:cxnLst/>
              <a:rect l="0" t="0" r="r" b="b"/>
              <a:pathLst>
                <a:path w="2776294" h="635001">
                  <a:moveTo>
                    <a:pt x="2470189" y="635001"/>
                  </a:moveTo>
                  <a:cubicBezTo>
                    <a:pt x="29324" y="635001"/>
                    <a:pt x="29324" y="635001"/>
                    <a:pt x="29324" y="635001"/>
                  </a:cubicBezTo>
                  <a:cubicBezTo>
                    <a:pt x="14662" y="635001"/>
                    <a:pt x="0" y="623977"/>
                    <a:pt x="0" y="612982"/>
                  </a:cubicBezTo>
                  <a:cubicBezTo>
                    <a:pt x="0" y="18344"/>
                    <a:pt x="0" y="18344"/>
                    <a:pt x="0" y="18344"/>
                  </a:cubicBezTo>
                  <a:cubicBezTo>
                    <a:pt x="0" y="7350"/>
                    <a:pt x="14662" y="0"/>
                    <a:pt x="29324" y="0"/>
                  </a:cubicBezTo>
                  <a:cubicBezTo>
                    <a:pt x="2470189" y="0"/>
                    <a:pt x="2470189" y="0"/>
                    <a:pt x="2470189" y="0"/>
                  </a:cubicBezTo>
                  <a:cubicBezTo>
                    <a:pt x="2481250" y="0"/>
                    <a:pt x="2488581" y="3675"/>
                    <a:pt x="2492182" y="7350"/>
                  </a:cubicBezTo>
                  <a:cubicBezTo>
                    <a:pt x="2770764" y="304653"/>
                    <a:pt x="2770764" y="304653"/>
                    <a:pt x="2770764" y="304653"/>
                  </a:cubicBezTo>
                  <a:cubicBezTo>
                    <a:pt x="2778095" y="312003"/>
                    <a:pt x="2778095" y="319323"/>
                    <a:pt x="2770764" y="326673"/>
                  </a:cubicBezTo>
                  <a:cubicBezTo>
                    <a:pt x="2492182" y="623977"/>
                    <a:pt x="2492182" y="623977"/>
                    <a:pt x="2492182" y="623977"/>
                  </a:cubicBezTo>
                  <a:cubicBezTo>
                    <a:pt x="2488581" y="631326"/>
                    <a:pt x="2481250" y="635001"/>
                    <a:pt x="2470189" y="635001"/>
                  </a:cubicBezTo>
                  <a:close/>
                </a:path>
              </a:pathLst>
            </a:custGeom>
            <a:solidFill>
              <a:srgbClr val="AF5819"/>
            </a:solidFill>
            <a:ln w="12700">
              <a:miter/>
            </a:ln>
          </p:spPr>
          <p:txBody>
            <a:bodyPr lIns="45719" rIns="45719"/>
            <a:lstStyle/>
            <a:p>
              <a:endParaRPr sz="1100">
                <a:solidFill>
                  <a:schemeClr val="tx1">
                    <a:lumMod val="50000"/>
                    <a:lumOff val="50000"/>
                  </a:schemeClr>
                </a:solidFill>
                <a:latin typeface="FZShengShiKaiShuS-EB-GB"/>
                <a:ea typeface="FZShengShiKaiShuS-EB-GB"/>
              </a:endParaRPr>
            </a:p>
          </p:txBody>
        </p:sp>
        <p:sp>
          <p:nvSpPr>
            <p:cNvPr id="10" name="TextBox 27">
              <a:extLst>
                <a:ext uri="{FF2B5EF4-FFF2-40B4-BE49-F238E27FC236}">
                  <a16:creationId xmlns:a16="http://schemas.microsoft.com/office/drawing/2014/main" id="{18C6D8E9-FFE9-82AF-9241-7BFCBC64E67B}"/>
                </a:ext>
              </a:extLst>
            </p:cNvPr>
            <p:cNvSpPr txBox="1"/>
            <p:nvPr/>
          </p:nvSpPr>
          <p:spPr>
            <a:xfrm>
              <a:off x="1342648" y="3248914"/>
              <a:ext cx="904053" cy="541844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defTabSz="1828165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2400" b="1" dirty="0">
                  <a:solidFill>
                    <a:schemeClr val="bg1"/>
                  </a:solidFill>
                  <a:latin typeface="华光标题宋_CNKI" panose="02000500000000000000" pitchFamily="2" charset="-122"/>
                  <a:ea typeface="华光标题宋_CNKI" panose="02000500000000000000" pitchFamily="2" charset="-122"/>
                </a:rPr>
                <a:t>1610</a:t>
              </a:r>
              <a:endParaRPr lang="id-ID" sz="2400" b="1" dirty="0">
                <a:solidFill>
                  <a:schemeClr val="bg1"/>
                </a:solidFill>
                <a:latin typeface="华光标题宋_CNKI" panose="02000500000000000000" pitchFamily="2" charset="-122"/>
                <a:ea typeface="华光标题宋_CNKI" panose="02000500000000000000" pitchFamily="2" charset="-122"/>
              </a:endParaRPr>
            </a:p>
          </p:txBody>
        </p:sp>
        <p:cxnSp>
          <p:nvCxnSpPr>
            <p:cNvPr id="14" name="Straight Connector 34">
              <a:extLst>
                <a:ext uri="{FF2B5EF4-FFF2-40B4-BE49-F238E27FC236}">
                  <a16:creationId xmlns:a16="http://schemas.microsoft.com/office/drawing/2014/main" id="{BC0F0C62-F690-ACD9-4485-F73C48C06928}"/>
                </a:ext>
              </a:extLst>
            </p:cNvPr>
            <p:cNvCxnSpPr/>
            <p:nvPr/>
          </p:nvCxnSpPr>
          <p:spPr>
            <a:xfrm flipV="1">
              <a:off x="1748144" y="3854686"/>
              <a:ext cx="0" cy="693429"/>
            </a:xfrm>
            <a:prstGeom prst="line">
              <a:avLst/>
            </a:prstGeom>
            <a:ln w="38100">
              <a:solidFill>
                <a:srgbClr val="AF5819"/>
              </a:solidFill>
              <a:prstDash val="sysDash"/>
              <a:miter/>
              <a:headEnd type="arrow"/>
            </a:ln>
          </p:spPr>
        </p:cxnSp>
        <p:grpSp>
          <p:nvGrpSpPr>
            <p:cNvPr id="35" name="组合 34">
              <a:extLst>
                <a:ext uri="{FF2B5EF4-FFF2-40B4-BE49-F238E27FC236}">
                  <a16:creationId xmlns:a16="http://schemas.microsoft.com/office/drawing/2014/main" id="{CD88BDFE-AEA2-CB3C-387A-2608AEFAFF66}"/>
                </a:ext>
              </a:extLst>
            </p:cNvPr>
            <p:cNvGrpSpPr/>
            <p:nvPr/>
          </p:nvGrpSpPr>
          <p:grpSpPr>
            <a:xfrm>
              <a:off x="511620" y="4658434"/>
              <a:ext cx="2546515" cy="505277"/>
              <a:chOff x="2345506" y="4519984"/>
              <a:chExt cx="2272100" cy="430509"/>
            </a:xfrm>
          </p:grpSpPr>
          <p:sp>
            <p:nvSpPr>
              <p:cNvPr id="32" name="矩形: 圆角 35">
                <a:extLst>
                  <a:ext uri="{FF2B5EF4-FFF2-40B4-BE49-F238E27FC236}">
                    <a16:creationId xmlns:a16="http://schemas.microsoft.com/office/drawing/2014/main" id="{984B7ECF-0B09-91DA-570C-0B5159B4D4EB}"/>
                  </a:ext>
                </a:extLst>
              </p:cNvPr>
              <p:cNvSpPr/>
              <p:nvPr/>
            </p:nvSpPr>
            <p:spPr>
              <a:xfrm>
                <a:off x="2420401" y="4519984"/>
                <a:ext cx="2197205" cy="430509"/>
              </a:xfrm>
              <a:prstGeom prst="roundRect">
                <a:avLst>
                  <a:gd name="adj" fmla="val 50000"/>
                </a:avLst>
              </a:prstGeom>
              <a:solidFill>
                <a:srgbClr val="AF581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3" name="TextBox 66">
                <a:extLst>
                  <a:ext uri="{FF2B5EF4-FFF2-40B4-BE49-F238E27FC236}">
                    <a16:creationId xmlns:a16="http://schemas.microsoft.com/office/drawing/2014/main" id="{054DCA45-9E1E-3F20-08B7-CE5D684E38DD}"/>
                  </a:ext>
                </a:extLst>
              </p:cNvPr>
              <p:cNvSpPr txBox="1"/>
              <p:nvPr/>
            </p:nvSpPr>
            <p:spPr>
              <a:xfrm>
                <a:off x="2345506" y="4535183"/>
                <a:ext cx="2236510" cy="400110"/>
              </a:xfrm>
              <a:prstGeom prst="rect">
                <a:avLst/>
              </a:prstGeom>
              <a:noFill/>
            </p:spPr>
            <p:txBody>
              <a:bodyPr wrap="none" anchor="ctr" anchorCtr="0">
                <a:spAutoFit/>
              </a:bodyPr>
              <a:lstStyle/>
              <a:p>
                <a:pPr algn="r"/>
                <a:r>
                  <a:rPr lang="zh-CN" altLang="en-US" sz="2000" b="1" dirty="0">
                    <a:solidFill>
                      <a:schemeClr val="bg1"/>
                    </a:solidFill>
                    <a:latin typeface="Times New Roman" panose="02020603050405020304" charset="0"/>
                    <a:ea typeface="思源黑体" panose="020B0400000000000000" charset="-122"/>
                  </a:rPr>
                  <a:t>出版</a:t>
                </a:r>
                <a:r>
                  <a:rPr lang="en-US" altLang="zh-CN" sz="2000" b="1" dirty="0">
                    <a:solidFill>
                      <a:schemeClr val="bg1"/>
                    </a:solidFill>
                    <a:latin typeface="Times New Roman" panose="02020603050405020304" charset="0"/>
                    <a:ea typeface="思源黑体" panose="020B0400000000000000" charset="-122"/>
                  </a:rPr>
                  <a:t>《</a:t>
                </a:r>
                <a:r>
                  <a:rPr lang="zh-CN" altLang="en-US" sz="2000" b="1" dirty="0">
                    <a:solidFill>
                      <a:schemeClr val="bg1"/>
                    </a:solidFill>
                    <a:latin typeface="Times New Roman" panose="02020603050405020304" charset="0"/>
                    <a:ea typeface="思源黑体" panose="020B0400000000000000" charset="-122"/>
                  </a:rPr>
                  <a:t>星际使者</a:t>
                </a:r>
                <a:r>
                  <a:rPr lang="en-US" altLang="zh-CN" sz="2000" b="1" dirty="0">
                    <a:solidFill>
                      <a:schemeClr val="bg1"/>
                    </a:solidFill>
                    <a:latin typeface="Times New Roman" panose="02020603050405020304" charset="0"/>
                    <a:ea typeface="思源黑体" panose="020B0400000000000000" charset="-122"/>
                  </a:rPr>
                  <a:t>》</a:t>
                </a:r>
                <a:endParaRPr lang="zh-CN" sz="2000" b="1" dirty="0">
                  <a:solidFill>
                    <a:schemeClr val="bg1"/>
                  </a:solidFill>
                  <a:latin typeface="Times New Roman" panose="02020603050405020304" charset="0"/>
                  <a:ea typeface="思源黑体" panose="020B0400000000000000" charset="-122"/>
                </a:endParaRPr>
              </a:p>
            </p:txBody>
          </p:sp>
        </p:grpSp>
      </p:grpSp>
      <p:sp>
        <p:nvSpPr>
          <p:cNvPr id="37" name="矩形 4">
            <a:extLst>
              <a:ext uri="{FF2B5EF4-FFF2-40B4-BE49-F238E27FC236}">
                <a16:creationId xmlns:a16="http://schemas.microsoft.com/office/drawing/2014/main" id="{7DA90E57-561E-A1F0-F5A4-13EA5266206F}"/>
              </a:ext>
            </a:extLst>
          </p:cNvPr>
          <p:cNvSpPr>
            <a:spLocks noChangeArrowheads="1"/>
          </p:cNvSpPr>
          <p:nvPr/>
        </p:nvSpPr>
        <p:spPr>
          <a:xfrm>
            <a:off x="6128006" y="1487871"/>
            <a:ext cx="5555576" cy="14773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lvl="0" defTabSz="1216025">
              <a:defRPr>
                <a:solidFill>
                  <a:schemeClr val="tx1"/>
                </a:solidFill>
                <a:latin typeface="Calibri" panose="020F0502020204030204"/>
                <a:ea typeface="宋体" pitchFamily="2" charset="-122"/>
              </a:defRPr>
            </a:lvl1pPr>
            <a:lvl2pPr marL="742950" lvl="1" indent="-285750" defTabSz="1216025">
              <a:defRPr>
                <a:solidFill>
                  <a:schemeClr val="tx1"/>
                </a:solidFill>
                <a:latin typeface="Calibri" panose="020F0502020204030204"/>
                <a:ea typeface="宋体" pitchFamily="2" charset="-122"/>
              </a:defRPr>
            </a:lvl2pPr>
            <a:lvl3pPr marL="1143000" lvl="2" indent="-228600" defTabSz="1216025">
              <a:defRPr>
                <a:solidFill>
                  <a:schemeClr val="tx1"/>
                </a:solidFill>
                <a:latin typeface="Calibri" panose="020F0502020204030204"/>
                <a:ea typeface="宋体" pitchFamily="2" charset="-122"/>
              </a:defRPr>
            </a:lvl3pPr>
            <a:lvl4pPr marL="1600200" lvl="3" indent="-228600" defTabSz="1216025">
              <a:defRPr>
                <a:solidFill>
                  <a:schemeClr val="tx1"/>
                </a:solidFill>
                <a:latin typeface="Calibri" panose="020F0502020204030204"/>
                <a:ea typeface="宋体" pitchFamily="2" charset="-122"/>
              </a:defRPr>
            </a:lvl4pPr>
            <a:lvl5pPr marL="2057400" lvl="4" indent="-228600" defTabSz="1216025">
              <a:defRPr>
                <a:solidFill>
                  <a:schemeClr val="tx1"/>
                </a:solidFill>
                <a:latin typeface="Calibri" panose="020F0502020204030204"/>
                <a:ea typeface="宋体" pitchFamily="2" charset="-122"/>
              </a:defRPr>
            </a:lvl5pPr>
            <a:lvl6pPr marL="2514600" lvl="5" indent="-228600" defTabSz="1216025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/>
                <a:ea typeface="宋体" pitchFamily="2" charset="-122"/>
              </a:defRPr>
            </a:lvl6pPr>
            <a:lvl7pPr marL="2971800" lvl="6" indent="-228600" defTabSz="1216025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/>
                <a:ea typeface="宋体" pitchFamily="2" charset="-122"/>
              </a:defRPr>
            </a:lvl7pPr>
            <a:lvl8pPr marL="3429000" lvl="7" indent="-228600" defTabSz="1216025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/>
                <a:ea typeface="宋体" pitchFamily="2" charset="-122"/>
              </a:defRPr>
            </a:lvl8pPr>
            <a:lvl9pPr marL="3886200" lvl="8" indent="-228600" defTabSz="1216025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/>
                <a:ea typeface="宋体" pitchFamily="2" charset="-122"/>
              </a:defRPr>
            </a:lvl9pPr>
          </a:lstStyle>
          <a:p>
            <a:r>
              <a:rPr lang="zh-CN" altLang="en-US" sz="1800" dirty="0">
                <a:effectLst/>
                <a:latin typeface="HiddenHorzOCR"/>
              </a:rPr>
              <a:t>“我相信，</a:t>
            </a:r>
            <a:r>
              <a:rPr lang="en-US" altLang="zh-CN" sz="1800" dirty="0">
                <a:effectLst/>
                <a:latin typeface="HiddenHorzOCR"/>
              </a:rPr>
              <a:t>《</a:t>
            </a:r>
            <a:r>
              <a:rPr lang="zh-CN" altLang="en-US" sz="1800" dirty="0">
                <a:effectLst/>
                <a:latin typeface="HiddenHorzOCR"/>
              </a:rPr>
              <a:t>圣经</a:t>
            </a:r>
            <a:r>
              <a:rPr lang="en-US" altLang="zh-CN" sz="1800" dirty="0">
                <a:effectLst/>
                <a:latin typeface="HiddenHorzOCR"/>
              </a:rPr>
              <a:t>》 </a:t>
            </a:r>
            <a:r>
              <a:rPr lang="zh-CN" altLang="en-US" sz="1800" dirty="0">
                <a:effectLst/>
                <a:latin typeface="HiddenHorzOCR"/>
              </a:rPr>
              <a:t>的权威只有一个目的， 即说服人们相信那些对我们的救赎是必需的，而且高于所有人类理性的信条与论点，但这些信条和论点无法用科学证明 。” </a:t>
            </a:r>
            <a:endParaRPr lang="en-US" altLang="zh-CN" sz="1800" dirty="0">
              <a:effectLst/>
              <a:latin typeface="HiddenHorzOCR"/>
            </a:endParaRPr>
          </a:p>
          <a:p>
            <a:r>
              <a:rPr lang="en-US" altLang="zh-CN" dirty="0">
                <a:latin typeface="HiddenHorzOCR"/>
              </a:rPr>
              <a:t>	</a:t>
            </a:r>
            <a:r>
              <a:rPr lang="zh-CN" altLang="en-US" dirty="0">
                <a:latin typeface="HiddenHorzOCR"/>
              </a:rPr>
              <a:t>                     </a:t>
            </a:r>
            <a:r>
              <a:rPr lang="en-US" altLang="zh-CN" dirty="0">
                <a:latin typeface="HiddenHorzOCR"/>
              </a:rPr>
              <a:t>——</a:t>
            </a:r>
            <a:r>
              <a:rPr lang="zh-CN" altLang="en-US" dirty="0">
                <a:latin typeface="HiddenHorzOCR"/>
              </a:rPr>
              <a:t> 伽利略致卡斯泰利之信</a:t>
            </a:r>
            <a:endParaRPr lang="zh-CN" altLang="en-US" dirty="0"/>
          </a:p>
        </p:txBody>
      </p: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14C157D0-43D4-7BDF-2F38-1E6AFB0730F3}"/>
              </a:ext>
            </a:extLst>
          </p:cNvPr>
          <p:cNvGrpSpPr/>
          <p:nvPr/>
        </p:nvGrpSpPr>
        <p:grpSpPr>
          <a:xfrm>
            <a:off x="7142179" y="3294214"/>
            <a:ext cx="4084261" cy="1229765"/>
            <a:chOff x="7043085" y="2640169"/>
            <a:chExt cx="4090091" cy="1661376"/>
          </a:xfrm>
        </p:grpSpPr>
        <p:sp>
          <p:nvSpPr>
            <p:cNvPr id="49" name="圆角矩形 3">
              <a:extLst>
                <a:ext uri="{FF2B5EF4-FFF2-40B4-BE49-F238E27FC236}">
                  <a16:creationId xmlns:a16="http://schemas.microsoft.com/office/drawing/2014/main" id="{EF5D5787-3129-D723-66F4-EAD41193E857}"/>
                </a:ext>
              </a:extLst>
            </p:cNvPr>
            <p:cNvSpPr>
              <a:spLocks noChangeArrowheads="1"/>
            </p:cNvSpPr>
            <p:nvPr/>
          </p:nvSpPr>
          <p:spPr>
            <a:xfrm>
              <a:off x="7043085" y="2640169"/>
              <a:ext cx="4090091" cy="1661376"/>
            </a:xfrm>
            <a:prstGeom prst="roundRect">
              <a:avLst>
                <a:gd name="adj" fmla="val 9083"/>
              </a:avLst>
            </a:prstGeom>
            <a:solidFill>
              <a:srgbClr val="FFFFFF"/>
            </a:solidFill>
            <a:ln w="12700">
              <a:solidFill>
                <a:srgbClr val="9A0000"/>
              </a:solidFill>
              <a:round/>
            </a:ln>
          </p:spPr>
          <p:txBody>
            <a:bodyPr anchor="ctr"/>
            <a:lstStyle>
              <a:lvl1pPr lvl="0">
                <a:defRPr>
                  <a:solidFill>
                    <a:schemeClr val="tx1"/>
                  </a:solidFill>
                  <a:latin typeface="Calibri" panose="020F0502020204030204"/>
                  <a:ea typeface="宋体" pitchFamily="2" charset="-122"/>
                </a:defRPr>
              </a:lvl1pPr>
              <a:lvl2pPr marL="742950" lvl="1" indent="-285750">
                <a:defRPr>
                  <a:solidFill>
                    <a:schemeClr val="tx1"/>
                  </a:solidFill>
                  <a:latin typeface="Calibri" panose="020F0502020204030204"/>
                  <a:ea typeface="宋体" pitchFamily="2" charset="-122"/>
                </a:defRPr>
              </a:lvl2pPr>
              <a:lvl3pPr marL="1143000" lvl="2" indent="-228600">
                <a:defRPr>
                  <a:solidFill>
                    <a:schemeClr val="tx1"/>
                  </a:solidFill>
                  <a:latin typeface="Calibri" panose="020F0502020204030204"/>
                  <a:ea typeface="宋体" pitchFamily="2" charset="-122"/>
                </a:defRPr>
              </a:lvl3pPr>
              <a:lvl4pPr marL="1600200" lvl="3" indent="-228600">
                <a:defRPr>
                  <a:solidFill>
                    <a:schemeClr val="tx1"/>
                  </a:solidFill>
                  <a:latin typeface="Calibri" panose="020F0502020204030204"/>
                  <a:ea typeface="宋体" pitchFamily="2" charset="-122"/>
                </a:defRPr>
              </a:lvl4pPr>
              <a:lvl5pPr marL="2057400" lvl="4" indent="-228600">
                <a:defRPr>
                  <a:solidFill>
                    <a:schemeClr val="tx1"/>
                  </a:solidFill>
                  <a:latin typeface="Calibri" panose="020F0502020204030204"/>
                  <a:ea typeface="宋体" pitchFamily="2" charset="-122"/>
                </a:defRPr>
              </a:lvl5pPr>
              <a:lvl6pPr marL="2514600" lvl="5" indent="-22860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/>
                  <a:ea typeface="宋体" pitchFamily="2" charset="-122"/>
                </a:defRPr>
              </a:lvl6pPr>
              <a:lvl7pPr marL="2971800" lvl="6" indent="-22860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/>
                  <a:ea typeface="宋体" pitchFamily="2" charset="-122"/>
                </a:defRPr>
              </a:lvl7pPr>
              <a:lvl8pPr marL="3429000" lvl="7" indent="-22860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/>
                  <a:ea typeface="宋体" pitchFamily="2" charset="-122"/>
                </a:defRPr>
              </a:lvl8pPr>
              <a:lvl9pPr marL="3886200" lvl="8" indent="-22860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/>
                  <a:ea typeface="宋体" pitchFamily="2" charset="-122"/>
                </a:defRPr>
              </a:lvl9pPr>
            </a:lstStyle>
            <a:p>
              <a:pPr algn="ctr"/>
              <a:endParaRPr lang="zh-CN" sz="2000">
                <a:solidFill>
                  <a:srgbClr val="FFFFFF"/>
                </a:solidFill>
                <a:latin typeface="FZShengShiKaiShuS-EB-GB"/>
                <a:ea typeface="FZShengShiKaiShuS-EB-GB"/>
              </a:endParaRPr>
            </a:p>
          </p:txBody>
        </p:sp>
        <p:sp>
          <p:nvSpPr>
            <p:cNvPr id="50" name="矩形 4">
              <a:extLst>
                <a:ext uri="{FF2B5EF4-FFF2-40B4-BE49-F238E27FC236}">
                  <a16:creationId xmlns:a16="http://schemas.microsoft.com/office/drawing/2014/main" id="{F47DA51E-2B03-2EB5-182D-D2AA98A67437}"/>
                </a:ext>
              </a:extLst>
            </p:cNvPr>
            <p:cNvSpPr>
              <a:spLocks noChangeArrowheads="1"/>
            </p:cNvSpPr>
            <p:nvPr/>
          </p:nvSpPr>
          <p:spPr>
            <a:xfrm>
              <a:off x="7120053" y="2758538"/>
              <a:ext cx="3961606" cy="106400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>
              <a:lvl1pPr lvl="0" defTabSz="1216025">
                <a:defRPr>
                  <a:solidFill>
                    <a:schemeClr val="tx1"/>
                  </a:solidFill>
                  <a:latin typeface="Calibri" panose="020F0502020204030204"/>
                  <a:ea typeface="宋体" pitchFamily="2" charset="-122"/>
                </a:defRPr>
              </a:lvl1pPr>
              <a:lvl2pPr marL="742950" lvl="1" indent="-285750" defTabSz="1216025">
                <a:defRPr>
                  <a:solidFill>
                    <a:schemeClr val="tx1"/>
                  </a:solidFill>
                  <a:latin typeface="Calibri" panose="020F0502020204030204"/>
                  <a:ea typeface="宋体" pitchFamily="2" charset="-122"/>
                </a:defRPr>
              </a:lvl2pPr>
              <a:lvl3pPr marL="1143000" lvl="2" indent="-228600" defTabSz="1216025">
                <a:defRPr>
                  <a:solidFill>
                    <a:schemeClr val="tx1"/>
                  </a:solidFill>
                  <a:latin typeface="Calibri" panose="020F0502020204030204"/>
                  <a:ea typeface="宋体" pitchFamily="2" charset="-122"/>
                </a:defRPr>
              </a:lvl3pPr>
              <a:lvl4pPr marL="1600200" lvl="3" indent="-228600" defTabSz="1216025">
                <a:defRPr>
                  <a:solidFill>
                    <a:schemeClr val="tx1"/>
                  </a:solidFill>
                  <a:latin typeface="Calibri" panose="020F0502020204030204"/>
                  <a:ea typeface="宋体" pitchFamily="2" charset="-122"/>
                </a:defRPr>
              </a:lvl4pPr>
              <a:lvl5pPr marL="2057400" lvl="4" indent="-228600" defTabSz="1216025">
                <a:defRPr>
                  <a:solidFill>
                    <a:schemeClr val="tx1"/>
                  </a:solidFill>
                  <a:latin typeface="Calibri" panose="020F0502020204030204"/>
                  <a:ea typeface="宋体" pitchFamily="2" charset="-122"/>
                </a:defRPr>
              </a:lvl5pPr>
              <a:lvl6pPr marL="2514600" lvl="5" indent="-228600" defTabSz="1216025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/>
                  <a:ea typeface="宋体" pitchFamily="2" charset="-122"/>
                </a:defRPr>
              </a:lvl6pPr>
              <a:lvl7pPr marL="2971800" lvl="6" indent="-228600" defTabSz="1216025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/>
                  <a:ea typeface="宋体" pitchFamily="2" charset="-122"/>
                </a:defRPr>
              </a:lvl7pPr>
              <a:lvl8pPr marL="3429000" lvl="7" indent="-228600" defTabSz="1216025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/>
                  <a:ea typeface="宋体" pitchFamily="2" charset="-122"/>
                </a:defRPr>
              </a:lvl8pPr>
              <a:lvl9pPr marL="3886200" lvl="8" indent="-228600" defTabSz="1216025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/>
                  <a:ea typeface="宋体" pitchFamily="2" charset="-122"/>
                </a:defRPr>
              </a:lvl9pPr>
            </a:lstStyle>
            <a:p>
              <a:pPr>
                <a:lnSpc>
                  <a:spcPts val="2560"/>
                </a:lnSpc>
              </a:pPr>
              <a:r>
                <a:rPr lang="zh-CN" altLang="en-US" dirty="0">
                  <a:latin typeface="Times New Roman" panose="02020603050405020304" charset="0"/>
                  <a:ea typeface="思源黑体" panose="020B0400000000000000" charset="-122"/>
                </a:rPr>
                <a:t>        在这封信中，伽利略强调，圣经的语言往往是通俗而象征性的，不应被用作对自然科学真理的权威裁判。</a:t>
              </a:r>
              <a:endParaRPr lang="en-US" altLang="zh-CN" dirty="0">
                <a:latin typeface="Times New Roman" panose="02020603050405020304" charset="0"/>
                <a:ea typeface="思源黑体" panose="020B0400000000000000" charset="-122"/>
              </a:endParaRPr>
            </a:p>
          </p:txBody>
        </p:sp>
      </p:grpSp>
      <p:sp>
        <p:nvSpPr>
          <p:cNvPr id="55" name="矩形 4">
            <a:extLst>
              <a:ext uri="{FF2B5EF4-FFF2-40B4-BE49-F238E27FC236}">
                <a16:creationId xmlns:a16="http://schemas.microsoft.com/office/drawing/2014/main" id="{EED81441-36BF-F233-A1DB-A526C902DCA6}"/>
              </a:ext>
            </a:extLst>
          </p:cNvPr>
          <p:cNvSpPr>
            <a:spLocks noChangeArrowheads="1"/>
          </p:cNvSpPr>
          <p:nvPr/>
        </p:nvSpPr>
        <p:spPr>
          <a:xfrm>
            <a:off x="3498190" y="4846355"/>
            <a:ext cx="6986760" cy="175432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lvl="0" defTabSz="1216025">
              <a:defRPr>
                <a:solidFill>
                  <a:schemeClr val="tx1"/>
                </a:solidFill>
                <a:latin typeface="Calibri" panose="020F0502020204030204"/>
                <a:ea typeface="宋体" pitchFamily="2" charset="-122"/>
              </a:defRPr>
            </a:lvl1pPr>
            <a:lvl2pPr marL="742950" lvl="1" indent="-285750" defTabSz="1216025">
              <a:defRPr>
                <a:solidFill>
                  <a:schemeClr val="tx1"/>
                </a:solidFill>
                <a:latin typeface="Calibri" panose="020F0502020204030204"/>
                <a:ea typeface="宋体" pitchFamily="2" charset="-122"/>
              </a:defRPr>
            </a:lvl2pPr>
            <a:lvl3pPr marL="1143000" lvl="2" indent="-228600" defTabSz="1216025">
              <a:defRPr>
                <a:solidFill>
                  <a:schemeClr val="tx1"/>
                </a:solidFill>
                <a:latin typeface="Calibri" panose="020F0502020204030204"/>
                <a:ea typeface="宋体" pitchFamily="2" charset="-122"/>
              </a:defRPr>
            </a:lvl3pPr>
            <a:lvl4pPr marL="1600200" lvl="3" indent="-228600" defTabSz="1216025">
              <a:defRPr>
                <a:solidFill>
                  <a:schemeClr val="tx1"/>
                </a:solidFill>
                <a:latin typeface="Calibri" panose="020F0502020204030204"/>
                <a:ea typeface="宋体" pitchFamily="2" charset="-122"/>
              </a:defRPr>
            </a:lvl4pPr>
            <a:lvl5pPr marL="2057400" lvl="4" indent="-228600" defTabSz="1216025">
              <a:defRPr>
                <a:solidFill>
                  <a:schemeClr val="tx1"/>
                </a:solidFill>
                <a:latin typeface="Calibri" panose="020F0502020204030204"/>
                <a:ea typeface="宋体" pitchFamily="2" charset="-122"/>
              </a:defRPr>
            </a:lvl5pPr>
            <a:lvl6pPr marL="2514600" lvl="5" indent="-228600" defTabSz="1216025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/>
                <a:ea typeface="宋体" pitchFamily="2" charset="-122"/>
              </a:defRPr>
            </a:lvl6pPr>
            <a:lvl7pPr marL="2971800" lvl="6" indent="-228600" defTabSz="1216025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/>
                <a:ea typeface="宋体" pitchFamily="2" charset="-122"/>
              </a:defRPr>
            </a:lvl7pPr>
            <a:lvl8pPr marL="3429000" lvl="7" indent="-228600" defTabSz="1216025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/>
                <a:ea typeface="宋体" pitchFamily="2" charset="-122"/>
              </a:defRPr>
            </a:lvl8pPr>
            <a:lvl9pPr marL="3886200" lvl="8" indent="-228600" defTabSz="1216025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/>
                <a:ea typeface="宋体" pitchFamily="2" charset="-122"/>
              </a:defRPr>
            </a:lvl9pPr>
          </a:lstStyle>
          <a:p>
            <a:r>
              <a:rPr lang="zh-CN" altLang="en-US" sz="1800" dirty="0">
                <a:effectLst/>
                <a:latin typeface="HiddenHorzOCR"/>
              </a:rPr>
              <a:t>“</a:t>
            </a:r>
            <a:r>
              <a:rPr lang="zh-CN" alt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我们圣马可修道院的所有神父都认为，这封信包含了许多显得自负或令人怀疑的言论，比如其中说到</a:t>
            </a:r>
            <a:r>
              <a:rPr lang="en-US" altLang="zh-CN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《</a:t>
            </a:r>
            <a:r>
              <a:rPr lang="zh-CN" alt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圣经</a:t>
            </a:r>
            <a:r>
              <a:rPr lang="en-US" altLang="zh-CN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》</a:t>
            </a:r>
            <a:r>
              <a:rPr lang="zh-CN" alt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的话语并非其字面之意；在关于自然现象的讨论中，</a:t>
            </a:r>
            <a:r>
              <a:rPr lang="en-US" altLang="zh-CN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《</a:t>
            </a:r>
            <a:r>
              <a:rPr lang="zh-CN" alt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圣经</a:t>
            </a:r>
            <a:r>
              <a:rPr lang="en-US" altLang="zh-CN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》</a:t>
            </a:r>
            <a:r>
              <a:rPr lang="zh-CN" alt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的权威应当排在最后</a:t>
            </a:r>
            <a:r>
              <a:rPr lang="en-US" altLang="zh-CN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……</a:t>
            </a:r>
            <a:r>
              <a:rPr lang="zh-CN" alt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（伽利略的追随者们）竟自作主张地依靠自己的理解来解释</a:t>
            </a:r>
            <a:r>
              <a:rPr lang="en-US" altLang="zh-CN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《</a:t>
            </a:r>
            <a:r>
              <a:rPr lang="zh-CN" alt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圣经</a:t>
            </a:r>
            <a:r>
              <a:rPr lang="en-US" altLang="zh-CN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》</a:t>
            </a:r>
            <a:r>
              <a:rPr lang="zh-CN" alt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，其方式也有悖于教父们一贯的共同诠释</a:t>
            </a:r>
            <a:r>
              <a:rPr lang="en-US" altLang="zh-CN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……</a:t>
            </a:r>
            <a:r>
              <a:rPr lang="zh-CN" altLang="en-US" sz="1800" dirty="0">
                <a:effectLst/>
                <a:latin typeface="HiddenHorzOCR"/>
              </a:rPr>
              <a:t>” </a:t>
            </a:r>
            <a:endParaRPr lang="en-US" altLang="zh-CN" sz="1800" dirty="0">
              <a:effectLst/>
              <a:latin typeface="HiddenHorzOCR"/>
            </a:endParaRPr>
          </a:p>
          <a:p>
            <a:r>
              <a:rPr lang="en-US" altLang="zh-CN" dirty="0">
                <a:latin typeface="HiddenHorzOCR"/>
              </a:rPr>
              <a:t>	</a:t>
            </a:r>
            <a:r>
              <a:rPr lang="zh-CN" altLang="en-US" dirty="0">
                <a:latin typeface="HiddenHorzOCR"/>
              </a:rPr>
              <a:t>           </a:t>
            </a:r>
            <a:r>
              <a:rPr lang="en-US" altLang="zh-CN" dirty="0">
                <a:latin typeface="HiddenHorzOCR"/>
              </a:rPr>
              <a:t>——</a:t>
            </a:r>
            <a:r>
              <a:rPr lang="zh-CN" alt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洛里尼致宗教裁判所红衣主教斯丰德拉蒂之信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142430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平行四边形 14"/>
          <p:cNvSpPr/>
          <p:nvPr/>
        </p:nvSpPr>
        <p:spPr>
          <a:xfrm>
            <a:off x="8855234" y="0"/>
            <a:ext cx="3961606" cy="817543"/>
          </a:xfrm>
          <a:prstGeom prst="parallelogram">
            <a:avLst/>
          </a:prstGeom>
          <a:solidFill>
            <a:srgbClr val="AF581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4191" y="171769"/>
            <a:ext cx="2497769" cy="527052"/>
          </a:xfrm>
          <a:prstGeom prst="rect">
            <a:avLst/>
          </a:prstGeom>
        </p:spPr>
      </p:pic>
      <p:sp>
        <p:nvSpPr>
          <p:cNvPr id="17" name="平行四边形 16"/>
          <p:cNvSpPr/>
          <p:nvPr/>
        </p:nvSpPr>
        <p:spPr>
          <a:xfrm>
            <a:off x="-487680" y="0"/>
            <a:ext cx="1364756" cy="817543"/>
          </a:xfrm>
          <a:prstGeom prst="parallelogram">
            <a:avLst/>
          </a:prstGeom>
          <a:solidFill>
            <a:srgbClr val="AF581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TextBox 19"/>
          <p:cNvSpPr txBox="1"/>
          <p:nvPr/>
        </p:nvSpPr>
        <p:spPr>
          <a:xfrm>
            <a:off x="877076" y="109657"/>
            <a:ext cx="544448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lvl="0"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EngraversGothic BT"/>
              </a:defRPr>
            </a:lvl1pPr>
          </a:lstStyle>
          <a:p>
            <a:pPr marL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4000" b="1" u="none" strike="noStrike" kern="1200" spc="0" baseline="0" dirty="0">
                <a:ln>
                  <a:noFill/>
                </a:ln>
                <a:solidFill>
                  <a:srgbClr val="AF5819"/>
                </a:solidFill>
                <a:latin typeface="Times New Roman" panose="02020603050405020304" charset="0"/>
                <a:ea typeface="思源黑体" panose="020B0400000000000000" charset="-122"/>
              </a:rPr>
              <a:t>伽利略事件</a:t>
            </a:r>
            <a:endParaRPr lang="zh-CN" sz="4000" b="1" u="none" strike="noStrike" kern="1200" spc="0" baseline="0" dirty="0">
              <a:ln>
                <a:noFill/>
              </a:ln>
              <a:solidFill>
                <a:srgbClr val="AF5819"/>
              </a:solidFill>
              <a:latin typeface="Times New Roman" panose="02020603050405020304" charset="0"/>
              <a:ea typeface="思源黑体" panose="020B0400000000000000" charset="-122"/>
            </a:endParaRPr>
          </a:p>
        </p:txBody>
      </p:sp>
      <p:sp>
        <p:nvSpPr>
          <p:cNvPr id="29" name="矩形 28"/>
          <p:cNvSpPr/>
          <p:nvPr/>
        </p:nvSpPr>
        <p:spPr>
          <a:xfrm flipV="1">
            <a:off x="0" y="6748343"/>
            <a:ext cx="4682001" cy="128741"/>
          </a:xfrm>
          <a:prstGeom prst="rect">
            <a:avLst/>
          </a:prstGeom>
          <a:solidFill>
            <a:srgbClr val="AF5819"/>
          </a:solidFill>
          <a:ln>
            <a:noFill/>
          </a:ln>
        </p:spPr>
        <p:txBody>
          <a:bodyPr anchor="ctr"/>
          <a:lstStyle/>
          <a:p>
            <a:pPr algn="ctr"/>
            <a:endParaRPr lang="zh-CN">
              <a:solidFill>
                <a:schemeClr val="lt1"/>
              </a:solidFill>
            </a:endParaRPr>
          </a:p>
        </p:txBody>
      </p: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FD66BD42-C440-AD0A-4883-C966597E4790}"/>
              </a:ext>
            </a:extLst>
          </p:cNvPr>
          <p:cNvGrpSpPr/>
          <p:nvPr/>
        </p:nvGrpSpPr>
        <p:grpSpPr>
          <a:xfrm>
            <a:off x="3260873" y="1694288"/>
            <a:ext cx="2867134" cy="2124807"/>
            <a:chOff x="3260873" y="1694288"/>
            <a:chExt cx="2867134" cy="2124807"/>
          </a:xfrm>
        </p:grpSpPr>
        <p:sp>
          <p:nvSpPr>
            <p:cNvPr id="7" name="Shape 333">
              <a:extLst>
                <a:ext uri="{FF2B5EF4-FFF2-40B4-BE49-F238E27FC236}">
                  <a16:creationId xmlns:a16="http://schemas.microsoft.com/office/drawing/2014/main" id="{4533310E-5663-B4A5-4B02-E59B422AB4FC}"/>
                </a:ext>
              </a:extLst>
            </p:cNvPr>
            <p:cNvSpPr/>
            <p:nvPr/>
          </p:nvSpPr>
          <p:spPr>
            <a:xfrm>
              <a:off x="3260873" y="3095416"/>
              <a:ext cx="2867134" cy="723679"/>
            </a:xfrm>
            <a:custGeom>
              <a:avLst/>
              <a:gdLst/>
              <a:ahLst/>
              <a:cxnLst/>
              <a:rect l="0" t="0" r="r" b="b"/>
              <a:pathLst>
                <a:path w="2752079" h="635001">
                  <a:moveTo>
                    <a:pt x="2445852" y="635001"/>
                  </a:moveTo>
                  <a:cubicBezTo>
                    <a:pt x="29907" y="635001"/>
                    <a:pt x="29907" y="635001"/>
                    <a:pt x="29907" y="635001"/>
                  </a:cubicBezTo>
                  <a:cubicBezTo>
                    <a:pt x="4218" y="635001"/>
                    <a:pt x="-6774" y="616657"/>
                    <a:pt x="4218" y="601957"/>
                  </a:cubicBezTo>
                  <a:cubicBezTo>
                    <a:pt x="260855" y="326673"/>
                    <a:pt x="260855" y="326673"/>
                    <a:pt x="260855" y="326673"/>
                  </a:cubicBezTo>
                  <a:cubicBezTo>
                    <a:pt x="268140" y="319323"/>
                    <a:pt x="268140" y="312003"/>
                    <a:pt x="260855" y="304653"/>
                  </a:cubicBezTo>
                  <a:cubicBezTo>
                    <a:pt x="4218" y="29369"/>
                    <a:pt x="4218" y="29369"/>
                    <a:pt x="4218" y="29369"/>
                  </a:cubicBezTo>
                  <a:cubicBezTo>
                    <a:pt x="-6774" y="14670"/>
                    <a:pt x="4218" y="0"/>
                    <a:pt x="29907" y="0"/>
                  </a:cubicBezTo>
                  <a:cubicBezTo>
                    <a:pt x="2445852" y="0"/>
                    <a:pt x="2445852" y="0"/>
                    <a:pt x="2445852" y="0"/>
                  </a:cubicBezTo>
                  <a:cubicBezTo>
                    <a:pt x="2453265" y="0"/>
                    <a:pt x="2464256" y="3675"/>
                    <a:pt x="2467963" y="7350"/>
                  </a:cubicBezTo>
                  <a:cubicBezTo>
                    <a:pt x="2746583" y="304653"/>
                    <a:pt x="2746583" y="304653"/>
                    <a:pt x="2746583" y="304653"/>
                  </a:cubicBezTo>
                  <a:cubicBezTo>
                    <a:pt x="2753868" y="312003"/>
                    <a:pt x="2753868" y="319323"/>
                    <a:pt x="2746583" y="326673"/>
                  </a:cubicBezTo>
                  <a:cubicBezTo>
                    <a:pt x="2467963" y="623977"/>
                    <a:pt x="2467963" y="623977"/>
                    <a:pt x="2467963" y="623977"/>
                  </a:cubicBezTo>
                  <a:cubicBezTo>
                    <a:pt x="2464256" y="631326"/>
                    <a:pt x="2453265" y="635001"/>
                    <a:pt x="2445852" y="635001"/>
                  </a:cubicBezTo>
                  <a:close/>
                </a:path>
              </a:pathLst>
            </a:custGeom>
            <a:solidFill>
              <a:srgbClr val="E38239"/>
            </a:solidFill>
            <a:ln w="12700">
              <a:miter/>
            </a:ln>
          </p:spPr>
          <p:txBody>
            <a:bodyPr lIns="45719" rIns="45719"/>
            <a:lstStyle/>
            <a:p>
              <a:endParaRPr sz="1100">
                <a:solidFill>
                  <a:schemeClr val="tx1">
                    <a:lumMod val="50000"/>
                    <a:lumOff val="50000"/>
                  </a:schemeClr>
                </a:solidFill>
                <a:latin typeface="FZShengShiKaiShuS-EB-GB"/>
                <a:ea typeface="FZShengShiKaiShuS-EB-GB"/>
              </a:endParaRPr>
            </a:p>
          </p:txBody>
        </p:sp>
        <p:sp>
          <p:nvSpPr>
            <p:cNvPr id="11" name="TextBox 28">
              <a:extLst>
                <a:ext uri="{FF2B5EF4-FFF2-40B4-BE49-F238E27FC236}">
                  <a16:creationId xmlns:a16="http://schemas.microsoft.com/office/drawing/2014/main" id="{45D4C6FD-B00E-AA03-E5BB-12584D87B430}"/>
                </a:ext>
              </a:extLst>
            </p:cNvPr>
            <p:cNvSpPr txBox="1"/>
            <p:nvPr/>
          </p:nvSpPr>
          <p:spPr>
            <a:xfrm>
              <a:off x="4224495" y="3248914"/>
              <a:ext cx="904053" cy="541844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defTabSz="1828165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2400" b="1" dirty="0">
                  <a:solidFill>
                    <a:schemeClr val="bg1"/>
                  </a:solidFill>
                  <a:latin typeface="华光标题宋_CNKI" panose="02000500000000000000" pitchFamily="2" charset="-122"/>
                  <a:ea typeface="华光标题宋_CNKI" panose="02000500000000000000" pitchFamily="2" charset="-122"/>
                </a:rPr>
                <a:t>1613</a:t>
              </a:r>
              <a:endParaRPr lang="id-ID" sz="2400" b="1" dirty="0">
                <a:solidFill>
                  <a:schemeClr val="bg1"/>
                </a:solidFill>
                <a:latin typeface="华光标题宋_CNKI" panose="02000500000000000000" pitchFamily="2" charset="-122"/>
                <a:ea typeface="华光标题宋_CNKI" panose="02000500000000000000" pitchFamily="2" charset="-122"/>
              </a:endParaRPr>
            </a:p>
          </p:txBody>
        </p:sp>
        <p:cxnSp>
          <p:nvCxnSpPr>
            <p:cNvPr id="19" name="Straight Connector 37">
              <a:extLst>
                <a:ext uri="{FF2B5EF4-FFF2-40B4-BE49-F238E27FC236}">
                  <a16:creationId xmlns:a16="http://schemas.microsoft.com/office/drawing/2014/main" id="{CDD46A20-CF88-77D1-242F-5F9D4E4DFB3B}"/>
                </a:ext>
              </a:extLst>
            </p:cNvPr>
            <p:cNvCxnSpPr/>
            <p:nvPr/>
          </p:nvCxnSpPr>
          <p:spPr>
            <a:xfrm>
              <a:off x="4623851" y="2341486"/>
              <a:ext cx="0" cy="693429"/>
            </a:xfrm>
            <a:prstGeom prst="line">
              <a:avLst/>
            </a:prstGeom>
            <a:ln w="38100">
              <a:solidFill>
                <a:srgbClr val="AF5819"/>
              </a:solidFill>
              <a:prstDash val="sysDash"/>
              <a:miter/>
              <a:headEnd type="arrow"/>
            </a:ln>
          </p:spPr>
        </p:cxnSp>
        <p:grpSp>
          <p:nvGrpSpPr>
            <p:cNvPr id="34" name="组合 33">
              <a:extLst>
                <a:ext uri="{FF2B5EF4-FFF2-40B4-BE49-F238E27FC236}">
                  <a16:creationId xmlns:a16="http://schemas.microsoft.com/office/drawing/2014/main" id="{810E37D4-018B-B5B0-0448-899E3A6064D7}"/>
                </a:ext>
              </a:extLst>
            </p:cNvPr>
            <p:cNvGrpSpPr/>
            <p:nvPr/>
          </p:nvGrpSpPr>
          <p:grpSpPr>
            <a:xfrm>
              <a:off x="3278699" y="1694288"/>
              <a:ext cx="2611211" cy="505277"/>
              <a:chOff x="4775765" y="1517930"/>
              <a:chExt cx="2329824" cy="430509"/>
            </a:xfrm>
          </p:grpSpPr>
          <p:sp>
            <p:nvSpPr>
              <p:cNvPr id="4" name="矩形: 圆角 30">
                <a:extLst>
                  <a:ext uri="{FF2B5EF4-FFF2-40B4-BE49-F238E27FC236}">
                    <a16:creationId xmlns:a16="http://schemas.microsoft.com/office/drawing/2014/main" id="{F88E9021-1EF9-06EC-B86D-00E16F6A6413}"/>
                  </a:ext>
                </a:extLst>
              </p:cNvPr>
              <p:cNvSpPr/>
              <p:nvPr/>
            </p:nvSpPr>
            <p:spPr>
              <a:xfrm>
                <a:off x="4869078" y="1517930"/>
                <a:ext cx="2236511" cy="430509"/>
              </a:xfrm>
              <a:prstGeom prst="roundRect">
                <a:avLst>
                  <a:gd name="adj" fmla="val 50000"/>
                </a:avLst>
              </a:prstGeom>
              <a:solidFill>
                <a:srgbClr val="AF581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" name="TextBox 66">
                <a:extLst>
                  <a:ext uri="{FF2B5EF4-FFF2-40B4-BE49-F238E27FC236}">
                    <a16:creationId xmlns:a16="http://schemas.microsoft.com/office/drawing/2014/main" id="{B08016B2-30FF-DF28-4BA8-C161CEDFBCCB}"/>
                  </a:ext>
                </a:extLst>
              </p:cNvPr>
              <p:cNvSpPr txBox="1"/>
              <p:nvPr/>
            </p:nvSpPr>
            <p:spPr>
              <a:xfrm>
                <a:off x="4775765" y="1533129"/>
                <a:ext cx="2236511" cy="400110"/>
              </a:xfrm>
              <a:prstGeom prst="rect">
                <a:avLst/>
              </a:prstGeom>
              <a:noFill/>
            </p:spPr>
            <p:txBody>
              <a:bodyPr wrap="none" anchor="ctr" anchorCtr="0">
                <a:spAutoFit/>
              </a:bodyPr>
              <a:lstStyle/>
              <a:p>
                <a:pPr algn="r"/>
                <a:r>
                  <a:rPr lang="zh-CN" altLang="en-US" sz="2000" b="1" dirty="0">
                    <a:solidFill>
                      <a:schemeClr val="bg1"/>
                    </a:solidFill>
                    <a:latin typeface="Times New Roman" panose="02020603050405020304" charset="0"/>
                    <a:ea typeface="思源黑体" panose="020B0400000000000000" charset="-122"/>
                  </a:rPr>
                  <a:t>给卡斯泰利的信件</a:t>
                </a:r>
                <a:endParaRPr lang="zh-CN" sz="2000" b="1" dirty="0">
                  <a:solidFill>
                    <a:schemeClr val="bg1"/>
                  </a:solidFill>
                  <a:latin typeface="Times New Roman" panose="02020603050405020304" charset="0"/>
                  <a:ea typeface="思源黑体" panose="020B0400000000000000" charset="-122"/>
                </a:endParaRPr>
              </a:p>
            </p:txBody>
          </p:sp>
        </p:grpSp>
      </p:grp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47AA943F-C51E-9516-0763-1C272B1D4A4C}"/>
              </a:ext>
            </a:extLst>
          </p:cNvPr>
          <p:cNvGrpSpPr/>
          <p:nvPr/>
        </p:nvGrpSpPr>
        <p:grpSpPr>
          <a:xfrm>
            <a:off x="5988030" y="3095416"/>
            <a:ext cx="2931418" cy="2068295"/>
            <a:chOff x="5988030" y="3095416"/>
            <a:chExt cx="2931418" cy="2068295"/>
          </a:xfrm>
        </p:grpSpPr>
        <p:sp>
          <p:nvSpPr>
            <p:cNvPr id="8" name="Shape 334">
              <a:extLst>
                <a:ext uri="{FF2B5EF4-FFF2-40B4-BE49-F238E27FC236}">
                  <a16:creationId xmlns:a16="http://schemas.microsoft.com/office/drawing/2014/main" id="{39FA5932-802F-4231-1B0C-418074E75858}"/>
                </a:ext>
              </a:extLst>
            </p:cNvPr>
            <p:cNvSpPr/>
            <p:nvPr/>
          </p:nvSpPr>
          <p:spPr>
            <a:xfrm>
              <a:off x="5988030" y="3095416"/>
              <a:ext cx="2867204" cy="723679"/>
            </a:xfrm>
            <a:custGeom>
              <a:avLst/>
              <a:gdLst/>
              <a:ahLst/>
              <a:cxnLst/>
              <a:rect l="0" t="0" r="r" b="b"/>
              <a:pathLst>
                <a:path w="2752146" h="635001">
                  <a:moveTo>
                    <a:pt x="2446040" y="635001"/>
                  </a:moveTo>
                  <a:cubicBezTo>
                    <a:pt x="26329" y="635001"/>
                    <a:pt x="26329" y="635001"/>
                    <a:pt x="26329" y="635001"/>
                  </a:cubicBezTo>
                  <a:cubicBezTo>
                    <a:pt x="4346" y="635001"/>
                    <a:pt x="-6646" y="616657"/>
                    <a:pt x="4346" y="601957"/>
                  </a:cubicBezTo>
                  <a:cubicBezTo>
                    <a:pt x="260989" y="326673"/>
                    <a:pt x="260989" y="326673"/>
                    <a:pt x="260989" y="326673"/>
                  </a:cubicBezTo>
                  <a:cubicBezTo>
                    <a:pt x="268274" y="319323"/>
                    <a:pt x="268274" y="312003"/>
                    <a:pt x="260989" y="304653"/>
                  </a:cubicBezTo>
                  <a:cubicBezTo>
                    <a:pt x="4346" y="29369"/>
                    <a:pt x="4346" y="29369"/>
                    <a:pt x="4346" y="29369"/>
                  </a:cubicBezTo>
                  <a:cubicBezTo>
                    <a:pt x="-6646" y="14670"/>
                    <a:pt x="4346" y="0"/>
                    <a:pt x="26329" y="0"/>
                  </a:cubicBezTo>
                  <a:cubicBezTo>
                    <a:pt x="2446040" y="0"/>
                    <a:pt x="2446040" y="0"/>
                    <a:pt x="2446040" y="0"/>
                  </a:cubicBezTo>
                  <a:cubicBezTo>
                    <a:pt x="2453453" y="0"/>
                    <a:pt x="2464444" y="3675"/>
                    <a:pt x="2468151" y="7350"/>
                  </a:cubicBezTo>
                  <a:cubicBezTo>
                    <a:pt x="2746778" y="304653"/>
                    <a:pt x="2746778" y="304653"/>
                    <a:pt x="2746778" y="304653"/>
                  </a:cubicBezTo>
                  <a:cubicBezTo>
                    <a:pt x="2754063" y="312003"/>
                    <a:pt x="2754063" y="319323"/>
                    <a:pt x="2746778" y="326673"/>
                  </a:cubicBezTo>
                  <a:cubicBezTo>
                    <a:pt x="2468151" y="623977"/>
                    <a:pt x="2468151" y="623977"/>
                    <a:pt x="2468151" y="623977"/>
                  </a:cubicBezTo>
                  <a:cubicBezTo>
                    <a:pt x="2464444" y="631326"/>
                    <a:pt x="2453453" y="635001"/>
                    <a:pt x="2446040" y="635001"/>
                  </a:cubicBezTo>
                  <a:close/>
                </a:path>
              </a:pathLst>
            </a:custGeom>
            <a:solidFill>
              <a:srgbClr val="AF5819"/>
            </a:solidFill>
            <a:ln w="12700">
              <a:miter/>
            </a:ln>
          </p:spPr>
          <p:txBody>
            <a:bodyPr lIns="45719" rIns="45719"/>
            <a:lstStyle/>
            <a:p>
              <a:endParaRPr sz="1100">
                <a:solidFill>
                  <a:schemeClr val="tx1">
                    <a:lumMod val="50000"/>
                    <a:lumOff val="50000"/>
                  </a:schemeClr>
                </a:solidFill>
                <a:latin typeface="FZShengShiKaiShuS-EB-GB"/>
                <a:ea typeface="FZShengShiKaiShuS-EB-GB"/>
              </a:endParaRPr>
            </a:p>
          </p:txBody>
        </p:sp>
        <p:sp>
          <p:nvSpPr>
            <p:cNvPr id="12" name="TextBox 29">
              <a:extLst>
                <a:ext uri="{FF2B5EF4-FFF2-40B4-BE49-F238E27FC236}">
                  <a16:creationId xmlns:a16="http://schemas.microsoft.com/office/drawing/2014/main" id="{E3336B9B-ECCA-C48A-712E-ACDE9C35AADE}"/>
                </a:ext>
              </a:extLst>
            </p:cNvPr>
            <p:cNvSpPr txBox="1"/>
            <p:nvPr/>
          </p:nvSpPr>
          <p:spPr>
            <a:xfrm>
              <a:off x="7043085" y="3248914"/>
              <a:ext cx="904053" cy="541844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defTabSz="1828165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2400" b="1" dirty="0">
                  <a:solidFill>
                    <a:schemeClr val="bg1"/>
                  </a:solidFill>
                  <a:latin typeface="华光标题宋_CNKI" panose="02000500000000000000" pitchFamily="2" charset="-122"/>
                  <a:ea typeface="华光标题宋_CNKI" panose="02000500000000000000" pitchFamily="2" charset="-122"/>
                </a:rPr>
                <a:t>1632</a:t>
              </a:r>
              <a:endParaRPr lang="id-ID" sz="2400" b="1" dirty="0">
                <a:solidFill>
                  <a:schemeClr val="bg1"/>
                </a:solidFill>
                <a:latin typeface="华光标题宋_CNKI" panose="02000500000000000000" pitchFamily="2" charset="-122"/>
                <a:ea typeface="华光标题宋_CNKI" panose="02000500000000000000" pitchFamily="2" charset="-122"/>
              </a:endParaRPr>
            </a:p>
          </p:txBody>
        </p:sp>
        <p:cxnSp>
          <p:nvCxnSpPr>
            <p:cNvPr id="21" name="Straight Connector 39">
              <a:extLst>
                <a:ext uri="{FF2B5EF4-FFF2-40B4-BE49-F238E27FC236}">
                  <a16:creationId xmlns:a16="http://schemas.microsoft.com/office/drawing/2014/main" id="{144BC0EC-AFC3-253A-F9A9-C3007677F550}"/>
                </a:ext>
              </a:extLst>
            </p:cNvPr>
            <p:cNvCxnSpPr/>
            <p:nvPr/>
          </p:nvCxnSpPr>
          <p:spPr>
            <a:xfrm flipV="1">
              <a:off x="7615633" y="3854686"/>
              <a:ext cx="0" cy="693429"/>
            </a:xfrm>
            <a:prstGeom prst="line">
              <a:avLst/>
            </a:prstGeom>
            <a:ln w="38100">
              <a:solidFill>
                <a:srgbClr val="AF5819"/>
              </a:solidFill>
              <a:prstDash val="sysDash"/>
              <a:miter/>
              <a:headEnd type="arrow"/>
            </a:ln>
          </p:spPr>
        </p:cxnSp>
        <p:grpSp>
          <p:nvGrpSpPr>
            <p:cNvPr id="36" name="组合 35">
              <a:extLst>
                <a:ext uri="{FF2B5EF4-FFF2-40B4-BE49-F238E27FC236}">
                  <a16:creationId xmlns:a16="http://schemas.microsoft.com/office/drawing/2014/main" id="{23EAEB70-6E04-3F40-FBD6-FC9CBC9E50BA}"/>
                </a:ext>
              </a:extLst>
            </p:cNvPr>
            <p:cNvGrpSpPr/>
            <p:nvPr/>
          </p:nvGrpSpPr>
          <p:grpSpPr>
            <a:xfrm>
              <a:off x="6758625" y="4658434"/>
              <a:ext cx="2160823" cy="505277"/>
              <a:chOff x="7919324" y="4519984"/>
              <a:chExt cx="1927971" cy="430509"/>
            </a:xfrm>
          </p:grpSpPr>
          <p:sp>
            <p:nvSpPr>
              <p:cNvPr id="30" name="矩形: 圆角 33">
                <a:extLst>
                  <a:ext uri="{FF2B5EF4-FFF2-40B4-BE49-F238E27FC236}">
                    <a16:creationId xmlns:a16="http://schemas.microsoft.com/office/drawing/2014/main" id="{A3CAF92C-8DE3-97A5-502D-93A55BB6D826}"/>
                  </a:ext>
                </a:extLst>
              </p:cNvPr>
              <p:cNvSpPr/>
              <p:nvPr/>
            </p:nvSpPr>
            <p:spPr>
              <a:xfrm>
                <a:off x="7919324" y="4519984"/>
                <a:ext cx="1927971" cy="430509"/>
              </a:xfrm>
              <a:prstGeom prst="roundRect">
                <a:avLst>
                  <a:gd name="adj" fmla="val 50000"/>
                </a:avLst>
              </a:prstGeom>
              <a:solidFill>
                <a:srgbClr val="AF581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1" name="TextBox 66">
                <a:extLst>
                  <a:ext uri="{FF2B5EF4-FFF2-40B4-BE49-F238E27FC236}">
                    <a16:creationId xmlns:a16="http://schemas.microsoft.com/office/drawing/2014/main" id="{F65FBB28-4E32-6ADC-80B8-58865E6707E1}"/>
                  </a:ext>
                </a:extLst>
              </p:cNvPr>
              <p:cNvSpPr txBox="1"/>
              <p:nvPr/>
            </p:nvSpPr>
            <p:spPr>
              <a:xfrm>
                <a:off x="7959527" y="4535183"/>
                <a:ext cx="1723549" cy="400110"/>
              </a:xfrm>
              <a:prstGeom prst="rect">
                <a:avLst/>
              </a:prstGeom>
              <a:noFill/>
            </p:spPr>
            <p:txBody>
              <a:bodyPr wrap="none" anchor="ctr" anchorCtr="0">
                <a:spAutoFit/>
              </a:bodyPr>
              <a:lstStyle/>
              <a:p>
                <a:pPr algn="r"/>
                <a:r>
                  <a:rPr lang="zh-CN" altLang="en-US" sz="2000" b="1" dirty="0">
                    <a:solidFill>
                      <a:schemeClr val="bg1"/>
                    </a:solidFill>
                    <a:latin typeface="Times New Roman" panose="02020603050405020304" charset="0"/>
                    <a:ea typeface="思源黑体" panose="020B0400000000000000" charset="-122"/>
                  </a:rPr>
                  <a:t>出版</a:t>
                </a:r>
                <a:r>
                  <a:rPr lang="en-US" altLang="zh-CN" sz="2000" b="1" dirty="0">
                    <a:solidFill>
                      <a:schemeClr val="bg1"/>
                    </a:solidFill>
                    <a:latin typeface="Times New Roman" panose="02020603050405020304" charset="0"/>
                    <a:ea typeface="思源黑体" panose="020B0400000000000000" charset="-122"/>
                  </a:rPr>
                  <a:t>《</a:t>
                </a:r>
                <a:r>
                  <a:rPr lang="zh-CN" altLang="en-US" sz="2000" b="1" dirty="0">
                    <a:solidFill>
                      <a:schemeClr val="bg1"/>
                    </a:solidFill>
                    <a:latin typeface="Times New Roman" panose="02020603050405020304" charset="0"/>
                    <a:ea typeface="思源黑体" panose="020B0400000000000000" charset="-122"/>
                  </a:rPr>
                  <a:t>对话</a:t>
                </a:r>
                <a:r>
                  <a:rPr lang="en-US" altLang="zh-CN" sz="2000" b="1" dirty="0">
                    <a:solidFill>
                      <a:schemeClr val="bg1"/>
                    </a:solidFill>
                    <a:latin typeface="Times New Roman" panose="02020603050405020304" charset="0"/>
                    <a:ea typeface="思源黑体" panose="020B0400000000000000" charset="-122"/>
                  </a:rPr>
                  <a:t>》</a:t>
                </a:r>
                <a:endParaRPr lang="zh-CN" sz="2000" b="1" dirty="0">
                  <a:solidFill>
                    <a:schemeClr val="bg1"/>
                  </a:solidFill>
                  <a:latin typeface="Times New Roman" panose="02020603050405020304" charset="0"/>
                  <a:ea typeface="思源黑体" panose="020B0400000000000000" charset="-122"/>
                </a:endParaRPr>
              </a:p>
            </p:txBody>
          </p:sp>
        </p:grpSp>
      </p:grpSp>
      <p:grpSp>
        <p:nvGrpSpPr>
          <p:cNvPr id="43" name="组合 42">
            <a:extLst>
              <a:ext uri="{FF2B5EF4-FFF2-40B4-BE49-F238E27FC236}">
                <a16:creationId xmlns:a16="http://schemas.microsoft.com/office/drawing/2014/main" id="{E0EC8057-5382-D29C-60ED-8043DE16AB75}"/>
              </a:ext>
            </a:extLst>
          </p:cNvPr>
          <p:cNvGrpSpPr/>
          <p:nvPr/>
        </p:nvGrpSpPr>
        <p:grpSpPr>
          <a:xfrm>
            <a:off x="508418" y="3095416"/>
            <a:ext cx="2892361" cy="2068295"/>
            <a:chOff x="508418" y="3095416"/>
            <a:chExt cx="2892361" cy="2068295"/>
          </a:xfrm>
        </p:grpSpPr>
        <p:sp>
          <p:nvSpPr>
            <p:cNvPr id="6" name="Shape 332">
              <a:extLst>
                <a:ext uri="{FF2B5EF4-FFF2-40B4-BE49-F238E27FC236}">
                  <a16:creationId xmlns:a16="http://schemas.microsoft.com/office/drawing/2014/main" id="{564D231D-119B-B98F-5A00-AF8C7F9545BE}"/>
                </a:ext>
              </a:extLst>
            </p:cNvPr>
            <p:cNvSpPr/>
            <p:nvPr/>
          </p:nvSpPr>
          <p:spPr>
            <a:xfrm>
              <a:off x="508418" y="3095416"/>
              <a:ext cx="2892361" cy="723679"/>
            </a:xfrm>
            <a:custGeom>
              <a:avLst/>
              <a:gdLst/>
              <a:ahLst/>
              <a:cxnLst/>
              <a:rect l="0" t="0" r="r" b="b"/>
              <a:pathLst>
                <a:path w="2776294" h="635001">
                  <a:moveTo>
                    <a:pt x="2470189" y="635001"/>
                  </a:moveTo>
                  <a:cubicBezTo>
                    <a:pt x="29324" y="635001"/>
                    <a:pt x="29324" y="635001"/>
                    <a:pt x="29324" y="635001"/>
                  </a:cubicBezTo>
                  <a:cubicBezTo>
                    <a:pt x="14662" y="635001"/>
                    <a:pt x="0" y="623977"/>
                    <a:pt x="0" y="612982"/>
                  </a:cubicBezTo>
                  <a:cubicBezTo>
                    <a:pt x="0" y="18344"/>
                    <a:pt x="0" y="18344"/>
                    <a:pt x="0" y="18344"/>
                  </a:cubicBezTo>
                  <a:cubicBezTo>
                    <a:pt x="0" y="7350"/>
                    <a:pt x="14662" y="0"/>
                    <a:pt x="29324" y="0"/>
                  </a:cubicBezTo>
                  <a:cubicBezTo>
                    <a:pt x="2470189" y="0"/>
                    <a:pt x="2470189" y="0"/>
                    <a:pt x="2470189" y="0"/>
                  </a:cubicBezTo>
                  <a:cubicBezTo>
                    <a:pt x="2481250" y="0"/>
                    <a:pt x="2488581" y="3675"/>
                    <a:pt x="2492182" y="7350"/>
                  </a:cubicBezTo>
                  <a:cubicBezTo>
                    <a:pt x="2770764" y="304653"/>
                    <a:pt x="2770764" y="304653"/>
                    <a:pt x="2770764" y="304653"/>
                  </a:cubicBezTo>
                  <a:cubicBezTo>
                    <a:pt x="2778095" y="312003"/>
                    <a:pt x="2778095" y="319323"/>
                    <a:pt x="2770764" y="326673"/>
                  </a:cubicBezTo>
                  <a:cubicBezTo>
                    <a:pt x="2492182" y="623977"/>
                    <a:pt x="2492182" y="623977"/>
                    <a:pt x="2492182" y="623977"/>
                  </a:cubicBezTo>
                  <a:cubicBezTo>
                    <a:pt x="2488581" y="631326"/>
                    <a:pt x="2481250" y="635001"/>
                    <a:pt x="2470189" y="635001"/>
                  </a:cubicBezTo>
                  <a:close/>
                </a:path>
              </a:pathLst>
            </a:custGeom>
            <a:solidFill>
              <a:srgbClr val="AF5819"/>
            </a:solidFill>
            <a:ln w="12700">
              <a:miter/>
            </a:ln>
          </p:spPr>
          <p:txBody>
            <a:bodyPr lIns="45719" rIns="45719"/>
            <a:lstStyle/>
            <a:p>
              <a:endParaRPr sz="1100">
                <a:solidFill>
                  <a:schemeClr val="tx1">
                    <a:lumMod val="50000"/>
                    <a:lumOff val="50000"/>
                  </a:schemeClr>
                </a:solidFill>
                <a:latin typeface="FZShengShiKaiShuS-EB-GB"/>
                <a:ea typeface="FZShengShiKaiShuS-EB-GB"/>
              </a:endParaRPr>
            </a:p>
          </p:txBody>
        </p:sp>
        <p:sp>
          <p:nvSpPr>
            <p:cNvPr id="10" name="TextBox 27">
              <a:extLst>
                <a:ext uri="{FF2B5EF4-FFF2-40B4-BE49-F238E27FC236}">
                  <a16:creationId xmlns:a16="http://schemas.microsoft.com/office/drawing/2014/main" id="{18C6D8E9-FFE9-82AF-9241-7BFCBC64E67B}"/>
                </a:ext>
              </a:extLst>
            </p:cNvPr>
            <p:cNvSpPr txBox="1"/>
            <p:nvPr/>
          </p:nvSpPr>
          <p:spPr>
            <a:xfrm>
              <a:off x="1342648" y="3248914"/>
              <a:ext cx="904053" cy="541844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defTabSz="1828165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2400" b="1" dirty="0">
                  <a:solidFill>
                    <a:schemeClr val="bg1"/>
                  </a:solidFill>
                  <a:latin typeface="华光标题宋_CNKI" panose="02000500000000000000" pitchFamily="2" charset="-122"/>
                  <a:ea typeface="华光标题宋_CNKI" panose="02000500000000000000" pitchFamily="2" charset="-122"/>
                </a:rPr>
                <a:t>1610</a:t>
              </a:r>
              <a:endParaRPr lang="id-ID" sz="2400" b="1" dirty="0">
                <a:solidFill>
                  <a:schemeClr val="bg1"/>
                </a:solidFill>
                <a:latin typeface="华光标题宋_CNKI" panose="02000500000000000000" pitchFamily="2" charset="-122"/>
                <a:ea typeface="华光标题宋_CNKI" panose="02000500000000000000" pitchFamily="2" charset="-122"/>
              </a:endParaRPr>
            </a:p>
          </p:txBody>
        </p:sp>
        <p:cxnSp>
          <p:nvCxnSpPr>
            <p:cNvPr id="14" name="Straight Connector 34">
              <a:extLst>
                <a:ext uri="{FF2B5EF4-FFF2-40B4-BE49-F238E27FC236}">
                  <a16:creationId xmlns:a16="http://schemas.microsoft.com/office/drawing/2014/main" id="{BC0F0C62-F690-ACD9-4485-F73C48C06928}"/>
                </a:ext>
              </a:extLst>
            </p:cNvPr>
            <p:cNvCxnSpPr/>
            <p:nvPr/>
          </p:nvCxnSpPr>
          <p:spPr>
            <a:xfrm flipV="1">
              <a:off x="1748144" y="3854686"/>
              <a:ext cx="0" cy="693429"/>
            </a:xfrm>
            <a:prstGeom prst="line">
              <a:avLst/>
            </a:prstGeom>
            <a:ln w="38100">
              <a:solidFill>
                <a:srgbClr val="AF5819"/>
              </a:solidFill>
              <a:prstDash val="sysDash"/>
              <a:miter/>
              <a:headEnd type="arrow"/>
            </a:ln>
          </p:spPr>
        </p:cxnSp>
        <p:grpSp>
          <p:nvGrpSpPr>
            <p:cNvPr id="35" name="组合 34">
              <a:extLst>
                <a:ext uri="{FF2B5EF4-FFF2-40B4-BE49-F238E27FC236}">
                  <a16:creationId xmlns:a16="http://schemas.microsoft.com/office/drawing/2014/main" id="{CD88BDFE-AEA2-CB3C-387A-2608AEFAFF66}"/>
                </a:ext>
              </a:extLst>
            </p:cNvPr>
            <p:cNvGrpSpPr/>
            <p:nvPr/>
          </p:nvGrpSpPr>
          <p:grpSpPr>
            <a:xfrm>
              <a:off x="511620" y="4658434"/>
              <a:ext cx="2546515" cy="505277"/>
              <a:chOff x="2345506" y="4519984"/>
              <a:chExt cx="2272100" cy="430509"/>
            </a:xfrm>
          </p:grpSpPr>
          <p:sp>
            <p:nvSpPr>
              <p:cNvPr id="32" name="矩形: 圆角 35">
                <a:extLst>
                  <a:ext uri="{FF2B5EF4-FFF2-40B4-BE49-F238E27FC236}">
                    <a16:creationId xmlns:a16="http://schemas.microsoft.com/office/drawing/2014/main" id="{984B7ECF-0B09-91DA-570C-0B5159B4D4EB}"/>
                  </a:ext>
                </a:extLst>
              </p:cNvPr>
              <p:cNvSpPr/>
              <p:nvPr/>
            </p:nvSpPr>
            <p:spPr>
              <a:xfrm>
                <a:off x="2420401" y="4519984"/>
                <a:ext cx="2197205" cy="430509"/>
              </a:xfrm>
              <a:prstGeom prst="roundRect">
                <a:avLst>
                  <a:gd name="adj" fmla="val 50000"/>
                </a:avLst>
              </a:prstGeom>
              <a:solidFill>
                <a:srgbClr val="AF581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3" name="TextBox 66">
                <a:extLst>
                  <a:ext uri="{FF2B5EF4-FFF2-40B4-BE49-F238E27FC236}">
                    <a16:creationId xmlns:a16="http://schemas.microsoft.com/office/drawing/2014/main" id="{054DCA45-9E1E-3F20-08B7-CE5D684E38DD}"/>
                  </a:ext>
                </a:extLst>
              </p:cNvPr>
              <p:cNvSpPr txBox="1"/>
              <p:nvPr/>
            </p:nvSpPr>
            <p:spPr>
              <a:xfrm>
                <a:off x="2345506" y="4535183"/>
                <a:ext cx="2236510" cy="400110"/>
              </a:xfrm>
              <a:prstGeom prst="rect">
                <a:avLst/>
              </a:prstGeom>
              <a:noFill/>
            </p:spPr>
            <p:txBody>
              <a:bodyPr wrap="none" anchor="ctr" anchorCtr="0">
                <a:spAutoFit/>
              </a:bodyPr>
              <a:lstStyle/>
              <a:p>
                <a:pPr algn="r"/>
                <a:r>
                  <a:rPr lang="zh-CN" altLang="en-US" sz="2000" b="1" dirty="0">
                    <a:solidFill>
                      <a:schemeClr val="bg1"/>
                    </a:solidFill>
                    <a:latin typeface="Times New Roman" panose="02020603050405020304" charset="0"/>
                    <a:ea typeface="思源黑体" panose="020B0400000000000000" charset="-122"/>
                  </a:rPr>
                  <a:t>出版</a:t>
                </a:r>
                <a:r>
                  <a:rPr lang="en-US" altLang="zh-CN" sz="2000" b="1" dirty="0">
                    <a:solidFill>
                      <a:schemeClr val="bg1"/>
                    </a:solidFill>
                    <a:latin typeface="Times New Roman" panose="02020603050405020304" charset="0"/>
                    <a:ea typeface="思源黑体" panose="020B0400000000000000" charset="-122"/>
                  </a:rPr>
                  <a:t>《</a:t>
                </a:r>
                <a:r>
                  <a:rPr lang="zh-CN" altLang="en-US" sz="2000" b="1" dirty="0">
                    <a:solidFill>
                      <a:schemeClr val="bg1"/>
                    </a:solidFill>
                    <a:latin typeface="Times New Roman" panose="02020603050405020304" charset="0"/>
                    <a:ea typeface="思源黑体" panose="020B0400000000000000" charset="-122"/>
                  </a:rPr>
                  <a:t>星际使者</a:t>
                </a:r>
                <a:r>
                  <a:rPr lang="en-US" altLang="zh-CN" sz="2000" b="1" dirty="0">
                    <a:solidFill>
                      <a:schemeClr val="bg1"/>
                    </a:solidFill>
                    <a:latin typeface="Times New Roman" panose="02020603050405020304" charset="0"/>
                    <a:ea typeface="思源黑体" panose="020B0400000000000000" charset="-122"/>
                  </a:rPr>
                  <a:t>》</a:t>
                </a:r>
                <a:endParaRPr lang="zh-CN" sz="2000" b="1" dirty="0">
                  <a:solidFill>
                    <a:schemeClr val="bg1"/>
                  </a:solidFill>
                  <a:latin typeface="Times New Roman" panose="02020603050405020304" charset="0"/>
                  <a:ea typeface="思源黑体" panose="020B0400000000000000" charset="-122"/>
                </a:endParaRPr>
              </a:p>
            </p:txBody>
          </p:sp>
        </p:grpSp>
      </p:grpSp>
      <p:pic>
        <p:nvPicPr>
          <p:cNvPr id="42" name="图片 41">
            <a:extLst>
              <a:ext uri="{FF2B5EF4-FFF2-40B4-BE49-F238E27FC236}">
                <a16:creationId xmlns:a16="http://schemas.microsoft.com/office/drawing/2014/main" id="{F9161919-BFEB-1614-E38E-FC1534700AC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0179" y="3930766"/>
            <a:ext cx="3562518" cy="2594702"/>
          </a:xfrm>
          <a:prstGeom prst="rect">
            <a:avLst/>
          </a:prstGeom>
        </p:spPr>
      </p:pic>
      <p:grpSp>
        <p:nvGrpSpPr>
          <p:cNvPr id="2" name="组合 1">
            <a:extLst>
              <a:ext uri="{FF2B5EF4-FFF2-40B4-BE49-F238E27FC236}">
                <a16:creationId xmlns:a16="http://schemas.microsoft.com/office/drawing/2014/main" id="{451975CD-515A-C171-F473-CB4BFA005499}"/>
              </a:ext>
            </a:extLst>
          </p:cNvPr>
          <p:cNvGrpSpPr/>
          <p:nvPr/>
        </p:nvGrpSpPr>
        <p:grpSpPr>
          <a:xfrm>
            <a:off x="7421632" y="1225052"/>
            <a:ext cx="4084261" cy="1912191"/>
            <a:chOff x="7043085" y="2640169"/>
            <a:chExt cx="4090091" cy="2006261"/>
          </a:xfrm>
        </p:grpSpPr>
        <p:sp>
          <p:nvSpPr>
            <p:cNvPr id="3" name="圆角矩形 3">
              <a:extLst>
                <a:ext uri="{FF2B5EF4-FFF2-40B4-BE49-F238E27FC236}">
                  <a16:creationId xmlns:a16="http://schemas.microsoft.com/office/drawing/2014/main" id="{C70E9631-7EEA-EF31-F972-D3B8029C23F3}"/>
                </a:ext>
              </a:extLst>
            </p:cNvPr>
            <p:cNvSpPr>
              <a:spLocks noChangeArrowheads="1"/>
            </p:cNvSpPr>
            <p:nvPr/>
          </p:nvSpPr>
          <p:spPr>
            <a:xfrm>
              <a:off x="7043085" y="2640169"/>
              <a:ext cx="4090091" cy="1661376"/>
            </a:xfrm>
            <a:prstGeom prst="roundRect">
              <a:avLst>
                <a:gd name="adj" fmla="val 9083"/>
              </a:avLst>
            </a:prstGeom>
            <a:solidFill>
              <a:srgbClr val="FFFFFF"/>
            </a:solidFill>
            <a:ln w="12700">
              <a:solidFill>
                <a:srgbClr val="9A0000"/>
              </a:solidFill>
              <a:round/>
            </a:ln>
          </p:spPr>
          <p:txBody>
            <a:bodyPr anchor="ctr"/>
            <a:lstStyle>
              <a:lvl1pPr lvl="0">
                <a:defRPr>
                  <a:solidFill>
                    <a:schemeClr val="tx1"/>
                  </a:solidFill>
                  <a:latin typeface="Calibri" panose="020F0502020204030204"/>
                  <a:ea typeface="宋体" pitchFamily="2" charset="-122"/>
                </a:defRPr>
              </a:lvl1pPr>
              <a:lvl2pPr marL="742950" lvl="1" indent="-285750">
                <a:defRPr>
                  <a:solidFill>
                    <a:schemeClr val="tx1"/>
                  </a:solidFill>
                  <a:latin typeface="Calibri" panose="020F0502020204030204"/>
                  <a:ea typeface="宋体" pitchFamily="2" charset="-122"/>
                </a:defRPr>
              </a:lvl2pPr>
              <a:lvl3pPr marL="1143000" lvl="2" indent="-228600">
                <a:defRPr>
                  <a:solidFill>
                    <a:schemeClr val="tx1"/>
                  </a:solidFill>
                  <a:latin typeface="Calibri" panose="020F0502020204030204"/>
                  <a:ea typeface="宋体" pitchFamily="2" charset="-122"/>
                </a:defRPr>
              </a:lvl3pPr>
              <a:lvl4pPr marL="1600200" lvl="3" indent="-228600">
                <a:defRPr>
                  <a:solidFill>
                    <a:schemeClr val="tx1"/>
                  </a:solidFill>
                  <a:latin typeface="Calibri" panose="020F0502020204030204"/>
                  <a:ea typeface="宋体" pitchFamily="2" charset="-122"/>
                </a:defRPr>
              </a:lvl4pPr>
              <a:lvl5pPr marL="2057400" lvl="4" indent="-228600">
                <a:defRPr>
                  <a:solidFill>
                    <a:schemeClr val="tx1"/>
                  </a:solidFill>
                  <a:latin typeface="Calibri" panose="020F0502020204030204"/>
                  <a:ea typeface="宋体" pitchFamily="2" charset="-122"/>
                </a:defRPr>
              </a:lvl5pPr>
              <a:lvl6pPr marL="2514600" lvl="5" indent="-22860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/>
                  <a:ea typeface="宋体" pitchFamily="2" charset="-122"/>
                </a:defRPr>
              </a:lvl6pPr>
              <a:lvl7pPr marL="2971800" lvl="6" indent="-22860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/>
                  <a:ea typeface="宋体" pitchFamily="2" charset="-122"/>
                </a:defRPr>
              </a:lvl7pPr>
              <a:lvl8pPr marL="3429000" lvl="7" indent="-22860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/>
                  <a:ea typeface="宋体" pitchFamily="2" charset="-122"/>
                </a:defRPr>
              </a:lvl8pPr>
              <a:lvl9pPr marL="3886200" lvl="8" indent="-22860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/>
                  <a:ea typeface="宋体" pitchFamily="2" charset="-122"/>
                </a:defRPr>
              </a:lvl9pPr>
            </a:lstStyle>
            <a:p>
              <a:pPr algn="ctr"/>
              <a:endParaRPr lang="zh-CN" sz="2000">
                <a:solidFill>
                  <a:srgbClr val="FFFFFF"/>
                </a:solidFill>
                <a:latin typeface="FZShengShiKaiShuS-EB-GB"/>
                <a:ea typeface="FZShengShiKaiShuS-EB-GB"/>
              </a:endParaRPr>
            </a:p>
          </p:txBody>
        </p:sp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478F4B03-CCB9-FF68-8230-B85CBE1E2059}"/>
                </a:ext>
              </a:extLst>
            </p:cNvPr>
            <p:cNvSpPr>
              <a:spLocks noChangeArrowheads="1"/>
            </p:cNvSpPr>
            <p:nvPr/>
          </p:nvSpPr>
          <p:spPr>
            <a:xfrm>
              <a:off x="7120053" y="2758538"/>
              <a:ext cx="3961606" cy="188789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>
              <a:lvl1pPr lvl="0" defTabSz="1216025">
                <a:defRPr>
                  <a:solidFill>
                    <a:schemeClr val="tx1"/>
                  </a:solidFill>
                  <a:latin typeface="Calibri" panose="020F0502020204030204"/>
                  <a:ea typeface="宋体" pitchFamily="2" charset="-122"/>
                </a:defRPr>
              </a:lvl1pPr>
              <a:lvl2pPr marL="742950" lvl="1" indent="-285750" defTabSz="1216025">
                <a:defRPr>
                  <a:solidFill>
                    <a:schemeClr val="tx1"/>
                  </a:solidFill>
                  <a:latin typeface="Calibri" panose="020F0502020204030204"/>
                  <a:ea typeface="宋体" pitchFamily="2" charset="-122"/>
                </a:defRPr>
              </a:lvl2pPr>
              <a:lvl3pPr marL="1143000" lvl="2" indent="-228600" defTabSz="1216025">
                <a:defRPr>
                  <a:solidFill>
                    <a:schemeClr val="tx1"/>
                  </a:solidFill>
                  <a:latin typeface="Calibri" panose="020F0502020204030204"/>
                  <a:ea typeface="宋体" pitchFamily="2" charset="-122"/>
                </a:defRPr>
              </a:lvl3pPr>
              <a:lvl4pPr marL="1600200" lvl="3" indent="-228600" defTabSz="1216025">
                <a:defRPr>
                  <a:solidFill>
                    <a:schemeClr val="tx1"/>
                  </a:solidFill>
                  <a:latin typeface="Calibri" panose="020F0502020204030204"/>
                  <a:ea typeface="宋体" pitchFamily="2" charset="-122"/>
                </a:defRPr>
              </a:lvl4pPr>
              <a:lvl5pPr marL="2057400" lvl="4" indent="-228600" defTabSz="1216025">
                <a:defRPr>
                  <a:solidFill>
                    <a:schemeClr val="tx1"/>
                  </a:solidFill>
                  <a:latin typeface="Calibri" panose="020F0502020204030204"/>
                  <a:ea typeface="宋体" pitchFamily="2" charset="-122"/>
                </a:defRPr>
              </a:lvl5pPr>
              <a:lvl6pPr marL="2514600" lvl="5" indent="-228600" defTabSz="1216025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/>
                  <a:ea typeface="宋体" pitchFamily="2" charset="-122"/>
                </a:defRPr>
              </a:lvl6pPr>
              <a:lvl7pPr marL="2971800" lvl="6" indent="-228600" defTabSz="1216025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/>
                  <a:ea typeface="宋体" pitchFamily="2" charset="-122"/>
                </a:defRPr>
              </a:lvl7pPr>
              <a:lvl8pPr marL="3429000" lvl="7" indent="-228600" defTabSz="1216025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/>
                  <a:ea typeface="宋体" pitchFamily="2" charset="-122"/>
                </a:defRPr>
              </a:lvl8pPr>
              <a:lvl9pPr marL="3886200" lvl="8" indent="-228600" defTabSz="1216025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/>
                  <a:ea typeface="宋体" pitchFamily="2" charset="-122"/>
                </a:defRPr>
              </a:lvl9pPr>
            </a:lstStyle>
            <a:p>
              <a:pPr>
                <a:lnSpc>
                  <a:spcPts val="2560"/>
                </a:lnSpc>
              </a:pPr>
              <a:r>
                <a:rPr lang="zh-CN" altLang="en-US" dirty="0">
                  <a:latin typeface="Times New Roman" panose="02020603050405020304" charset="0"/>
                  <a:ea typeface="思源黑体" panose="020B0400000000000000" charset="-122"/>
                </a:rPr>
                <a:t>        </a:t>
              </a:r>
              <a:r>
                <a:rPr lang="en-US" altLang="zh-CN" dirty="0">
                  <a:latin typeface="Times New Roman" panose="02020603050405020304" charset="0"/>
                  <a:ea typeface="思源黑体" panose="020B0400000000000000" charset="-122"/>
                </a:rPr>
                <a:t>《</a:t>
              </a:r>
              <a:r>
                <a:rPr lang="zh-CN" altLang="en-US" dirty="0">
                  <a:latin typeface="Times New Roman" panose="02020603050405020304" charset="0"/>
                  <a:ea typeface="思源黑体" panose="020B0400000000000000" charset="-122"/>
                </a:rPr>
                <a:t>关于托勒密和哥白尼两大世界体系的对话</a:t>
              </a:r>
              <a:r>
                <a:rPr lang="en-US" altLang="zh-CN" dirty="0">
                  <a:latin typeface="Times New Roman" panose="02020603050405020304" charset="0"/>
                  <a:ea typeface="思源黑体" panose="020B0400000000000000" charset="-122"/>
                </a:rPr>
                <a:t>》</a:t>
              </a:r>
              <a:r>
                <a:rPr lang="zh-CN" altLang="en-US" dirty="0">
                  <a:latin typeface="Times New Roman" panose="02020603050405020304" charset="0"/>
                  <a:ea typeface="思源黑体" panose="020B0400000000000000" charset="-122"/>
                </a:rPr>
                <a:t>一书使伽利略失去了教廷内的大量支持者，他被命令接受宗教裁判所的审判。</a:t>
              </a:r>
              <a:endParaRPr lang="en-US" altLang="zh-CN" dirty="0">
                <a:latin typeface="Times New Roman" panose="02020603050405020304" charset="0"/>
                <a:ea typeface="思源黑体" panose="020B0400000000000000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540794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平行四边形 14"/>
          <p:cNvSpPr/>
          <p:nvPr/>
        </p:nvSpPr>
        <p:spPr>
          <a:xfrm>
            <a:off x="8855234" y="0"/>
            <a:ext cx="3961606" cy="817543"/>
          </a:xfrm>
          <a:prstGeom prst="parallelogram">
            <a:avLst/>
          </a:prstGeom>
          <a:solidFill>
            <a:srgbClr val="AF581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4191" y="171769"/>
            <a:ext cx="2497769" cy="527052"/>
          </a:xfrm>
          <a:prstGeom prst="rect">
            <a:avLst/>
          </a:prstGeom>
        </p:spPr>
      </p:pic>
      <p:sp>
        <p:nvSpPr>
          <p:cNvPr id="17" name="平行四边形 16"/>
          <p:cNvSpPr/>
          <p:nvPr/>
        </p:nvSpPr>
        <p:spPr>
          <a:xfrm>
            <a:off x="-487680" y="0"/>
            <a:ext cx="1364756" cy="817543"/>
          </a:xfrm>
          <a:prstGeom prst="parallelogram">
            <a:avLst/>
          </a:prstGeom>
          <a:solidFill>
            <a:srgbClr val="AF581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TextBox 19"/>
          <p:cNvSpPr txBox="1"/>
          <p:nvPr/>
        </p:nvSpPr>
        <p:spPr>
          <a:xfrm>
            <a:off x="877076" y="109657"/>
            <a:ext cx="544448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lvl="0"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EngraversGothic BT"/>
              </a:defRPr>
            </a:lvl1pPr>
          </a:lstStyle>
          <a:p>
            <a:pPr marL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4000" b="1" u="none" strike="noStrike" kern="1200" spc="0" baseline="0" dirty="0">
                <a:ln>
                  <a:noFill/>
                </a:ln>
                <a:solidFill>
                  <a:srgbClr val="AF5819"/>
                </a:solidFill>
                <a:latin typeface="Times New Roman" panose="02020603050405020304" charset="0"/>
                <a:ea typeface="思源黑体" panose="020B0400000000000000" charset="-122"/>
              </a:rPr>
              <a:t>伽利略事件</a:t>
            </a:r>
            <a:endParaRPr lang="zh-CN" sz="4000" b="1" u="none" strike="noStrike" kern="1200" spc="0" baseline="0" dirty="0">
              <a:ln>
                <a:noFill/>
              </a:ln>
              <a:solidFill>
                <a:srgbClr val="AF5819"/>
              </a:solidFill>
              <a:latin typeface="Times New Roman" panose="02020603050405020304" charset="0"/>
              <a:ea typeface="思源黑体" panose="020B0400000000000000" charset="-122"/>
            </a:endParaRPr>
          </a:p>
        </p:txBody>
      </p:sp>
      <p:sp>
        <p:nvSpPr>
          <p:cNvPr id="29" name="矩形 28"/>
          <p:cNvSpPr/>
          <p:nvPr/>
        </p:nvSpPr>
        <p:spPr>
          <a:xfrm flipV="1">
            <a:off x="0" y="6748343"/>
            <a:ext cx="4682001" cy="128741"/>
          </a:xfrm>
          <a:prstGeom prst="rect">
            <a:avLst/>
          </a:prstGeom>
          <a:solidFill>
            <a:srgbClr val="AF5819"/>
          </a:solidFill>
          <a:ln>
            <a:noFill/>
          </a:ln>
        </p:spPr>
        <p:txBody>
          <a:bodyPr anchor="ctr"/>
          <a:lstStyle/>
          <a:p>
            <a:pPr algn="ctr"/>
            <a:endParaRPr lang="zh-CN">
              <a:solidFill>
                <a:schemeClr val="lt1"/>
              </a:solidFill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451975CD-515A-C171-F473-CB4BFA005499}"/>
              </a:ext>
            </a:extLst>
          </p:cNvPr>
          <p:cNvGrpSpPr/>
          <p:nvPr/>
        </p:nvGrpSpPr>
        <p:grpSpPr>
          <a:xfrm>
            <a:off x="1197734" y="1867436"/>
            <a:ext cx="8538693" cy="3618964"/>
            <a:chOff x="7043085" y="2640169"/>
            <a:chExt cx="4090091" cy="3317808"/>
          </a:xfrm>
        </p:grpSpPr>
        <p:sp>
          <p:nvSpPr>
            <p:cNvPr id="3" name="圆角矩形 3">
              <a:extLst>
                <a:ext uri="{FF2B5EF4-FFF2-40B4-BE49-F238E27FC236}">
                  <a16:creationId xmlns:a16="http://schemas.microsoft.com/office/drawing/2014/main" id="{C70E9631-7EEA-EF31-F972-D3B8029C23F3}"/>
                </a:ext>
              </a:extLst>
            </p:cNvPr>
            <p:cNvSpPr>
              <a:spLocks noChangeArrowheads="1"/>
            </p:cNvSpPr>
            <p:nvPr/>
          </p:nvSpPr>
          <p:spPr>
            <a:xfrm>
              <a:off x="7043085" y="2640169"/>
              <a:ext cx="4090091" cy="3317808"/>
            </a:xfrm>
            <a:prstGeom prst="roundRect">
              <a:avLst>
                <a:gd name="adj" fmla="val 9083"/>
              </a:avLst>
            </a:prstGeom>
            <a:solidFill>
              <a:srgbClr val="FFFFFF"/>
            </a:solidFill>
            <a:ln w="12700">
              <a:solidFill>
                <a:srgbClr val="9A0000"/>
              </a:solidFill>
              <a:round/>
            </a:ln>
          </p:spPr>
          <p:txBody>
            <a:bodyPr anchor="ctr"/>
            <a:lstStyle>
              <a:lvl1pPr lvl="0">
                <a:defRPr>
                  <a:solidFill>
                    <a:schemeClr val="tx1"/>
                  </a:solidFill>
                  <a:latin typeface="Calibri" panose="020F0502020204030204"/>
                  <a:ea typeface="宋体" pitchFamily="2" charset="-122"/>
                </a:defRPr>
              </a:lvl1pPr>
              <a:lvl2pPr marL="742950" lvl="1" indent="-285750">
                <a:defRPr>
                  <a:solidFill>
                    <a:schemeClr val="tx1"/>
                  </a:solidFill>
                  <a:latin typeface="Calibri" panose="020F0502020204030204"/>
                  <a:ea typeface="宋体" pitchFamily="2" charset="-122"/>
                </a:defRPr>
              </a:lvl2pPr>
              <a:lvl3pPr marL="1143000" lvl="2" indent="-228600">
                <a:defRPr>
                  <a:solidFill>
                    <a:schemeClr val="tx1"/>
                  </a:solidFill>
                  <a:latin typeface="Calibri" panose="020F0502020204030204"/>
                  <a:ea typeface="宋体" pitchFamily="2" charset="-122"/>
                </a:defRPr>
              </a:lvl3pPr>
              <a:lvl4pPr marL="1600200" lvl="3" indent="-228600">
                <a:defRPr>
                  <a:solidFill>
                    <a:schemeClr val="tx1"/>
                  </a:solidFill>
                  <a:latin typeface="Calibri" panose="020F0502020204030204"/>
                  <a:ea typeface="宋体" pitchFamily="2" charset="-122"/>
                </a:defRPr>
              </a:lvl4pPr>
              <a:lvl5pPr marL="2057400" lvl="4" indent="-228600">
                <a:defRPr>
                  <a:solidFill>
                    <a:schemeClr val="tx1"/>
                  </a:solidFill>
                  <a:latin typeface="Calibri" panose="020F0502020204030204"/>
                  <a:ea typeface="宋体" pitchFamily="2" charset="-122"/>
                </a:defRPr>
              </a:lvl5pPr>
              <a:lvl6pPr marL="2514600" lvl="5" indent="-22860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/>
                  <a:ea typeface="宋体" pitchFamily="2" charset="-122"/>
                </a:defRPr>
              </a:lvl6pPr>
              <a:lvl7pPr marL="2971800" lvl="6" indent="-22860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/>
                  <a:ea typeface="宋体" pitchFamily="2" charset="-122"/>
                </a:defRPr>
              </a:lvl7pPr>
              <a:lvl8pPr marL="3429000" lvl="7" indent="-22860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/>
                  <a:ea typeface="宋体" pitchFamily="2" charset="-122"/>
                </a:defRPr>
              </a:lvl8pPr>
              <a:lvl9pPr marL="3886200" lvl="8" indent="-22860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/>
                  <a:ea typeface="宋体" pitchFamily="2" charset="-122"/>
                </a:defRPr>
              </a:lvl9pPr>
            </a:lstStyle>
            <a:p>
              <a:pPr algn="ctr"/>
              <a:endParaRPr lang="zh-CN" sz="2000">
                <a:solidFill>
                  <a:srgbClr val="FFFFFF"/>
                </a:solidFill>
                <a:latin typeface="FZShengShiKaiShuS-EB-GB"/>
                <a:ea typeface="FZShengShiKaiShuS-EB-GB"/>
              </a:endParaRPr>
            </a:p>
          </p:txBody>
        </p:sp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478F4B03-CCB9-FF68-8230-B85CBE1E2059}"/>
                </a:ext>
              </a:extLst>
            </p:cNvPr>
            <p:cNvSpPr>
              <a:spLocks noChangeArrowheads="1"/>
            </p:cNvSpPr>
            <p:nvPr/>
          </p:nvSpPr>
          <p:spPr>
            <a:xfrm>
              <a:off x="7120053" y="2758538"/>
              <a:ext cx="3961606" cy="311521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>
              <a:lvl1pPr lvl="0" defTabSz="1216025">
                <a:defRPr>
                  <a:solidFill>
                    <a:schemeClr val="tx1"/>
                  </a:solidFill>
                  <a:latin typeface="Calibri" panose="020F0502020204030204"/>
                  <a:ea typeface="宋体" pitchFamily="2" charset="-122"/>
                </a:defRPr>
              </a:lvl1pPr>
              <a:lvl2pPr marL="742950" lvl="1" indent="-285750" defTabSz="1216025">
                <a:defRPr>
                  <a:solidFill>
                    <a:schemeClr val="tx1"/>
                  </a:solidFill>
                  <a:latin typeface="Calibri" panose="020F0502020204030204"/>
                  <a:ea typeface="宋体" pitchFamily="2" charset="-122"/>
                </a:defRPr>
              </a:lvl2pPr>
              <a:lvl3pPr marL="1143000" lvl="2" indent="-228600" defTabSz="1216025">
                <a:defRPr>
                  <a:solidFill>
                    <a:schemeClr val="tx1"/>
                  </a:solidFill>
                  <a:latin typeface="Calibri" panose="020F0502020204030204"/>
                  <a:ea typeface="宋体" pitchFamily="2" charset="-122"/>
                </a:defRPr>
              </a:lvl3pPr>
              <a:lvl4pPr marL="1600200" lvl="3" indent="-228600" defTabSz="1216025">
                <a:defRPr>
                  <a:solidFill>
                    <a:schemeClr val="tx1"/>
                  </a:solidFill>
                  <a:latin typeface="Calibri" panose="020F0502020204030204"/>
                  <a:ea typeface="宋体" pitchFamily="2" charset="-122"/>
                </a:defRPr>
              </a:lvl4pPr>
              <a:lvl5pPr marL="2057400" lvl="4" indent="-228600" defTabSz="1216025">
                <a:defRPr>
                  <a:solidFill>
                    <a:schemeClr val="tx1"/>
                  </a:solidFill>
                  <a:latin typeface="Calibri" panose="020F0502020204030204"/>
                  <a:ea typeface="宋体" pitchFamily="2" charset="-122"/>
                </a:defRPr>
              </a:lvl5pPr>
              <a:lvl6pPr marL="2514600" lvl="5" indent="-228600" defTabSz="1216025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/>
                  <a:ea typeface="宋体" pitchFamily="2" charset="-122"/>
                </a:defRPr>
              </a:lvl6pPr>
              <a:lvl7pPr marL="2971800" lvl="6" indent="-228600" defTabSz="1216025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/>
                  <a:ea typeface="宋体" pitchFamily="2" charset="-122"/>
                </a:defRPr>
              </a:lvl7pPr>
              <a:lvl8pPr marL="3429000" lvl="7" indent="-228600" defTabSz="1216025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/>
                  <a:ea typeface="宋体" pitchFamily="2" charset="-122"/>
                </a:defRPr>
              </a:lvl8pPr>
              <a:lvl9pPr marL="3886200" lvl="8" indent="-228600" defTabSz="1216025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/>
                  <a:ea typeface="宋体" pitchFamily="2" charset="-122"/>
                </a:defRPr>
              </a:lvl9pPr>
            </a:lstStyle>
            <a:p>
              <a:pPr>
                <a:lnSpc>
                  <a:spcPts val="2560"/>
                </a:lnSpc>
              </a:pPr>
              <a:r>
                <a:rPr lang="zh-CN" altLang="en-US" dirty="0">
                  <a:latin typeface="Times New Roman" panose="02020603050405020304" charset="0"/>
                  <a:ea typeface="思源黑体" panose="020B0400000000000000" charset="-122"/>
                </a:rPr>
                <a:t>        伽利略被判有罪，宗教裁判所于</a:t>
              </a:r>
              <a:r>
                <a:rPr lang="en-US" altLang="zh-CN" dirty="0">
                  <a:latin typeface="Times New Roman" panose="02020603050405020304" charset="0"/>
                  <a:ea typeface="思源黑体" panose="020B0400000000000000" charset="-122"/>
                </a:rPr>
                <a:t>1633</a:t>
              </a:r>
              <a:r>
                <a:rPr lang="zh-CN" altLang="en-US" dirty="0">
                  <a:latin typeface="Times New Roman" panose="02020603050405020304" charset="0"/>
                  <a:ea typeface="思源黑体" panose="020B0400000000000000" charset="-122"/>
                </a:rPr>
                <a:t>年</a:t>
              </a:r>
              <a:r>
                <a:rPr lang="en-US" altLang="zh-CN" dirty="0">
                  <a:latin typeface="Times New Roman" panose="02020603050405020304" charset="0"/>
                  <a:ea typeface="思源黑体" panose="020B0400000000000000" charset="-122"/>
                </a:rPr>
                <a:t>6</a:t>
              </a:r>
              <a:r>
                <a:rPr lang="zh-CN" altLang="en-US" dirty="0">
                  <a:latin typeface="Times New Roman" panose="02020603050405020304" charset="0"/>
                  <a:ea typeface="思源黑体" panose="020B0400000000000000" charset="-122"/>
                </a:rPr>
                <a:t>月</a:t>
              </a:r>
              <a:r>
                <a:rPr lang="en-US" altLang="zh-CN" dirty="0">
                  <a:latin typeface="Times New Roman" panose="02020603050405020304" charset="0"/>
                  <a:ea typeface="思源黑体" panose="020B0400000000000000" charset="-122"/>
                </a:rPr>
                <a:t>22</a:t>
              </a:r>
              <a:r>
                <a:rPr lang="zh-CN" altLang="en-US" dirty="0">
                  <a:latin typeface="Times New Roman" panose="02020603050405020304" charset="0"/>
                  <a:ea typeface="思源黑体" panose="020B0400000000000000" charset="-122"/>
                </a:rPr>
                <a:t>日颁布的判决书包含三个主要内容：</a:t>
              </a:r>
              <a:endParaRPr lang="en-US" altLang="zh-CN" dirty="0">
                <a:latin typeface="Times New Roman" panose="02020603050405020304" charset="0"/>
                <a:ea typeface="思源黑体" panose="020B0400000000000000" charset="-122"/>
              </a:endParaRPr>
            </a:p>
            <a:p>
              <a:pPr marL="1028700" lvl="1">
                <a:lnSpc>
                  <a:spcPts val="2560"/>
                </a:lnSpc>
                <a:buFont typeface="Arial" panose="020B0604020202020204" pitchFamily="34" charset="0"/>
                <a:buChar char="•"/>
              </a:pPr>
              <a:r>
                <a:rPr lang="zh-CN" altLang="en-US" dirty="0">
                  <a:latin typeface="Times New Roman" panose="02020603050405020304" charset="0"/>
                  <a:ea typeface="思源黑体" panose="020B0400000000000000" charset="-122"/>
                </a:rPr>
                <a:t>伽利略被认定为“极其可疑的异端”，具体指他持有以下观点：太阳静止不动，位于宇宙中心；地球并非宇宙中心且在运动；在</a:t>
              </a:r>
              <a:r>
                <a:rPr lang="en-US" altLang="zh-CN" dirty="0">
                  <a:latin typeface="Times New Roman" panose="02020603050405020304" charset="0"/>
                  <a:ea typeface="思源黑体" panose="020B0400000000000000" charset="-122"/>
                </a:rPr>
                <a:t>《</a:t>
              </a:r>
              <a:r>
                <a:rPr lang="zh-CN" altLang="en-US" dirty="0">
                  <a:latin typeface="Times New Roman" panose="02020603050405020304" charset="0"/>
                  <a:ea typeface="思源黑体" panose="020B0400000000000000" charset="-122"/>
                </a:rPr>
                <a:t>圣经</a:t>
              </a:r>
              <a:r>
                <a:rPr lang="en-US" altLang="zh-CN" dirty="0">
                  <a:latin typeface="Times New Roman" panose="02020603050405020304" charset="0"/>
                  <a:ea typeface="思源黑体" panose="020B0400000000000000" charset="-122"/>
                </a:rPr>
                <a:t>》</a:t>
              </a:r>
              <a:r>
                <a:rPr lang="zh-CN" altLang="en-US" dirty="0">
                  <a:latin typeface="Times New Roman" panose="02020603050405020304" charset="0"/>
                  <a:ea typeface="思源黑体" panose="020B0400000000000000" charset="-122"/>
                </a:rPr>
                <a:t>明确反对的情况下，仍持有并为某种观点辩护，认为其可能为真。他被要求“放弃、诅咒并厌恶”这些观点。</a:t>
              </a:r>
              <a:endParaRPr lang="en-US" altLang="zh-CN" dirty="0">
                <a:latin typeface="Times New Roman" panose="02020603050405020304" charset="0"/>
                <a:ea typeface="思源黑体" panose="020B0400000000000000" charset="-122"/>
              </a:endParaRPr>
            </a:p>
            <a:p>
              <a:pPr marL="1028700" lvl="1">
                <a:lnSpc>
                  <a:spcPts val="2560"/>
                </a:lnSpc>
                <a:buFont typeface="Arial" panose="020B0604020202020204" pitchFamily="34" charset="0"/>
                <a:buChar char="•"/>
              </a:pPr>
              <a:r>
                <a:rPr lang="zh-CN" altLang="en-US" dirty="0">
                  <a:latin typeface="Times New Roman" panose="02020603050405020304" charset="0"/>
                  <a:ea typeface="思源黑体" panose="020B0400000000000000" charset="-122"/>
                </a:rPr>
                <a:t>他被判处由宗教裁判所决定期限的正式监禁。但次日此刑罚被减为软禁，伽利略在余生中都处于软禁状态。</a:t>
              </a:r>
            </a:p>
            <a:p>
              <a:pPr marL="1028700" lvl="1">
                <a:lnSpc>
                  <a:spcPts val="2560"/>
                </a:lnSpc>
                <a:buFont typeface="Arial" panose="020B0604020202020204" pitchFamily="34" charset="0"/>
                <a:buChar char="•"/>
              </a:pPr>
              <a:r>
                <a:rPr lang="zh-CN" altLang="en-US" dirty="0">
                  <a:latin typeface="Times New Roman" panose="02020603050405020304" charset="0"/>
                  <a:ea typeface="思源黑体" panose="020B0400000000000000" charset="-122"/>
                </a:rPr>
                <a:t>他的</a:t>
              </a:r>
              <a:r>
                <a:rPr lang="en-US" altLang="zh-CN" dirty="0">
                  <a:latin typeface="Times New Roman" panose="02020603050405020304" charset="0"/>
                  <a:ea typeface="思源黑体" panose="020B0400000000000000" charset="-122"/>
                </a:rPr>
                <a:t>《</a:t>
              </a:r>
              <a:r>
                <a:rPr lang="zh-CN" altLang="en-US" dirty="0">
                  <a:latin typeface="Times New Roman" panose="02020603050405020304" charset="0"/>
                  <a:ea typeface="思源黑体" panose="020B0400000000000000" charset="-122"/>
                </a:rPr>
                <a:t>对话</a:t>
              </a:r>
              <a:r>
                <a:rPr lang="en-US" altLang="zh-CN" dirty="0">
                  <a:latin typeface="Times New Roman" panose="02020603050405020304" charset="0"/>
                  <a:ea typeface="思源黑体" panose="020B0400000000000000" charset="-122"/>
                </a:rPr>
                <a:t>》</a:t>
              </a:r>
              <a:r>
                <a:rPr lang="zh-CN" altLang="en-US" dirty="0">
                  <a:latin typeface="Times New Roman" panose="02020603050405020304" charset="0"/>
                  <a:ea typeface="思源黑体" panose="020B0400000000000000" charset="-122"/>
                </a:rPr>
                <a:t>被禁止流传；且在审判中未宣布的一项决定中，他被禁止发表任何作品，包括未来可能撰写的所有著作。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01199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261A28-B2A2-6066-2941-BF211646A1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平行四边形 14">
            <a:extLst>
              <a:ext uri="{FF2B5EF4-FFF2-40B4-BE49-F238E27FC236}">
                <a16:creationId xmlns:a16="http://schemas.microsoft.com/office/drawing/2014/main" id="{C6C88702-D65D-DBF3-4D9C-B909177A3046}"/>
              </a:ext>
            </a:extLst>
          </p:cNvPr>
          <p:cNvSpPr/>
          <p:nvPr/>
        </p:nvSpPr>
        <p:spPr>
          <a:xfrm>
            <a:off x="8855234" y="0"/>
            <a:ext cx="3961606" cy="817543"/>
          </a:xfrm>
          <a:prstGeom prst="parallelogram">
            <a:avLst/>
          </a:prstGeom>
          <a:solidFill>
            <a:srgbClr val="AF581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0C572CB6-44B9-4496-476F-085A7150004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4191" y="171769"/>
            <a:ext cx="2497769" cy="527052"/>
          </a:xfrm>
          <a:prstGeom prst="rect">
            <a:avLst/>
          </a:prstGeom>
        </p:spPr>
      </p:pic>
      <p:sp>
        <p:nvSpPr>
          <p:cNvPr id="17" name="平行四边形 16">
            <a:extLst>
              <a:ext uri="{FF2B5EF4-FFF2-40B4-BE49-F238E27FC236}">
                <a16:creationId xmlns:a16="http://schemas.microsoft.com/office/drawing/2014/main" id="{BDD18547-A293-9511-36B6-3F3D222DB525}"/>
              </a:ext>
            </a:extLst>
          </p:cNvPr>
          <p:cNvSpPr/>
          <p:nvPr/>
        </p:nvSpPr>
        <p:spPr>
          <a:xfrm>
            <a:off x="-487680" y="0"/>
            <a:ext cx="1364756" cy="817543"/>
          </a:xfrm>
          <a:prstGeom prst="parallelogram">
            <a:avLst/>
          </a:prstGeom>
          <a:solidFill>
            <a:srgbClr val="AF581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TextBox 19">
            <a:extLst>
              <a:ext uri="{FF2B5EF4-FFF2-40B4-BE49-F238E27FC236}">
                <a16:creationId xmlns:a16="http://schemas.microsoft.com/office/drawing/2014/main" id="{382F4A72-6545-AFDE-5F7D-27CF8DCBA3C0}"/>
              </a:ext>
            </a:extLst>
          </p:cNvPr>
          <p:cNvSpPr txBox="1"/>
          <p:nvPr/>
        </p:nvSpPr>
        <p:spPr>
          <a:xfrm>
            <a:off x="877075" y="109657"/>
            <a:ext cx="572826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lvl="0"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EngraversGothic BT"/>
              </a:defRPr>
            </a:lvl1pPr>
          </a:lstStyle>
          <a:p>
            <a:pPr marL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2400" b="1" u="none" strike="noStrike" kern="1200" spc="0" baseline="0" dirty="0">
                <a:ln>
                  <a:noFill/>
                </a:ln>
                <a:solidFill>
                  <a:srgbClr val="AF5819"/>
                </a:solidFill>
                <a:latin typeface="Times New Roman" panose="02020603050405020304" charset="0"/>
                <a:ea typeface="思源黑体" panose="020B0400000000000000" charset="-122"/>
              </a:rPr>
              <a:t>矛盾的本质：科学理性与宗教权威的冲突</a:t>
            </a:r>
            <a:endParaRPr lang="zh-CN" sz="2400" b="1" u="none" strike="noStrike" kern="1200" spc="0" baseline="0" dirty="0">
              <a:ln>
                <a:noFill/>
              </a:ln>
              <a:solidFill>
                <a:srgbClr val="AF5819"/>
              </a:solidFill>
              <a:latin typeface="Times New Roman" panose="02020603050405020304" charset="0"/>
              <a:ea typeface="思源黑体" panose="020B0400000000000000" charset="-122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4E96A9E8-C465-693B-7AD4-5C2A5FE321EC}"/>
              </a:ext>
            </a:extLst>
          </p:cNvPr>
          <p:cNvSpPr/>
          <p:nvPr/>
        </p:nvSpPr>
        <p:spPr>
          <a:xfrm flipV="1">
            <a:off x="0" y="6748343"/>
            <a:ext cx="4682001" cy="128741"/>
          </a:xfrm>
          <a:prstGeom prst="rect">
            <a:avLst/>
          </a:prstGeom>
          <a:solidFill>
            <a:srgbClr val="AF5819"/>
          </a:solidFill>
          <a:ln>
            <a:noFill/>
          </a:ln>
        </p:spPr>
        <p:txBody>
          <a:bodyPr anchor="ctr"/>
          <a:lstStyle/>
          <a:p>
            <a:pPr algn="ctr"/>
            <a:endParaRPr lang="zh-CN">
              <a:solidFill>
                <a:schemeClr val="lt1"/>
              </a:solidFill>
            </a:endParaRPr>
          </a:p>
        </p:txBody>
      </p: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3FEECB12-F905-B073-BA96-5CD6F9A62BD1}"/>
              </a:ext>
            </a:extLst>
          </p:cNvPr>
          <p:cNvGrpSpPr/>
          <p:nvPr/>
        </p:nvGrpSpPr>
        <p:grpSpPr>
          <a:xfrm>
            <a:off x="1397343" y="1380608"/>
            <a:ext cx="9397313" cy="4834899"/>
            <a:chOff x="1412111" y="1325002"/>
            <a:chExt cx="9397313" cy="4834899"/>
          </a:xfrm>
        </p:grpSpPr>
        <p:grpSp>
          <p:nvGrpSpPr>
            <p:cNvPr id="31" name="组合 30">
              <a:extLst>
                <a:ext uri="{FF2B5EF4-FFF2-40B4-BE49-F238E27FC236}">
                  <a16:creationId xmlns:a16="http://schemas.microsoft.com/office/drawing/2014/main" id="{724B9145-08C4-D383-A6F9-3BC0B35D6A59}"/>
                </a:ext>
              </a:extLst>
            </p:cNvPr>
            <p:cNvGrpSpPr/>
            <p:nvPr/>
          </p:nvGrpSpPr>
          <p:grpSpPr>
            <a:xfrm>
              <a:off x="1460102" y="1325002"/>
              <a:ext cx="9271795" cy="4140032"/>
              <a:chOff x="1219742" y="1442392"/>
              <a:chExt cx="9271795" cy="4140032"/>
            </a:xfrm>
          </p:grpSpPr>
          <p:grpSp>
            <p:nvGrpSpPr>
              <p:cNvPr id="10" name="组合 9">
                <a:extLst>
                  <a:ext uri="{FF2B5EF4-FFF2-40B4-BE49-F238E27FC236}">
                    <a16:creationId xmlns:a16="http://schemas.microsoft.com/office/drawing/2014/main" id="{6F4D30C4-0D31-282D-6CB0-063FD7C44BD2}"/>
                  </a:ext>
                </a:extLst>
              </p:cNvPr>
              <p:cNvGrpSpPr/>
              <p:nvPr/>
            </p:nvGrpSpPr>
            <p:grpSpPr>
              <a:xfrm>
                <a:off x="1219742" y="1470812"/>
                <a:ext cx="4180974" cy="1293395"/>
                <a:chOff x="1275347" y="1442163"/>
                <a:chExt cx="4180974" cy="1293395"/>
              </a:xfrm>
            </p:grpSpPr>
            <p:sp>
              <p:nvSpPr>
                <p:cNvPr id="7" name="矩形: 圆角 6">
                  <a:extLst>
                    <a:ext uri="{FF2B5EF4-FFF2-40B4-BE49-F238E27FC236}">
                      <a16:creationId xmlns:a16="http://schemas.microsoft.com/office/drawing/2014/main" id="{5F0D19CD-0913-D229-F7E5-A80AC8A68216}"/>
                    </a:ext>
                  </a:extLst>
                </p:cNvPr>
                <p:cNvSpPr/>
                <p:nvPr/>
              </p:nvSpPr>
              <p:spPr>
                <a:xfrm>
                  <a:off x="1275347" y="1442163"/>
                  <a:ext cx="4180974" cy="1293395"/>
                </a:xfrm>
                <a:prstGeom prst="roundRect">
                  <a:avLst/>
                </a:pr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C3BBBAC8-BCC2-FF1A-9FD2-98C3D53BA11A}"/>
                    </a:ext>
                  </a:extLst>
                </p:cNvPr>
                <p:cNvSpPr txBox="1"/>
                <p:nvPr/>
              </p:nvSpPr>
              <p:spPr>
                <a:xfrm>
                  <a:off x="1515979" y="1628653"/>
                  <a:ext cx="3789947" cy="86177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zh-CN" altLang="en-US" dirty="0">
                      <a:latin typeface="宋体" panose="02010600030101010101" pitchFamily="2" charset="-122"/>
                      <a:ea typeface="宋体" panose="02010600030101010101" pitchFamily="2" charset="-122"/>
                    </a:rPr>
                    <a:t>教会：</a:t>
                  </a:r>
                  <a:r>
                    <a:rPr lang="zh-CN" altLang="zh-CN" dirty="0">
                      <a:latin typeface="宋体" panose="02010600030101010101" pitchFamily="2" charset="-122"/>
                      <a:ea typeface="宋体" panose="02010600030101010101" pitchFamily="2" charset="-122"/>
                    </a:rPr>
                    <a:t>旧世界的思想秩序</a:t>
                  </a:r>
                  <a:endParaRPr lang="en-US" altLang="zh-CN" dirty="0"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  <a:p>
                  <a:pPr algn="ctr"/>
                  <a:endParaRPr lang="en-US" altLang="zh-CN" dirty="0"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  <a:p>
                  <a:pPr algn="ctr"/>
                  <a:r>
                    <a:rPr lang="zh-CN" altLang="zh-CN" sz="1400" dirty="0">
                      <a:latin typeface="宋体" panose="02010600030101010101" pitchFamily="2" charset="-122"/>
                      <a:ea typeface="宋体" panose="02010600030101010101" pitchFamily="2" charset="-122"/>
                    </a:rPr>
                    <a:t>维护着一个以《圣经》为终极权威的封闭体系</a:t>
                  </a:r>
                  <a:endParaRPr lang="zh-CN" altLang="en-US" sz="1400" dirty="0"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9" name="组合 8">
                <a:extLst>
                  <a:ext uri="{FF2B5EF4-FFF2-40B4-BE49-F238E27FC236}">
                    <a16:creationId xmlns:a16="http://schemas.microsoft.com/office/drawing/2014/main" id="{DA87606E-5346-128F-757A-192B5EF84B79}"/>
                  </a:ext>
                </a:extLst>
              </p:cNvPr>
              <p:cNvGrpSpPr/>
              <p:nvPr/>
            </p:nvGrpSpPr>
            <p:grpSpPr>
              <a:xfrm>
                <a:off x="5870408" y="1442392"/>
                <a:ext cx="4621129" cy="1350236"/>
                <a:chOff x="5870408" y="1442392"/>
                <a:chExt cx="4621129" cy="1350236"/>
              </a:xfrm>
            </p:grpSpPr>
            <p:sp>
              <p:nvSpPr>
                <p:cNvPr id="8" name="矩形: 圆角 7">
                  <a:extLst>
                    <a:ext uri="{FF2B5EF4-FFF2-40B4-BE49-F238E27FC236}">
                      <a16:creationId xmlns:a16="http://schemas.microsoft.com/office/drawing/2014/main" id="{A7BB2636-DC0B-0448-1241-98979C659C34}"/>
                    </a:ext>
                  </a:extLst>
                </p:cNvPr>
                <p:cNvSpPr/>
                <p:nvPr/>
              </p:nvSpPr>
              <p:spPr>
                <a:xfrm>
                  <a:off x="5870409" y="1442392"/>
                  <a:ext cx="4621128" cy="1350236"/>
                </a:xfrm>
                <a:prstGeom prst="round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" name="文本框 5">
                  <a:extLst>
                    <a:ext uri="{FF2B5EF4-FFF2-40B4-BE49-F238E27FC236}">
                      <a16:creationId xmlns:a16="http://schemas.microsoft.com/office/drawing/2014/main" id="{1F672F61-29CD-4B68-C31C-E16ADCC0DA2F}"/>
                    </a:ext>
                  </a:extLst>
                </p:cNvPr>
                <p:cNvSpPr txBox="1"/>
                <p:nvPr/>
              </p:nvSpPr>
              <p:spPr>
                <a:xfrm>
                  <a:off x="5870408" y="1610605"/>
                  <a:ext cx="4621129" cy="107721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zh-CN" altLang="en-US" dirty="0">
                      <a:latin typeface="宋体" panose="02010600030101010101" pitchFamily="2" charset="-122"/>
                      <a:ea typeface="宋体" panose="02010600030101010101" pitchFamily="2" charset="-122"/>
                    </a:rPr>
                    <a:t>伽利略：</a:t>
                  </a:r>
                  <a:r>
                    <a:rPr lang="zh-CN" altLang="zh-CN" dirty="0">
                      <a:latin typeface="宋体" panose="02010600030101010101" pitchFamily="2" charset="-122"/>
                      <a:ea typeface="宋体" panose="02010600030101010101" pitchFamily="2" charset="-122"/>
                    </a:rPr>
                    <a:t>新兴资产阶级科学世界观的觉醒</a:t>
                  </a:r>
                  <a:endParaRPr lang="en-US" altLang="zh-CN" dirty="0"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  <a:p>
                  <a:pPr algn="ctr"/>
                  <a:endParaRPr lang="en-US" altLang="zh-CN" dirty="0"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  <a:p>
                  <a:pPr algn="ctr"/>
                  <a:r>
                    <a:rPr lang="zh-CN" altLang="en-US" sz="1400" dirty="0">
                      <a:latin typeface="宋体" panose="02010600030101010101" pitchFamily="2" charset="-122"/>
                      <a:ea typeface="宋体" panose="02010600030101010101" pitchFamily="2" charset="-122"/>
                    </a:rPr>
                    <a:t>“</a:t>
                  </a:r>
                  <a:r>
                    <a:rPr lang="zh-CN" altLang="zh-CN" sz="1400" dirty="0">
                      <a:latin typeface="宋体" panose="02010600030101010101" pitchFamily="2" charset="-122"/>
                      <a:ea typeface="宋体" panose="02010600030101010101" pitchFamily="2" charset="-122"/>
                    </a:rPr>
                    <a:t>相信自然界的规律可以被观察、测量、计算</a:t>
                  </a:r>
                  <a:r>
                    <a:rPr lang="zh-CN" altLang="en-US" sz="1400" dirty="0">
                      <a:latin typeface="宋体" panose="02010600030101010101" pitchFamily="2" charset="-122"/>
                      <a:ea typeface="宋体" panose="02010600030101010101" pitchFamily="2" charset="-122"/>
                    </a:rPr>
                    <a:t>”</a:t>
                  </a:r>
                  <a:endParaRPr lang="en-US" altLang="zh-CN" sz="1400" dirty="0"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  <a:p>
                  <a:pPr algn="ctr"/>
                  <a:r>
                    <a:rPr lang="zh-CN" altLang="en-US" sz="1400" dirty="0">
                      <a:latin typeface="宋体" panose="02010600030101010101" pitchFamily="2" charset="-122"/>
                      <a:ea typeface="宋体" panose="02010600030101010101" pitchFamily="2" charset="-122"/>
                    </a:rPr>
                    <a:t>“</a:t>
                  </a:r>
                  <a:r>
                    <a:rPr lang="zh-CN" altLang="zh-CN" sz="1400" dirty="0">
                      <a:latin typeface="宋体" panose="02010600030101010101" pitchFamily="2" charset="-122"/>
                      <a:ea typeface="宋体" panose="02010600030101010101" pitchFamily="2" charset="-122"/>
                    </a:rPr>
                    <a:t>真理来自实践，而非经文</a:t>
                  </a:r>
                  <a:r>
                    <a:rPr lang="zh-CN" altLang="en-US" sz="1400" dirty="0">
                      <a:latin typeface="宋体" panose="02010600030101010101" pitchFamily="2" charset="-122"/>
                      <a:ea typeface="宋体" panose="02010600030101010101" pitchFamily="2" charset="-122"/>
                    </a:rPr>
                    <a:t>”</a:t>
                  </a:r>
                </a:p>
              </p:txBody>
            </p:sp>
          </p:grpSp>
          <p:grpSp>
            <p:nvGrpSpPr>
              <p:cNvPr id="24" name="组合 23">
                <a:extLst>
                  <a:ext uri="{FF2B5EF4-FFF2-40B4-BE49-F238E27FC236}">
                    <a16:creationId xmlns:a16="http://schemas.microsoft.com/office/drawing/2014/main" id="{CA0CAE0E-12E6-A294-8316-6F520694FF8D}"/>
                  </a:ext>
                </a:extLst>
              </p:cNvPr>
              <p:cNvGrpSpPr/>
              <p:nvPr/>
            </p:nvGrpSpPr>
            <p:grpSpPr>
              <a:xfrm>
                <a:off x="3182406" y="4289029"/>
                <a:ext cx="5146848" cy="1293395"/>
                <a:chOff x="3034124" y="3585491"/>
                <a:chExt cx="5146848" cy="1293395"/>
              </a:xfrm>
            </p:grpSpPr>
            <p:grpSp>
              <p:nvGrpSpPr>
                <p:cNvPr id="11" name="组合 10">
                  <a:extLst>
                    <a:ext uri="{FF2B5EF4-FFF2-40B4-BE49-F238E27FC236}">
                      <a16:creationId xmlns:a16="http://schemas.microsoft.com/office/drawing/2014/main" id="{E806B457-954D-0B69-56CE-CD0C7049CC52}"/>
                    </a:ext>
                  </a:extLst>
                </p:cNvPr>
                <p:cNvGrpSpPr/>
                <p:nvPr/>
              </p:nvGrpSpPr>
              <p:grpSpPr>
                <a:xfrm>
                  <a:off x="3034124" y="3585491"/>
                  <a:ext cx="5146848" cy="1293395"/>
                  <a:chOff x="1275346" y="1275347"/>
                  <a:chExt cx="5102799" cy="1293395"/>
                </a:xfrm>
              </p:grpSpPr>
              <p:sp>
                <p:nvSpPr>
                  <p:cNvPr id="12" name="矩形: 圆角 11">
                    <a:extLst>
                      <a:ext uri="{FF2B5EF4-FFF2-40B4-BE49-F238E27FC236}">
                        <a16:creationId xmlns:a16="http://schemas.microsoft.com/office/drawing/2014/main" id="{FDDCC1D3-B335-5788-D85D-A51F65C9B419}"/>
                      </a:ext>
                    </a:extLst>
                  </p:cNvPr>
                  <p:cNvSpPr/>
                  <p:nvPr/>
                </p:nvSpPr>
                <p:spPr>
                  <a:xfrm>
                    <a:off x="1275346" y="1275347"/>
                    <a:ext cx="5102799" cy="1293395"/>
                  </a:xfrm>
                  <a:prstGeom prst="roundRect">
                    <a:avLst/>
                  </a:prstGeom>
                  <a:solidFill>
                    <a:schemeClr val="accent6">
                      <a:lumMod val="40000"/>
                      <a:lumOff val="6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3" name="文本框 12">
                    <a:extLst>
                      <a:ext uri="{FF2B5EF4-FFF2-40B4-BE49-F238E27FC236}">
                        <a16:creationId xmlns:a16="http://schemas.microsoft.com/office/drawing/2014/main" id="{B7503ADE-C2F7-3574-48C8-DA7AFE214DE4}"/>
                      </a:ext>
                    </a:extLst>
                  </p:cNvPr>
                  <p:cNvSpPr txBox="1"/>
                  <p:nvPr/>
                </p:nvSpPr>
                <p:spPr>
                  <a:xfrm>
                    <a:off x="1533436" y="1600882"/>
                    <a:ext cx="4622479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zh-CN" altLang="en-US" dirty="0">
                        <a:latin typeface="宋体" panose="02010600030101010101" pitchFamily="2" charset="-122"/>
                        <a:ea typeface="宋体" panose="02010600030101010101" pitchFamily="2" charset="-122"/>
                      </a:rPr>
                      <a:t>人类认识自然的方式正在发生根本性的转变</a:t>
                    </a:r>
                    <a:endParaRPr lang="zh-CN" altLang="en-US" sz="1400" dirty="0">
                      <a:latin typeface="宋体" panose="02010600030101010101" pitchFamily="2" charset="-122"/>
                      <a:ea typeface="宋体" panose="02010600030101010101" pitchFamily="2" charset="-122"/>
                    </a:endParaRPr>
                  </a:p>
                </p:txBody>
              </p:sp>
            </p:grpSp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81F34AFD-225F-F708-B0C3-99162F3597E0}"/>
                    </a:ext>
                  </a:extLst>
                </p:cNvPr>
                <p:cNvSpPr txBox="1"/>
                <p:nvPr/>
              </p:nvSpPr>
              <p:spPr>
                <a:xfrm>
                  <a:off x="3905195" y="4312960"/>
                  <a:ext cx="1346652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zh-CN" altLang="en-US" sz="1400" dirty="0">
                      <a:latin typeface="宋体" panose="02010600030101010101" pitchFamily="2" charset="-122"/>
                      <a:ea typeface="宋体" panose="02010600030101010101" pitchFamily="2" charset="-122"/>
                    </a:rPr>
                    <a:t>信仰解释世界</a:t>
                  </a:r>
                  <a:endParaRPr lang="zh-CN" altLang="en-US" sz="1100" dirty="0"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9" name="文本框 18">
                  <a:extLst>
                    <a:ext uri="{FF2B5EF4-FFF2-40B4-BE49-F238E27FC236}">
                      <a16:creationId xmlns:a16="http://schemas.microsoft.com/office/drawing/2014/main" id="{8C67ABC2-1ACF-A5DC-C637-AD6D7799F606}"/>
                    </a:ext>
                  </a:extLst>
                </p:cNvPr>
                <p:cNvSpPr txBox="1"/>
                <p:nvPr/>
              </p:nvSpPr>
              <p:spPr>
                <a:xfrm>
                  <a:off x="6096000" y="4312959"/>
                  <a:ext cx="1346652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zh-CN" altLang="en-US" sz="1400" dirty="0">
                      <a:latin typeface="宋体" panose="02010600030101010101" pitchFamily="2" charset="-122"/>
                      <a:ea typeface="宋体" panose="02010600030101010101" pitchFamily="2" charset="-122"/>
                    </a:rPr>
                    <a:t>理性解释世界</a:t>
                  </a:r>
                  <a:endParaRPr lang="zh-CN" altLang="en-US" sz="1100" dirty="0"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  <p:cxnSp>
              <p:nvCxnSpPr>
                <p:cNvPr id="23" name="直接箭头连接符 22">
                  <a:extLst>
                    <a:ext uri="{FF2B5EF4-FFF2-40B4-BE49-F238E27FC236}">
                      <a16:creationId xmlns:a16="http://schemas.microsoft.com/office/drawing/2014/main" id="{0E8369EF-B79D-AB57-0AB6-8D78C689C571}"/>
                    </a:ext>
                  </a:extLst>
                </p:cNvPr>
                <p:cNvCxnSpPr>
                  <a:stCxn id="14" idx="3"/>
                  <a:endCxn id="19" idx="1"/>
                </p:cNvCxnSpPr>
                <p:nvPr/>
              </p:nvCxnSpPr>
              <p:spPr>
                <a:xfrm flipV="1">
                  <a:off x="5251847" y="4466848"/>
                  <a:ext cx="844153" cy="1"/>
                </a:xfrm>
                <a:prstGeom prst="straightConnector1">
                  <a:avLst/>
                </a:prstGeom>
                <a:ln w="19050"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6" name="直接箭头连接符 25">
                <a:extLst>
                  <a:ext uri="{FF2B5EF4-FFF2-40B4-BE49-F238E27FC236}">
                    <a16:creationId xmlns:a16="http://schemas.microsoft.com/office/drawing/2014/main" id="{2FBADBC6-12D1-16D6-A60C-DFB2BDDD4007}"/>
                  </a:ext>
                </a:extLst>
              </p:cNvPr>
              <p:cNvCxnSpPr>
                <a:stCxn id="7" idx="2"/>
                <a:endCxn id="12" idx="0"/>
              </p:cNvCxnSpPr>
              <p:nvPr/>
            </p:nvCxnSpPr>
            <p:spPr>
              <a:xfrm>
                <a:off x="3310229" y="2764207"/>
                <a:ext cx="2445601" cy="1524822"/>
              </a:xfrm>
              <a:prstGeom prst="straightConnector1">
                <a:avLst/>
              </a:prstGeom>
              <a:ln w="1905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8" name="直接箭头连接符 27">
                <a:extLst>
                  <a:ext uri="{FF2B5EF4-FFF2-40B4-BE49-F238E27FC236}">
                    <a16:creationId xmlns:a16="http://schemas.microsoft.com/office/drawing/2014/main" id="{04C89A06-EB50-95C0-BF26-61B9248EE4E1}"/>
                  </a:ext>
                </a:extLst>
              </p:cNvPr>
              <p:cNvCxnSpPr>
                <a:stCxn id="8" idx="2"/>
                <a:endCxn id="12" idx="0"/>
              </p:cNvCxnSpPr>
              <p:nvPr/>
            </p:nvCxnSpPr>
            <p:spPr>
              <a:xfrm flipH="1">
                <a:off x="5755830" y="2792628"/>
                <a:ext cx="2425143" cy="1496401"/>
              </a:xfrm>
              <a:prstGeom prst="straightConnector1">
                <a:avLst/>
              </a:prstGeom>
              <a:ln w="1905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A7943DBB-8880-5C8C-972F-8B199AD48ED9}"/>
                  </a:ext>
                </a:extLst>
              </p:cNvPr>
              <p:cNvSpPr txBox="1"/>
              <p:nvPr/>
            </p:nvSpPr>
            <p:spPr>
              <a:xfrm>
                <a:off x="5165345" y="3568669"/>
                <a:ext cx="1217141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6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冲突的本质</a:t>
                </a:r>
              </a:p>
            </p:txBody>
          </p:sp>
        </p:grp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1BA2119D-2A80-511D-386B-ED0E46403D91}"/>
                </a:ext>
              </a:extLst>
            </p:cNvPr>
            <p:cNvSpPr txBox="1"/>
            <p:nvPr/>
          </p:nvSpPr>
          <p:spPr>
            <a:xfrm>
              <a:off x="1412111" y="5790569"/>
              <a:ext cx="939731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dirty="0">
                  <a:latin typeface="黑体" panose="02010609060101010101" pitchFamily="49" charset="-122"/>
                  <a:ea typeface="黑体" panose="02010609060101010101" pitchFamily="49" charset="-122"/>
                </a:rPr>
                <a:t>矛盾是事物发展的根本动力，伽利略与教会之间的张力，是旧思想向新科学过渡的必然产物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303672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01D18E-1414-B359-18EB-4CC960590E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平行四边形 14">
            <a:extLst>
              <a:ext uri="{FF2B5EF4-FFF2-40B4-BE49-F238E27FC236}">
                <a16:creationId xmlns:a16="http://schemas.microsoft.com/office/drawing/2014/main" id="{C663D100-0544-965F-D6AD-0AB32E547E5F}"/>
              </a:ext>
            </a:extLst>
          </p:cNvPr>
          <p:cNvSpPr/>
          <p:nvPr/>
        </p:nvSpPr>
        <p:spPr>
          <a:xfrm>
            <a:off x="8855234" y="0"/>
            <a:ext cx="3961606" cy="817543"/>
          </a:xfrm>
          <a:prstGeom prst="parallelogram">
            <a:avLst/>
          </a:prstGeom>
          <a:solidFill>
            <a:srgbClr val="AF581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8BC80364-F441-F7B4-2DB8-1C0C714078D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4191" y="171769"/>
            <a:ext cx="2497769" cy="527052"/>
          </a:xfrm>
          <a:prstGeom prst="rect">
            <a:avLst/>
          </a:prstGeom>
        </p:spPr>
      </p:pic>
      <p:sp>
        <p:nvSpPr>
          <p:cNvPr id="17" name="平行四边形 16">
            <a:extLst>
              <a:ext uri="{FF2B5EF4-FFF2-40B4-BE49-F238E27FC236}">
                <a16:creationId xmlns:a16="http://schemas.microsoft.com/office/drawing/2014/main" id="{79AFCE26-B388-891E-4B25-9D80FE4CF453}"/>
              </a:ext>
            </a:extLst>
          </p:cNvPr>
          <p:cNvSpPr/>
          <p:nvPr/>
        </p:nvSpPr>
        <p:spPr>
          <a:xfrm>
            <a:off x="-487680" y="0"/>
            <a:ext cx="1364756" cy="817543"/>
          </a:xfrm>
          <a:prstGeom prst="parallelogram">
            <a:avLst/>
          </a:prstGeom>
          <a:solidFill>
            <a:srgbClr val="AF581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TextBox 19">
            <a:extLst>
              <a:ext uri="{FF2B5EF4-FFF2-40B4-BE49-F238E27FC236}">
                <a16:creationId xmlns:a16="http://schemas.microsoft.com/office/drawing/2014/main" id="{EA8AC9A9-2D8C-D958-4FDB-ECA54E765FA1}"/>
              </a:ext>
            </a:extLst>
          </p:cNvPr>
          <p:cNvSpPr txBox="1"/>
          <p:nvPr/>
        </p:nvSpPr>
        <p:spPr>
          <a:xfrm>
            <a:off x="877075" y="109657"/>
            <a:ext cx="572826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lvl="0"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EngraversGothic BT"/>
              </a:defRPr>
            </a:lvl1pPr>
          </a:lstStyle>
          <a:p>
            <a:pPr marL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2400" b="1" u="none" strike="noStrike" kern="1200" spc="0" baseline="0" dirty="0">
                <a:ln>
                  <a:noFill/>
                </a:ln>
                <a:solidFill>
                  <a:srgbClr val="AF5819"/>
                </a:solidFill>
                <a:latin typeface="Times New Roman" panose="02020603050405020304" charset="0"/>
                <a:ea typeface="思源黑体" panose="020B0400000000000000" charset="-122"/>
              </a:rPr>
              <a:t>对立与统一：冲突中孕育发展的动力</a:t>
            </a:r>
            <a:endParaRPr lang="zh-CN" sz="2400" b="1" u="none" strike="noStrike" kern="1200" spc="0" baseline="0" dirty="0">
              <a:ln>
                <a:noFill/>
              </a:ln>
              <a:solidFill>
                <a:srgbClr val="AF5819"/>
              </a:solidFill>
              <a:latin typeface="Times New Roman" panose="02020603050405020304" charset="0"/>
              <a:ea typeface="思源黑体" panose="020B0400000000000000" charset="-122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768F3F26-3C36-61FF-1B5B-E0F4B1D31A6C}"/>
              </a:ext>
            </a:extLst>
          </p:cNvPr>
          <p:cNvSpPr/>
          <p:nvPr/>
        </p:nvSpPr>
        <p:spPr>
          <a:xfrm flipV="1">
            <a:off x="0" y="6748343"/>
            <a:ext cx="4682001" cy="128741"/>
          </a:xfrm>
          <a:prstGeom prst="rect">
            <a:avLst/>
          </a:prstGeom>
          <a:solidFill>
            <a:srgbClr val="AF5819"/>
          </a:solidFill>
          <a:ln>
            <a:noFill/>
          </a:ln>
        </p:spPr>
        <p:txBody>
          <a:bodyPr anchor="ctr"/>
          <a:lstStyle/>
          <a:p>
            <a:pPr algn="ctr"/>
            <a:endParaRPr lang="zh-CN">
              <a:solidFill>
                <a:schemeClr val="lt1"/>
              </a:solidFill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D080116-7413-0886-AC6E-59DF6B9156D0}"/>
              </a:ext>
            </a:extLst>
          </p:cNvPr>
          <p:cNvSpPr txBox="1"/>
          <p:nvPr/>
        </p:nvSpPr>
        <p:spPr>
          <a:xfrm>
            <a:off x="2994096" y="6010945"/>
            <a:ext cx="62038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矛盾双方在对立中统一，斗争是事物向更高阶段发展的前提</a:t>
            </a:r>
          </a:p>
        </p:txBody>
      </p:sp>
      <p:grpSp>
        <p:nvGrpSpPr>
          <p:cNvPr id="77" name="组合 76">
            <a:extLst>
              <a:ext uri="{FF2B5EF4-FFF2-40B4-BE49-F238E27FC236}">
                <a16:creationId xmlns:a16="http://schemas.microsoft.com/office/drawing/2014/main" id="{D29078AD-8C89-1911-F29C-1682327AD342}"/>
              </a:ext>
            </a:extLst>
          </p:cNvPr>
          <p:cNvGrpSpPr/>
          <p:nvPr/>
        </p:nvGrpSpPr>
        <p:grpSpPr>
          <a:xfrm>
            <a:off x="1497785" y="1060869"/>
            <a:ext cx="9038082" cy="4736261"/>
            <a:chOff x="1576959" y="1172538"/>
            <a:chExt cx="9038082" cy="4736261"/>
          </a:xfrm>
        </p:grpSpPr>
        <p:grpSp>
          <p:nvGrpSpPr>
            <p:cNvPr id="73" name="组合 72">
              <a:extLst>
                <a:ext uri="{FF2B5EF4-FFF2-40B4-BE49-F238E27FC236}">
                  <a16:creationId xmlns:a16="http://schemas.microsoft.com/office/drawing/2014/main" id="{73809697-E0A2-0B9A-6477-6C083EC2E7FF}"/>
                </a:ext>
              </a:extLst>
            </p:cNvPr>
            <p:cNvGrpSpPr/>
            <p:nvPr/>
          </p:nvGrpSpPr>
          <p:grpSpPr>
            <a:xfrm>
              <a:off x="1576959" y="1172538"/>
              <a:ext cx="9038082" cy="4736261"/>
              <a:chOff x="1584993" y="1099402"/>
              <a:chExt cx="9038082" cy="4736261"/>
            </a:xfrm>
          </p:grpSpPr>
          <p:grpSp>
            <p:nvGrpSpPr>
              <p:cNvPr id="52" name="组合 51">
                <a:extLst>
                  <a:ext uri="{FF2B5EF4-FFF2-40B4-BE49-F238E27FC236}">
                    <a16:creationId xmlns:a16="http://schemas.microsoft.com/office/drawing/2014/main" id="{334235A3-B146-6E47-18FE-FC93FB410DD8}"/>
                  </a:ext>
                </a:extLst>
              </p:cNvPr>
              <p:cNvGrpSpPr/>
              <p:nvPr/>
            </p:nvGrpSpPr>
            <p:grpSpPr>
              <a:xfrm>
                <a:off x="1584993" y="1530290"/>
                <a:ext cx="2651518" cy="1121635"/>
                <a:chOff x="1444747" y="1646279"/>
                <a:chExt cx="2651518" cy="1121635"/>
              </a:xfrm>
            </p:grpSpPr>
            <p:sp>
              <p:nvSpPr>
                <p:cNvPr id="44" name="矩形: 圆角 43">
                  <a:extLst>
                    <a:ext uri="{FF2B5EF4-FFF2-40B4-BE49-F238E27FC236}">
                      <a16:creationId xmlns:a16="http://schemas.microsoft.com/office/drawing/2014/main" id="{88484F1F-EEAB-11FF-C5FD-CEF95EA73B91}"/>
                    </a:ext>
                  </a:extLst>
                </p:cNvPr>
                <p:cNvSpPr/>
                <p:nvPr/>
              </p:nvSpPr>
              <p:spPr>
                <a:xfrm>
                  <a:off x="1444747" y="1646279"/>
                  <a:ext cx="2651518" cy="1121635"/>
                </a:xfrm>
                <a:prstGeom prst="roundRect">
                  <a:avLst/>
                </a:pr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45" name="文本框 44">
                  <a:extLst>
                    <a:ext uri="{FF2B5EF4-FFF2-40B4-BE49-F238E27FC236}">
                      <a16:creationId xmlns:a16="http://schemas.microsoft.com/office/drawing/2014/main" id="{FEB3245B-DA09-3775-CEAF-46EB00450A39}"/>
                    </a:ext>
                  </a:extLst>
                </p:cNvPr>
                <p:cNvSpPr txBox="1"/>
                <p:nvPr/>
              </p:nvSpPr>
              <p:spPr>
                <a:xfrm>
                  <a:off x="1642293" y="2051578"/>
                  <a:ext cx="2256426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zh-CN" altLang="en-US" sz="1400" dirty="0">
                      <a:latin typeface="宋体" panose="02010600030101010101" pitchFamily="2" charset="-122"/>
                      <a:ea typeface="宋体" panose="02010600030101010101" pitchFamily="2" charset="-122"/>
                    </a:rPr>
                    <a:t>教会排斥伽利略的新思想</a:t>
                  </a:r>
                </a:p>
              </p:txBody>
            </p:sp>
          </p:grpSp>
          <p:grpSp>
            <p:nvGrpSpPr>
              <p:cNvPr id="48" name="组合 47">
                <a:extLst>
                  <a:ext uri="{FF2B5EF4-FFF2-40B4-BE49-F238E27FC236}">
                    <a16:creationId xmlns:a16="http://schemas.microsoft.com/office/drawing/2014/main" id="{8928B6DA-4FF7-FDDC-BE12-0276E61B4326}"/>
                  </a:ext>
                </a:extLst>
              </p:cNvPr>
              <p:cNvGrpSpPr/>
              <p:nvPr/>
            </p:nvGrpSpPr>
            <p:grpSpPr>
              <a:xfrm>
                <a:off x="7726293" y="1530290"/>
                <a:ext cx="2896782" cy="1121635"/>
                <a:chOff x="7816526" y="1213792"/>
                <a:chExt cx="2900602" cy="1121635"/>
              </a:xfrm>
            </p:grpSpPr>
            <p:sp>
              <p:nvSpPr>
                <p:cNvPr id="42" name="矩形: 圆角 41">
                  <a:extLst>
                    <a:ext uri="{FF2B5EF4-FFF2-40B4-BE49-F238E27FC236}">
                      <a16:creationId xmlns:a16="http://schemas.microsoft.com/office/drawing/2014/main" id="{BC34A043-1D7A-2F1D-FC18-46A785BF5A72}"/>
                    </a:ext>
                  </a:extLst>
                </p:cNvPr>
                <p:cNvSpPr/>
                <p:nvPr/>
              </p:nvSpPr>
              <p:spPr>
                <a:xfrm>
                  <a:off x="7816526" y="1213792"/>
                  <a:ext cx="2900602" cy="1121635"/>
                </a:xfrm>
                <a:prstGeom prst="round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43" name="文本框 42">
                  <a:extLst>
                    <a:ext uri="{FF2B5EF4-FFF2-40B4-BE49-F238E27FC236}">
                      <a16:creationId xmlns:a16="http://schemas.microsoft.com/office/drawing/2014/main" id="{2B6927B9-578B-5B5C-2083-27C21BA8F259}"/>
                    </a:ext>
                  </a:extLst>
                </p:cNvPr>
                <p:cNvSpPr txBox="1"/>
                <p:nvPr/>
              </p:nvSpPr>
              <p:spPr>
                <a:xfrm>
                  <a:off x="8090282" y="1407127"/>
                  <a:ext cx="2353084" cy="73866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zh-CN" altLang="en-US" sz="1400" dirty="0">
                      <a:latin typeface="宋体" panose="02010600030101010101" pitchFamily="2" charset="-122"/>
                      <a:ea typeface="宋体" panose="02010600030101010101" pitchFamily="2" charset="-122"/>
                    </a:rPr>
                    <a:t>“伽利略在被软禁后依然写作、计算、实验，他用受限的身体证明思想的自由”</a:t>
                  </a:r>
                </a:p>
              </p:txBody>
            </p:sp>
          </p:grpSp>
          <p:sp>
            <p:nvSpPr>
              <p:cNvPr id="47" name="文本框 46">
                <a:extLst>
                  <a:ext uri="{FF2B5EF4-FFF2-40B4-BE49-F238E27FC236}">
                    <a16:creationId xmlns:a16="http://schemas.microsoft.com/office/drawing/2014/main" id="{FBDD7620-EF40-74AF-EF4F-A5F78D4C3C80}"/>
                  </a:ext>
                </a:extLst>
              </p:cNvPr>
              <p:cNvSpPr txBox="1"/>
              <p:nvPr/>
            </p:nvSpPr>
            <p:spPr>
              <a:xfrm>
                <a:off x="8049051" y="1099402"/>
                <a:ext cx="230062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伽利略与欧洲知识界</a:t>
                </a:r>
                <a:endParaRPr lang="en-US" altLang="zh-CN" b="1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grpSp>
            <p:nvGrpSpPr>
              <p:cNvPr id="49" name="组合 48">
                <a:extLst>
                  <a:ext uri="{FF2B5EF4-FFF2-40B4-BE49-F238E27FC236}">
                    <a16:creationId xmlns:a16="http://schemas.microsoft.com/office/drawing/2014/main" id="{D026EB6E-BAF9-4708-8B14-F35206CD850E}"/>
                  </a:ext>
                </a:extLst>
              </p:cNvPr>
              <p:cNvGrpSpPr/>
              <p:nvPr/>
            </p:nvGrpSpPr>
            <p:grpSpPr>
              <a:xfrm>
                <a:off x="7726289" y="4714028"/>
                <a:ext cx="2896782" cy="1121635"/>
                <a:chOff x="7816526" y="1213792"/>
                <a:chExt cx="2900602" cy="1121635"/>
              </a:xfrm>
            </p:grpSpPr>
            <p:sp>
              <p:nvSpPr>
                <p:cNvPr id="50" name="矩形: 圆角 49">
                  <a:extLst>
                    <a:ext uri="{FF2B5EF4-FFF2-40B4-BE49-F238E27FC236}">
                      <a16:creationId xmlns:a16="http://schemas.microsoft.com/office/drawing/2014/main" id="{47498241-D47C-0287-FD27-70FFB40F76E3}"/>
                    </a:ext>
                  </a:extLst>
                </p:cNvPr>
                <p:cNvSpPr/>
                <p:nvPr/>
              </p:nvSpPr>
              <p:spPr>
                <a:xfrm>
                  <a:off x="7816526" y="1213792"/>
                  <a:ext cx="2900602" cy="1121635"/>
                </a:xfrm>
                <a:prstGeom prst="round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51" name="文本框 50">
                  <a:extLst>
                    <a:ext uri="{FF2B5EF4-FFF2-40B4-BE49-F238E27FC236}">
                      <a16:creationId xmlns:a16="http://schemas.microsoft.com/office/drawing/2014/main" id="{2BAC34E4-EDA2-9311-4199-9EF5CBCF3FF6}"/>
                    </a:ext>
                  </a:extLst>
                </p:cNvPr>
                <p:cNvSpPr txBox="1"/>
                <p:nvPr/>
              </p:nvSpPr>
              <p:spPr>
                <a:xfrm>
                  <a:off x="8261889" y="1512998"/>
                  <a:ext cx="2125351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zh-CN" altLang="en-US" sz="1400" dirty="0">
                      <a:latin typeface="宋体" panose="02010600030101010101" pitchFamily="2" charset="-122"/>
                      <a:ea typeface="宋体" panose="02010600030101010101" pitchFamily="2" charset="-122"/>
                    </a:rPr>
                    <a:t>欧洲知识界集体思考：理性是否可以对抗权威？</a:t>
                  </a:r>
                </a:p>
              </p:txBody>
            </p:sp>
          </p:grpSp>
          <p:cxnSp>
            <p:nvCxnSpPr>
              <p:cNvPr id="54" name="直接箭头连接符 53">
                <a:extLst>
                  <a:ext uri="{FF2B5EF4-FFF2-40B4-BE49-F238E27FC236}">
                    <a16:creationId xmlns:a16="http://schemas.microsoft.com/office/drawing/2014/main" id="{573F6EA1-7BFD-474A-B992-C81E7C3FE79F}"/>
                  </a:ext>
                </a:extLst>
              </p:cNvPr>
              <p:cNvCxnSpPr>
                <a:cxnSpLocks/>
                <a:stCxn id="44" idx="3"/>
                <a:endCxn id="42" idx="1"/>
              </p:cNvCxnSpPr>
              <p:nvPr/>
            </p:nvCxnSpPr>
            <p:spPr>
              <a:xfrm>
                <a:off x="4236511" y="2091108"/>
                <a:ext cx="3489782" cy="0"/>
              </a:xfrm>
              <a:prstGeom prst="straightConnector1">
                <a:avLst/>
              </a:prstGeom>
              <a:ln w="1905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57" name="文本框 56">
                <a:extLst>
                  <a:ext uri="{FF2B5EF4-FFF2-40B4-BE49-F238E27FC236}">
                    <a16:creationId xmlns:a16="http://schemas.microsoft.com/office/drawing/2014/main" id="{F6AE92DB-D004-4AE4-A210-1E38508BAFFB}"/>
                  </a:ext>
                </a:extLst>
              </p:cNvPr>
              <p:cNvSpPr txBox="1"/>
              <p:nvPr/>
            </p:nvSpPr>
            <p:spPr>
              <a:xfrm>
                <a:off x="5176672" y="1723625"/>
                <a:ext cx="185472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教会软禁伽利略</a:t>
                </a:r>
              </a:p>
            </p:txBody>
          </p:sp>
          <p:cxnSp>
            <p:nvCxnSpPr>
              <p:cNvPr id="59" name="直接箭头连接符 58">
                <a:extLst>
                  <a:ext uri="{FF2B5EF4-FFF2-40B4-BE49-F238E27FC236}">
                    <a16:creationId xmlns:a16="http://schemas.microsoft.com/office/drawing/2014/main" id="{B13D9CF5-06FC-93F1-3505-E820CAFFE43D}"/>
                  </a:ext>
                </a:extLst>
              </p:cNvPr>
              <p:cNvCxnSpPr>
                <a:stCxn id="42" idx="2"/>
                <a:endCxn id="50" idx="0"/>
              </p:cNvCxnSpPr>
              <p:nvPr/>
            </p:nvCxnSpPr>
            <p:spPr>
              <a:xfrm flipH="1">
                <a:off x="9174680" y="2651925"/>
                <a:ext cx="4" cy="2062103"/>
              </a:xfrm>
              <a:prstGeom prst="straightConnector1">
                <a:avLst/>
              </a:prstGeom>
              <a:ln w="1905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60" name="文本框 59">
                <a:extLst>
                  <a:ext uri="{FF2B5EF4-FFF2-40B4-BE49-F238E27FC236}">
                    <a16:creationId xmlns:a16="http://schemas.microsoft.com/office/drawing/2014/main" id="{420F37F1-8B96-1BE5-DE86-083D9933E239}"/>
                  </a:ext>
                </a:extLst>
              </p:cNvPr>
              <p:cNvSpPr txBox="1"/>
              <p:nvPr/>
            </p:nvSpPr>
            <p:spPr>
              <a:xfrm>
                <a:off x="8824694" y="2713480"/>
                <a:ext cx="417944" cy="1938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5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新思想引发新思考</a:t>
                </a:r>
              </a:p>
            </p:txBody>
          </p:sp>
          <p:grpSp>
            <p:nvGrpSpPr>
              <p:cNvPr id="61" name="组合 60">
                <a:extLst>
                  <a:ext uri="{FF2B5EF4-FFF2-40B4-BE49-F238E27FC236}">
                    <a16:creationId xmlns:a16="http://schemas.microsoft.com/office/drawing/2014/main" id="{0BBA3AC7-61C0-E681-3906-C80DA70FB77F}"/>
                  </a:ext>
                </a:extLst>
              </p:cNvPr>
              <p:cNvGrpSpPr/>
              <p:nvPr/>
            </p:nvGrpSpPr>
            <p:grpSpPr>
              <a:xfrm>
                <a:off x="1584993" y="4713188"/>
                <a:ext cx="2651518" cy="1121635"/>
                <a:chOff x="1444747" y="1646279"/>
                <a:chExt cx="2651518" cy="1121635"/>
              </a:xfrm>
            </p:grpSpPr>
            <p:sp>
              <p:nvSpPr>
                <p:cNvPr id="62" name="矩形: 圆角 61">
                  <a:extLst>
                    <a:ext uri="{FF2B5EF4-FFF2-40B4-BE49-F238E27FC236}">
                      <a16:creationId xmlns:a16="http://schemas.microsoft.com/office/drawing/2014/main" id="{C6706D10-8347-D99E-7FCA-CD4D19726388}"/>
                    </a:ext>
                  </a:extLst>
                </p:cNvPr>
                <p:cNvSpPr/>
                <p:nvPr/>
              </p:nvSpPr>
              <p:spPr>
                <a:xfrm>
                  <a:off x="1444747" y="1646279"/>
                  <a:ext cx="2651518" cy="1121635"/>
                </a:xfrm>
                <a:prstGeom prst="roundRect">
                  <a:avLst/>
                </a:pr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3" name="文本框 62">
                  <a:extLst>
                    <a:ext uri="{FF2B5EF4-FFF2-40B4-BE49-F238E27FC236}">
                      <a16:creationId xmlns:a16="http://schemas.microsoft.com/office/drawing/2014/main" id="{6664047D-AACF-B848-4660-C570A6C45CC4}"/>
                    </a:ext>
                  </a:extLst>
                </p:cNvPr>
                <p:cNvSpPr txBox="1"/>
                <p:nvPr/>
              </p:nvSpPr>
              <p:spPr>
                <a:xfrm>
                  <a:off x="1642293" y="1945486"/>
                  <a:ext cx="2256426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zh-CN" altLang="en-US" sz="1400" dirty="0">
                      <a:latin typeface="宋体" panose="02010600030101010101" pitchFamily="2" charset="-122"/>
                      <a:ea typeface="宋体" panose="02010600030101010101" pitchFamily="2" charset="-122"/>
                    </a:rPr>
                    <a:t>教会内部出现信仰与理性关系的再思考</a:t>
                  </a:r>
                </a:p>
              </p:txBody>
            </p:sp>
          </p:grpSp>
          <p:cxnSp>
            <p:nvCxnSpPr>
              <p:cNvPr id="67" name="直接箭头连接符 66">
                <a:extLst>
                  <a:ext uri="{FF2B5EF4-FFF2-40B4-BE49-F238E27FC236}">
                    <a16:creationId xmlns:a16="http://schemas.microsoft.com/office/drawing/2014/main" id="{457414BC-88CA-1B3B-EACC-7DCE37DF78EC}"/>
                  </a:ext>
                </a:extLst>
              </p:cNvPr>
              <p:cNvCxnSpPr>
                <a:stCxn id="50" idx="1"/>
                <a:endCxn id="62" idx="3"/>
              </p:cNvCxnSpPr>
              <p:nvPr/>
            </p:nvCxnSpPr>
            <p:spPr>
              <a:xfrm flipH="1" flipV="1">
                <a:off x="4236511" y="5274006"/>
                <a:ext cx="3489778" cy="840"/>
              </a:xfrm>
              <a:prstGeom prst="straightConnector1">
                <a:avLst/>
              </a:prstGeom>
              <a:ln w="1905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9" name="直接箭头连接符 68">
                <a:extLst>
                  <a:ext uri="{FF2B5EF4-FFF2-40B4-BE49-F238E27FC236}">
                    <a16:creationId xmlns:a16="http://schemas.microsoft.com/office/drawing/2014/main" id="{A6BFD3AF-8D9C-A1E7-FF7C-41D471E4D71C}"/>
                  </a:ext>
                </a:extLst>
              </p:cNvPr>
              <p:cNvCxnSpPr>
                <a:stCxn id="62" idx="0"/>
                <a:endCxn id="44" idx="2"/>
              </p:cNvCxnSpPr>
              <p:nvPr/>
            </p:nvCxnSpPr>
            <p:spPr>
              <a:xfrm flipV="1">
                <a:off x="2910752" y="2651925"/>
                <a:ext cx="0" cy="2061263"/>
              </a:xfrm>
              <a:prstGeom prst="straightConnector1">
                <a:avLst/>
              </a:prstGeom>
              <a:ln w="1905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70" name="文本框 69">
                <a:extLst>
                  <a:ext uri="{FF2B5EF4-FFF2-40B4-BE49-F238E27FC236}">
                    <a16:creationId xmlns:a16="http://schemas.microsoft.com/office/drawing/2014/main" id="{40D35C41-FFB7-1E08-18CD-42046CC55226}"/>
                  </a:ext>
                </a:extLst>
              </p:cNvPr>
              <p:cNvSpPr txBox="1"/>
              <p:nvPr/>
            </p:nvSpPr>
            <p:spPr>
              <a:xfrm>
                <a:off x="4925364" y="4812340"/>
                <a:ext cx="234126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2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伏尔泰、狄德罗等人把伽利略的命运视为理性殉道的象征</a:t>
                </a:r>
              </a:p>
            </p:txBody>
          </p:sp>
          <p:sp>
            <p:nvSpPr>
              <p:cNvPr id="71" name="文本框 70">
                <a:extLst>
                  <a:ext uri="{FF2B5EF4-FFF2-40B4-BE49-F238E27FC236}">
                    <a16:creationId xmlns:a16="http://schemas.microsoft.com/office/drawing/2014/main" id="{6DD7D280-B897-2B70-9247-95DAFE2C2460}"/>
                  </a:ext>
                </a:extLst>
              </p:cNvPr>
              <p:cNvSpPr txBox="1"/>
              <p:nvPr/>
            </p:nvSpPr>
            <p:spPr>
              <a:xfrm>
                <a:off x="2842790" y="2943892"/>
                <a:ext cx="608274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5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科学理性逐渐渗透宗教内部</a:t>
                </a:r>
              </a:p>
            </p:txBody>
          </p:sp>
          <p:sp>
            <p:nvSpPr>
              <p:cNvPr id="72" name="文本框 71">
                <a:extLst>
                  <a:ext uri="{FF2B5EF4-FFF2-40B4-BE49-F238E27FC236}">
                    <a16:creationId xmlns:a16="http://schemas.microsoft.com/office/drawing/2014/main" id="{71FE0C76-FFC4-C0D4-DCEB-41FFB92F07F4}"/>
                  </a:ext>
                </a:extLst>
              </p:cNvPr>
              <p:cNvSpPr txBox="1"/>
              <p:nvPr/>
            </p:nvSpPr>
            <p:spPr>
              <a:xfrm>
                <a:off x="1787709" y="1099402"/>
                <a:ext cx="225125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教会</a:t>
                </a:r>
                <a:endParaRPr lang="en-US" altLang="zh-CN" b="1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p:grpSp>
        <p:grpSp>
          <p:nvGrpSpPr>
            <p:cNvPr id="76" name="组合 75">
              <a:extLst>
                <a:ext uri="{FF2B5EF4-FFF2-40B4-BE49-F238E27FC236}">
                  <a16:creationId xmlns:a16="http://schemas.microsoft.com/office/drawing/2014/main" id="{1230DB51-EA86-3408-32F0-6AE922920D70}"/>
                </a:ext>
              </a:extLst>
            </p:cNvPr>
            <p:cNvGrpSpPr/>
            <p:nvPr/>
          </p:nvGrpSpPr>
          <p:grpSpPr>
            <a:xfrm>
              <a:off x="5054943" y="3209898"/>
              <a:ext cx="2082114" cy="1091591"/>
              <a:chOff x="5016843" y="3017028"/>
              <a:chExt cx="2082114" cy="1091591"/>
            </a:xfrm>
          </p:grpSpPr>
          <p:sp>
            <p:nvSpPr>
              <p:cNvPr id="74" name="矩形: 圆角 73">
                <a:extLst>
                  <a:ext uri="{FF2B5EF4-FFF2-40B4-BE49-F238E27FC236}">
                    <a16:creationId xmlns:a16="http://schemas.microsoft.com/office/drawing/2014/main" id="{4FAEEE5D-7F72-CD13-4615-41EFF9F3FB9C}"/>
                  </a:ext>
                </a:extLst>
              </p:cNvPr>
              <p:cNvSpPr/>
              <p:nvPr/>
            </p:nvSpPr>
            <p:spPr>
              <a:xfrm>
                <a:off x="5016843" y="3017028"/>
                <a:ext cx="2082114" cy="1091591"/>
              </a:xfrm>
              <a:prstGeom prst="round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5" name="文本框 74">
                <a:extLst>
                  <a:ext uri="{FF2B5EF4-FFF2-40B4-BE49-F238E27FC236}">
                    <a16:creationId xmlns:a16="http://schemas.microsoft.com/office/drawing/2014/main" id="{31858D7F-E80A-C7E5-A469-B14116185D24}"/>
                  </a:ext>
                </a:extLst>
              </p:cNvPr>
              <p:cNvSpPr txBox="1"/>
              <p:nvPr/>
            </p:nvSpPr>
            <p:spPr>
              <a:xfrm>
                <a:off x="5122997" y="3239657"/>
                <a:ext cx="1929934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科学更成熟</a:t>
                </a:r>
                <a:endParaRPr lang="en-US" altLang="zh-CN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pPr algn="ctr"/>
                <a:r>
                  <a:rPr lang="zh-CN" altLang="en-US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宗教更理性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1705517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6EEA74-E5EB-EAB1-CBA2-EB994122AF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平行四边形 14">
            <a:extLst>
              <a:ext uri="{FF2B5EF4-FFF2-40B4-BE49-F238E27FC236}">
                <a16:creationId xmlns:a16="http://schemas.microsoft.com/office/drawing/2014/main" id="{A56E2E32-55FF-1087-5811-20895CE24CF7}"/>
              </a:ext>
            </a:extLst>
          </p:cNvPr>
          <p:cNvSpPr/>
          <p:nvPr/>
        </p:nvSpPr>
        <p:spPr>
          <a:xfrm>
            <a:off x="8855234" y="0"/>
            <a:ext cx="3961606" cy="817543"/>
          </a:xfrm>
          <a:prstGeom prst="parallelogram">
            <a:avLst/>
          </a:prstGeom>
          <a:solidFill>
            <a:srgbClr val="AF581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FD2A5D13-A349-F614-9B97-5E7A54F0FB9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4191" y="171769"/>
            <a:ext cx="2497769" cy="527052"/>
          </a:xfrm>
          <a:prstGeom prst="rect">
            <a:avLst/>
          </a:prstGeom>
        </p:spPr>
      </p:pic>
      <p:sp>
        <p:nvSpPr>
          <p:cNvPr id="17" name="平行四边形 16">
            <a:extLst>
              <a:ext uri="{FF2B5EF4-FFF2-40B4-BE49-F238E27FC236}">
                <a16:creationId xmlns:a16="http://schemas.microsoft.com/office/drawing/2014/main" id="{41F258C0-B8BE-E360-FB88-669CDCF3D69C}"/>
              </a:ext>
            </a:extLst>
          </p:cNvPr>
          <p:cNvSpPr/>
          <p:nvPr/>
        </p:nvSpPr>
        <p:spPr>
          <a:xfrm>
            <a:off x="-487680" y="0"/>
            <a:ext cx="1364756" cy="817543"/>
          </a:xfrm>
          <a:prstGeom prst="parallelogram">
            <a:avLst/>
          </a:prstGeom>
          <a:solidFill>
            <a:srgbClr val="AF581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TextBox 19">
            <a:extLst>
              <a:ext uri="{FF2B5EF4-FFF2-40B4-BE49-F238E27FC236}">
                <a16:creationId xmlns:a16="http://schemas.microsoft.com/office/drawing/2014/main" id="{3D268698-F8D5-E954-667A-E7C8CD917D67}"/>
              </a:ext>
            </a:extLst>
          </p:cNvPr>
          <p:cNvSpPr txBox="1"/>
          <p:nvPr/>
        </p:nvSpPr>
        <p:spPr>
          <a:xfrm>
            <a:off x="877075" y="109657"/>
            <a:ext cx="572826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lvl="0"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EngraversGothic BT"/>
              </a:defRPr>
            </a:lvl1pPr>
          </a:lstStyle>
          <a:p>
            <a:pPr marL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2400" b="1" u="none" strike="noStrike" kern="1200" spc="0" baseline="0" dirty="0">
                <a:ln>
                  <a:noFill/>
                </a:ln>
                <a:solidFill>
                  <a:srgbClr val="AF5819"/>
                </a:solidFill>
                <a:latin typeface="Times New Roman" panose="02020603050405020304" charset="0"/>
                <a:ea typeface="思源黑体" panose="020B0400000000000000" charset="-122"/>
              </a:rPr>
              <a:t>否定之否定：科学发展的历史必然性</a:t>
            </a:r>
            <a:endParaRPr lang="zh-CN" sz="2400" b="1" u="none" strike="noStrike" kern="1200" spc="0" baseline="0" dirty="0">
              <a:ln>
                <a:noFill/>
              </a:ln>
              <a:solidFill>
                <a:srgbClr val="AF5819"/>
              </a:solidFill>
              <a:latin typeface="Times New Roman" panose="02020603050405020304" charset="0"/>
              <a:ea typeface="思源黑体" panose="020B0400000000000000" charset="-122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9268B8B3-C05C-E023-C082-42236C105CD5}"/>
              </a:ext>
            </a:extLst>
          </p:cNvPr>
          <p:cNvSpPr/>
          <p:nvPr/>
        </p:nvSpPr>
        <p:spPr>
          <a:xfrm flipV="1">
            <a:off x="0" y="6748343"/>
            <a:ext cx="4682001" cy="128741"/>
          </a:xfrm>
          <a:prstGeom prst="rect">
            <a:avLst/>
          </a:prstGeom>
          <a:solidFill>
            <a:srgbClr val="AF5819"/>
          </a:solidFill>
          <a:ln>
            <a:noFill/>
          </a:ln>
        </p:spPr>
        <p:txBody>
          <a:bodyPr anchor="ctr"/>
          <a:lstStyle/>
          <a:p>
            <a:pPr algn="ctr"/>
            <a:endParaRPr lang="zh-CN">
              <a:solidFill>
                <a:schemeClr val="lt1"/>
              </a:solidFill>
            </a:endParaRPr>
          </a:p>
        </p:txBody>
      </p: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F1CA29E1-C72C-4339-AFBD-47A71351EEAA}"/>
              </a:ext>
            </a:extLst>
          </p:cNvPr>
          <p:cNvGrpSpPr/>
          <p:nvPr/>
        </p:nvGrpSpPr>
        <p:grpSpPr>
          <a:xfrm>
            <a:off x="1968843" y="1375269"/>
            <a:ext cx="8031892" cy="4913286"/>
            <a:chOff x="2080054" y="1203189"/>
            <a:chExt cx="8031892" cy="4913286"/>
          </a:xfrm>
        </p:grpSpPr>
        <p:grpSp>
          <p:nvGrpSpPr>
            <p:cNvPr id="19" name="组合 18">
              <a:extLst>
                <a:ext uri="{FF2B5EF4-FFF2-40B4-BE49-F238E27FC236}">
                  <a16:creationId xmlns:a16="http://schemas.microsoft.com/office/drawing/2014/main" id="{99CCFB6B-D88F-DD0F-B296-56C0D138DB94}"/>
                </a:ext>
              </a:extLst>
            </p:cNvPr>
            <p:cNvGrpSpPr/>
            <p:nvPr/>
          </p:nvGrpSpPr>
          <p:grpSpPr>
            <a:xfrm>
              <a:off x="2080054" y="1203189"/>
              <a:ext cx="8031892" cy="4913286"/>
              <a:chOff x="1795578" y="972357"/>
              <a:chExt cx="8031892" cy="4913286"/>
            </a:xfrm>
          </p:grpSpPr>
          <p:grpSp>
            <p:nvGrpSpPr>
              <p:cNvPr id="10" name="组合 9">
                <a:extLst>
                  <a:ext uri="{FF2B5EF4-FFF2-40B4-BE49-F238E27FC236}">
                    <a16:creationId xmlns:a16="http://schemas.microsoft.com/office/drawing/2014/main" id="{ED8A5C81-BDE1-0A4C-E787-7F9D764BB6A1}"/>
                  </a:ext>
                </a:extLst>
              </p:cNvPr>
              <p:cNvGrpSpPr/>
              <p:nvPr/>
            </p:nvGrpSpPr>
            <p:grpSpPr>
              <a:xfrm>
                <a:off x="2213171" y="972357"/>
                <a:ext cx="7206612" cy="1112109"/>
                <a:chOff x="2625811" y="1271192"/>
                <a:chExt cx="7206612" cy="1112109"/>
              </a:xfrm>
            </p:grpSpPr>
            <p:sp>
              <p:nvSpPr>
                <p:cNvPr id="9" name="矩形: 圆角 8">
                  <a:extLst>
                    <a:ext uri="{FF2B5EF4-FFF2-40B4-BE49-F238E27FC236}">
                      <a16:creationId xmlns:a16="http://schemas.microsoft.com/office/drawing/2014/main" id="{207568CD-92A9-4E1A-56A1-FD7835D30675}"/>
                    </a:ext>
                  </a:extLst>
                </p:cNvPr>
                <p:cNvSpPr/>
                <p:nvPr/>
              </p:nvSpPr>
              <p:spPr>
                <a:xfrm>
                  <a:off x="2625811" y="1271192"/>
                  <a:ext cx="7206612" cy="1112109"/>
                </a:xfrm>
                <a:prstGeom prst="round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" name="文本框 1">
                  <a:extLst>
                    <a:ext uri="{FF2B5EF4-FFF2-40B4-BE49-F238E27FC236}">
                      <a16:creationId xmlns:a16="http://schemas.microsoft.com/office/drawing/2014/main" id="{F1916CCB-2AC2-59BC-0477-492F2AFE0F22}"/>
                    </a:ext>
                  </a:extLst>
                </p:cNvPr>
                <p:cNvSpPr txBox="1"/>
                <p:nvPr/>
              </p:nvSpPr>
              <p:spPr>
                <a:xfrm>
                  <a:off x="3029943" y="1465609"/>
                  <a:ext cx="6388442" cy="7232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zh-CN" altLang="zh-CN" b="1" dirty="0">
                      <a:latin typeface="宋体" panose="02010600030101010101" pitchFamily="2" charset="-122"/>
                      <a:ea typeface="宋体" panose="02010600030101010101" pitchFamily="2" charset="-122"/>
                    </a:rPr>
                    <a:t>宗教世界观的肯定</a:t>
                  </a:r>
                  <a:endParaRPr lang="en-US" altLang="zh-CN" b="1" dirty="0"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  <a:p>
                  <a:pPr algn="ctr"/>
                  <a:endParaRPr lang="en-US" altLang="zh-CN" sz="500" b="1" dirty="0"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  <a:p>
                  <a:pPr algn="ctr"/>
                  <a:r>
                    <a:rPr lang="zh-CN" altLang="zh-CN" dirty="0">
                      <a:latin typeface="宋体" panose="02010600030101010101" pitchFamily="2" charset="-122"/>
                      <a:ea typeface="宋体" panose="02010600030101010101" pitchFamily="2" charset="-122"/>
                    </a:rPr>
                    <a:t>中世纪的宇宙观以</a:t>
                  </a:r>
                  <a:r>
                    <a:rPr lang="en-US" altLang="zh-CN" dirty="0">
                      <a:latin typeface="宋体" panose="02010600030101010101" pitchFamily="2" charset="-122"/>
                      <a:ea typeface="宋体" panose="02010600030101010101" pitchFamily="2" charset="-122"/>
                    </a:rPr>
                    <a:t>“</a:t>
                  </a:r>
                  <a:r>
                    <a:rPr lang="zh-CN" altLang="zh-CN" dirty="0">
                      <a:latin typeface="宋体" panose="02010600030101010101" pitchFamily="2" charset="-122"/>
                      <a:ea typeface="宋体" panose="02010600030101010101" pitchFamily="2" charset="-122"/>
                    </a:rPr>
                    <a:t>上帝中心</a:t>
                  </a:r>
                  <a:r>
                    <a:rPr lang="en-US" altLang="zh-CN" dirty="0">
                      <a:latin typeface="宋体" panose="02010600030101010101" pitchFamily="2" charset="-122"/>
                      <a:ea typeface="宋体" panose="02010600030101010101" pitchFamily="2" charset="-122"/>
                    </a:rPr>
                    <a:t>”</a:t>
                  </a:r>
                  <a:r>
                    <a:rPr lang="zh-CN" altLang="zh-CN" dirty="0">
                      <a:latin typeface="宋体" panose="02010600030101010101" pitchFamily="2" charset="-122"/>
                      <a:ea typeface="宋体" panose="02010600030101010101" pitchFamily="2" charset="-122"/>
                    </a:rPr>
                    <a:t>为轴，认为万物秩序体现神意</a:t>
                  </a:r>
                  <a:endParaRPr lang="zh-CN" altLang="en-US" sz="1400" dirty="0"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6" name="组合 5">
                <a:extLst>
                  <a:ext uri="{FF2B5EF4-FFF2-40B4-BE49-F238E27FC236}">
                    <a16:creationId xmlns:a16="http://schemas.microsoft.com/office/drawing/2014/main" id="{AC91647B-E7FF-D00D-1DF7-B5A18301531D}"/>
                  </a:ext>
                </a:extLst>
              </p:cNvPr>
              <p:cNvGrpSpPr/>
              <p:nvPr/>
            </p:nvGrpSpPr>
            <p:grpSpPr>
              <a:xfrm>
                <a:off x="1795578" y="2872945"/>
                <a:ext cx="8031892" cy="1112109"/>
                <a:chOff x="1822622" y="2440459"/>
                <a:chExt cx="8031892" cy="1112109"/>
              </a:xfrm>
            </p:grpSpPr>
            <p:sp>
              <p:nvSpPr>
                <p:cNvPr id="5" name="矩形: 圆角 4">
                  <a:extLst>
                    <a:ext uri="{FF2B5EF4-FFF2-40B4-BE49-F238E27FC236}">
                      <a16:creationId xmlns:a16="http://schemas.microsoft.com/office/drawing/2014/main" id="{F110FE57-0C7B-C81D-F7EA-D5DE8D7376CF}"/>
                    </a:ext>
                  </a:extLst>
                </p:cNvPr>
                <p:cNvSpPr/>
                <p:nvPr/>
              </p:nvSpPr>
              <p:spPr>
                <a:xfrm>
                  <a:off x="1822622" y="2440459"/>
                  <a:ext cx="8031892" cy="1112109"/>
                </a:xfrm>
                <a:prstGeom prst="round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" name="文本框 2">
                  <a:extLst>
                    <a:ext uri="{FF2B5EF4-FFF2-40B4-BE49-F238E27FC236}">
                      <a16:creationId xmlns:a16="http://schemas.microsoft.com/office/drawing/2014/main" id="{4F82A5B1-6906-735A-45C7-75C3001C6921}"/>
                    </a:ext>
                  </a:extLst>
                </p:cNvPr>
                <p:cNvSpPr txBox="1"/>
                <p:nvPr/>
              </p:nvSpPr>
              <p:spPr>
                <a:xfrm>
                  <a:off x="1951731" y="2668966"/>
                  <a:ext cx="7763768" cy="6463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zh-CN" altLang="en-US" dirty="0">
                      <a:latin typeface="宋体" panose="02010600030101010101" pitchFamily="2" charset="-122"/>
                      <a:ea typeface="宋体" panose="02010600030101010101" pitchFamily="2" charset="-122"/>
                    </a:rPr>
                    <a:t>以实验和数学为武器，用望远镜看见了与</a:t>
                  </a:r>
                  <a:r>
                    <a:rPr lang="en-US" altLang="zh-CN" dirty="0">
                      <a:latin typeface="宋体" panose="02010600030101010101" pitchFamily="2" charset="-122"/>
                      <a:ea typeface="宋体" panose="02010600030101010101" pitchFamily="2" charset="-122"/>
                    </a:rPr>
                    <a:t>《</a:t>
                  </a:r>
                  <a:r>
                    <a:rPr lang="zh-CN" altLang="en-US" dirty="0">
                      <a:latin typeface="宋体" panose="02010600030101010101" pitchFamily="2" charset="-122"/>
                      <a:ea typeface="宋体" panose="02010600030101010101" pitchFamily="2" charset="-122"/>
                    </a:rPr>
                    <a:t>圣经</a:t>
                  </a:r>
                  <a:r>
                    <a:rPr lang="en-US" altLang="zh-CN" dirty="0">
                      <a:latin typeface="宋体" panose="02010600030101010101" pitchFamily="2" charset="-122"/>
                      <a:ea typeface="宋体" panose="02010600030101010101" pitchFamily="2" charset="-122"/>
                    </a:rPr>
                    <a:t>》</a:t>
                  </a:r>
                  <a:r>
                    <a:rPr lang="zh-CN" altLang="en-US" dirty="0">
                      <a:latin typeface="宋体" panose="02010600030101010101" pitchFamily="2" charset="-122"/>
                      <a:ea typeface="宋体" panose="02010600030101010101" pitchFamily="2" charset="-122"/>
                    </a:rPr>
                    <a:t>不同的宇宙</a:t>
                  </a:r>
                  <a:endParaRPr lang="en-US" altLang="zh-CN" dirty="0"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  <a:p>
                  <a:pPr algn="ctr"/>
                  <a:r>
                    <a:rPr lang="zh-CN" altLang="en-US" dirty="0">
                      <a:latin typeface="宋体" panose="02010600030101010101" pitchFamily="2" charset="-122"/>
                      <a:ea typeface="宋体" panose="02010600030101010101" pitchFamily="2" charset="-122"/>
                    </a:rPr>
                    <a:t>否定了神学对自然的解释权</a:t>
                  </a:r>
                  <a:endParaRPr lang="zh-CN" altLang="en-US" sz="1400" dirty="0"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8" name="组合 7">
                <a:extLst>
                  <a:ext uri="{FF2B5EF4-FFF2-40B4-BE49-F238E27FC236}">
                    <a16:creationId xmlns:a16="http://schemas.microsoft.com/office/drawing/2014/main" id="{9F00B117-E1CE-8D9C-D804-57150AAD2BD5}"/>
                  </a:ext>
                </a:extLst>
              </p:cNvPr>
              <p:cNvGrpSpPr/>
              <p:nvPr/>
            </p:nvGrpSpPr>
            <p:grpSpPr>
              <a:xfrm>
                <a:off x="2075101" y="4773534"/>
                <a:ext cx="7482752" cy="1112109"/>
                <a:chOff x="2366809" y="3982998"/>
                <a:chExt cx="7482752" cy="1112109"/>
              </a:xfrm>
            </p:grpSpPr>
            <p:sp>
              <p:nvSpPr>
                <p:cNvPr id="7" name="矩形: 圆角 6">
                  <a:extLst>
                    <a:ext uri="{FF2B5EF4-FFF2-40B4-BE49-F238E27FC236}">
                      <a16:creationId xmlns:a16="http://schemas.microsoft.com/office/drawing/2014/main" id="{BD5C566A-17AD-2D3D-4E0E-AFEBE0CAE5D0}"/>
                    </a:ext>
                  </a:extLst>
                </p:cNvPr>
                <p:cNvSpPr/>
                <p:nvPr/>
              </p:nvSpPr>
              <p:spPr>
                <a:xfrm>
                  <a:off x="2366809" y="3982998"/>
                  <a:ext cx="7482752" cy="1112109"/>
                </a:xfrm>
                <a:prstGeom prst="round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1025D40B-B9FA-DB59-1DEA-06B2E45C9228}"/>
                    </a:ext>
                  </a:extLst>
                </p:cNvPr>
                <p:cNvSpPr txBox="1"/>
                <p:nvPr/>
              </p:nvSpPr>
              <p:spPr>
                <a:xfrm>
                  <a:off x="2634147" y="4215886"/>
                  <a:ext cx="6923706" cy="6463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zh-CN" altLang="en-US" dirty="0">
                      <a:latin typeface="宋体" panose="02010600030101010101" pitchFamily="2" charset="-122"/>
                      <a:ea typeface="宋体" panose="02010600030101010101" pitchFamily="2" charset="-122"/>
                    </a:rPr>
                    <a:t>现代科学并没有彻底排斥宗教意义</a:t>
                  </a:r>
                  <a:endParaRPr lang="en-US" altLang="zh-CN" dirty="0"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  <a:p>
                  <a:pPr algn="ctr"/>
                  <a:r>
                    <a:rPr lang="zh-CN" altLang="en-US" dirty="0">
                      <a:latin typeface="宋体" panose="02010600030101010101" pitchFamily="2" charset="-122"/>
                      <a:ea typeface="宋体" panose="02010600030101010101" pitchFamily="2" charset="-122"/>
                    </a:rPr>
                    <a:t>从更高层面重新理解了“秩序”“法则”“创造”等概念。</a:t>
                  </a:r>
                  <a:endParaRPr lang="zh-CN" altLang="en-US" sz="1600" dirty="0"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</p:grpSp>
          <p:cxnSp>
            <p:nvCxnSpPr>
              <p:cNvPr id="12" name="直接箭头连接符 11">
                <a:extLst>
                  <a:ext uri="{FF2B5EF4-FFF2-40B4-BE49-F238E27FC236}">
                    <a16:creationId xmlns:a16="http://schemas.microsoft.com/office/drawing/2014/main" id="{EBDDDA4F-6FF8-DCC4-CC28-B252F483F17C}"/>
                  </a:ext>
                </a:extLst>
              </p:cNvPr>
              <p:cNvCxnSpPr>
                <a:stCxn id="9" idx="2"/>
                <a:endCxn id="5" idx="0"/>
              </p:cNvCxnSpPr>
              <p:nvPr/>
            </p:nvCxnSpPr>
            <p:spPr>
              <a:xfrm flipH="1">
                <a:off x="5811524" y="2084466"/>
                <a:ext cx="4953" cy="788479"/>
              </a:xfrm>
              <a:prstGeom prst="straightConnector1">
                <a:avLst/>
              </a:prstGeom>
              <a:ln w="9525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" name="直接箭头连接符 13">
                <a:extLst>
                  <a:ext uri="{FF2B5EF4-FFF2-40B4-BE49-F238E27FC236}">
                    <a16:creationId xmlns:a16="http://schemas.microsoft.com/office/drawing/2014/main" id="{C92E3258-7168-06DB-54EB-A076671981CC}"/>
                  </a:ext>
                </a:extLst>
              </p:cNvPr>
              <p:cNvCxnSpPr>
                <a:stCxn id="5" idx="2"/>
                <a:endCxn id="7" idx="0"/>
              </p:cNvCxnSpPr>
              <p:nvPr/>
            </p:nvCxnSpPr>
            <p:spPr>
              <a:xfrm>
                <a:off x="5811524" y="3985054"/>
                <a:ext cx="4953" cy="788480"/>
              </a:xfrm>
              <a:prstGeom prst="straightConnector1">
                <a:avLst/>
              </a:prstGeom>
              <a:ln w="9525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66E0A3F9-C68E-FB7E-3B3F-09E9E2D31F49}"/>
                </a:ext>
              </a:extLst>
            </p:cNvPr>
            <p:cNvSpPr txBox="1"/>
            <p:nvPr/>
          </p:nvSpPr>
          <p:spPr>
            <a:xfrm>
              <a:off x="6036276" y="2519002"/>
              <a:ext cx="122949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600" dirty="0">
                  <a:latin typeface="黑体" panose="02010609060101010101" pitchFamily="49" charset="-122"/>
                  <a:ea typeface="黑体" panose="02010609060101010101" pitchFamily="49" charset="-122"/>
                </a:rPr>
                <a:t>第一重否定</a:t>
              </a:r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8588FF53-98B1-73B9-9896-5F085FC2521F}"/>
                </a:ext>
              </a:extLst>
            </p:cNvPr>
            <p:cNvSpPr txBox="1"/>
            <p:nvPr/>
          </p:nvSpPr>
          <p:spPr>
            <a:xfrm>
              <a:off x="6042454" y="4440849"/>
              <a:ext cx="122949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600" dirty="0">
                  <a:latin typeface="黑体" panose="02010609060101010101" pitchFamily="49" charset="-122"/>
                  <a:ea typeface="黑体" panose="02010609060101010101" pitchFamily="49" charset="-122"/>
                </a:rPr>
                <a:t>否定之否定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2339833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ZWNmMTdiZjYwYTE0N2JiZTY2ZmQwZjRkNjc0ZWQ1ZjMifQ=="/>
</p:tagLst>
</file>

<file path=ppt/theme/theme1.xml><?xml version="1.0" encoding="utf-8"?>
<a:theme xmlns:a="http://schemas.openxmlformats.org/drawingml/2006/main" name="2023国科大融媒体编辑部出品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305</TotalTime>
  <Words>856</Words>
  <Application>Microsoft Office PowerPoint</Application>
  <PresentationFormat>宽屏</PresentationFormat>
  <Paragraphs>76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9" baseType="lpstr">
      <vt:lpstr>FZShengShiKaiShuS-EB-GB</vt:lpstr>
      <vt:lpstr>HiddenHorzOCR</vt:lpstr>
      <vt:lpstr>等线</vt:lpstr>
      <vt:lpstr>等线 Light</vt:lpstr>
      <vt:lpstr>黑体</vt:lpstr>
      <vt:lpstr>华光标题宋_CNKI</vt:lpstr>
      <vt:lpstr>宋体</vt:lpstr>
      <vt:lpstr>Arial</vt:lpstr>
      <vt:lpstr>Times New Roman</vt:lpstr>
      <vt:lpstr>2023国科大融媒体编辑部出品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subject/>
  <dc:creator/>
  <cp:keywords/>
  <dc:description/>
  <cp:lastModifiedBy>John li</cp:lastModifiedBy>
  <cp:revision>24</cp:revision>
  <dcterms:created xsi:type="dcterms:W3CDTF">2023-11-01T11:54:46Z</dcterms:created>
  <dcterms:modified xsi:type="dcterms:W3CDTF">2025-10-11T15:33:07Z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83F5495A32694641804D15F2DB89D9FB_12</vt:lpwstr>
  </property>
  <property fmtid="{D5CDD505-2E9C-101B-9397-08002B2CF9AE}" pid="3" name="KSOProductBuildVer">
    <vt:lpwstr>2052-5.5.0.7954</vt:lpwstr>
  </property>
</Properties>
</file>