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1" r:id="rId2"/>
    <p:sldId id="298" r:id="rId3"/>
    <p:sldId id="302" r:id="rId4"/>
    <p:sldId id="300" r:id="rId5"/>
    <p:sldId id="301" r:id="rId6"/>
    <p:sldId id="303" r:id="rId7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ngke@JLU" initials="F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5819"/>
    <a:srgbClr val="E38239"/>
    <a:srgbClr val="CD773C"/>
    <a:srgbClr val="174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09" autoAdjust="0"/>
    <p:restoredTop sz="94660"/>
  </p:normalViewPr>
  <p:slideViewPr>
    <p:cSldViewPr snapToGrid="0">
      <p:cViewPr varScale="1">
        <p:scale>
          <a:sx n="99" d="100"/>
          <a:sy n="99" d="100"/>
        </p:scale>
        <p:origin x="20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5BAD-2394-4612-9617-4CB2CDBF0983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B5BAD-2394-4612-9617-4CB2CDBF0983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326D4-EF95-420F-AE7E-D1272D9B08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/>
          <p:cNvSpPr/>
          <p:nvPr/>
        </p:nvSpPr>
        <p:spPr>
          <a:xfrm flipH="1">
            <a:off x="4926379" y="-1643605"/>
            <a:ext cx="7423807" cy="8501605"/>
          </a:xfrm>
          <a:custGeom>
            <a:avLst/>
            <a:gdLst>
              <a:gd name="connsiteX0" fmla="*/ 1746778 w 7423807"/>
              <a:gd name="connsiteY0" fmla="*/ 0 h 8501605"/>
              <a:gd name="connsiteX1" fmla="*/ 1746778 w 7423807"/>
              <a:gd name="connsiteY1" fmla="*/ 1 h 8501605"/>
              <a:gd name="connsiteX2" fmla="*/ 0 w 7423807"/>
              <a:gd name="connsiteY2" fmla="*/ 1 h 8501605"/>
              <a:gd name="connsiteX3" fmla="*/ 0 w 7423807"/>
              <a:gd name="connsiteY3" fmla="*/ 2747956 h 8501605"/>
              <a:gd name="connsiteX4" fmla="*/ 3805464 w 7423807"/>
              <a:gd name="connsiteY4" fmla="*/ 8501605 h 8501605"/>
              <a:gd name="connsiteX5" fmla="*/ 7423807 w 7423807"/>
              <a:gd name="connsiteY5" fmla="*/ 8501605 h 8501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3807" h="8501605">
                <a:moveTo>
                  <a:pt x="1746778" y="0"/>
                </a:moveTo>
                <a:lnTo>
                  <a:pt x="1746778" y="1"/>
                </a:lnTo>
                <a:lnTo>
                  <a:pt x="0" y="1"/>
                </a:lnTo>
                <a:lnTo>
                  <a:pt x="0" y="2747956"/>
                </a:lnTo>
                <a:lnTo>
                  <a:pt x="3805464" y="8501605"/>
                </a:lnTo>
                <a:lnTo>
                  <a:pt x="7423807" y="8501605"/>
                </a:lnTo>
                <a:close/>
              </a:path>
            </a:pathLst>
          </a:cu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87506" y="2989886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伽利略与教会的冲突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21112" y="3586628"/>
            <a:ext cx="35845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  <a:cs typeface="阿里巴巴普惠体 L" panose="00020600040101010101" pitchFamily="18" charset="-122"/>
              </a:rPr>
              <a:t>Please input your topic here</a:t>
            </a:r>
          </a:p>
        </p:txBody>
      </p:sp>
      <p:sp>
        <p:nvSpPr>
          <p:cNvPr id="28" name="矩形 27"/>
          <p:cNvSpPr/>
          <p:nvPr/>
        </p:nvSpPr>
        <p:spPr>
          <a:xfrm>
            <a:off x="424113" y="1522062"/>
            <a:ext cx="1210588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0" dirty="0"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03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0788" y="1754570"/>
            <a:ext cx="6140100" cy="3070050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287506" y="4985417"/>
            <a:ext cx="350521" cy="35052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38027" y="5335938"/>
            <a:ext cx="350521" cy="350521"/>
          </a:xfrm>
          <a:prstGeom prst="rect">
            <a:avLst/>
          </a:prstGeom>
          <a:solidFill>
            <a:srgbClr val="E38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287506" y="5686459"/>
            <a:ext cx="350521" cy="35052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0" y="6418175"/>
            <a:ext cx="12192000" cy="461657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 flipV="1">
            <a:off x="4926379" y="5331240"/>
            <a:ext cx="710687" cy="1144512"/>
          </a:xfrm>
          <a:prstGeom prst="line">
            <a:avLst/>
          </a:prstGeom>
          <a:ln w="114300">
            <a:solidFill>
              <a:srgbClr val="AF58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图片 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 rot="16200000">
            <a:off x="2316659" y="4354149"/>
            <a:ext cx="459740" cy="45161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charset="0"/>
                <a:ea typeface="思源黑体" panose="020B0400000000000000" charset="-122"/>
              </a:rPr>
              <a:t>University of Chinese Academy of Sciences</a:t>
            </a: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8540621" y="-204930"/>
            <a:ext cx="710687" cy="1144512"/>
          </a:xfrm>
          <a:prstGeom prst="line">
            <a:avLst/>
          </a:prstGeom>
          <a:ln w="114300">
            <a:solidFill>
              <a:srgbClr val="AF58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B48C3E70-7A60-C2BB-F1B6-2B3AC8206C09}"/>
              </a:ext>
            </a:extLst>
          </p:cNvPr>
          <p:cNvGrpSpPr/>
          <p:nvPr/>
        </p:nvGrpSpPr>
        <p:grpSpPr>
          <a:xfrm>
            <a:off x="4759273" y="1046515"/>
            <a:ext cx="6767317" cy="2985893"/>
            <a:chOff x="4759275" y="1667098"/>
            <a:chExt cx="6767317" cy="2985893"/>
          </a:xfrm>
        </p:grpSpPr>
        <p:sp>
          <p:nvSpPr>
            <p:cNvPr id="7" name="圆角矩形 3"/>
            <p:cNvSpPr>
              <a:spLocks noChangeArrowheads="1"/>
            </p:cNvSpPr>
            <p:nvPr/>
          </p:nvSpPr>
          <p:spPr>
            <a:xfrm>
              <a:off x="4759275" y="2005502"/>
              <a:ext cx="6767317" cy="2647489"/>
            </a:xfrm>
            <a:prstGeom prst="roundRect">
              <a:avLst>
                <a:gd name="adj" fmla="val 9083"/>
              </a:avLst>
            </a:prstGeom>
            <a:solidFill>
              <a:srgbClr val="FFFFFF"/>
            </a:solidFill>
            <a:ln w="12700">
              <a:solidFill>
                <a:srgbClr val="9A0000"/>
              </a:solidFill>
              <a:round/>
            </a:ln>
          </p:spPr>
          <p:txBody>
            <a:bodyPr anchor="ctr"/>
            <a:lstStyle>
              <a:lvl1pPr lvl="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 algn="ctr"/>
              <a:endParaRPr lang="zh-CN" sz="2000">
                <a:solidFill>
                  <a:srgbClr val="FFFFFF"/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8" name="矩形 4"/>
            <p:cNvSpPr>
              <a:spLocks noChangeArrowheads="1"/>
            </p:cNvSpPr>
            <p:nvPr/>
          </p:nvSpPr>
          <p:spPr>
            <a:xfrm>
              <a:off x="5250678" y="2472345"/>
              <a:ext cx="5784512" cy="188474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lvl="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>
                <a:lnSpc>
                  <a:spcPts val="2560"/>
                </a:lnSpc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    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1609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年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10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月，伽利略制成了可以放大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32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倍的望远镜，他开始进行观测并记录下了许多发现：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  <a:p>
              <a:pPr marL="285750">
                <a:lnSpc>
                  <a:spcPts val="256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月球表面并非光滑完美，而是坑坑洼洼、凹凸不平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  <a:p>
              <a:pPr marL="285750">
                <a:lnSpc>
                  <a:spcPts val="256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木星拥有四颗卫星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  <a:p>
              <a:pPr marL="285750">
                <a:lnSpc>
                  <a:spcPts val="256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金星呈现出类似月亮的“盈亏相位变化”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</p:txBody>
        </p:sp>
        <p:sp>
          <p:nvSpPr>
            <p:cNvPr id="11" name="圆角矩形 7"/>
            <p:cNvSpPr>
              <a:spLocks noChangeArrowheads="1"/>
            </p:cNvSpPr>
            <p:nvPr/>
          </p:nvSpPr>
          <p:spPr>
            <a:xfrm>
              <a:off x="5739741" y="1667098"/>
              <a:ext cx="4834466" cy="552605"/>
            </a:xfrm>
            <a:prstGeom prst="roundRect">
              <a:avLst>
                <a:gd name="adj" fmla="val 16667"/>
              </a:avLst>
            </a:prstGeom>
            <a:solidFill>
              <a:srgbClr val="AF5819"/>
            </a:solidFill>
            <a:ln>
              <a:noFill/>
            </a:ln>
          </p:spPr>
          <p:txBody>
            <a:bodyPr anchor="ctr"/>
            <a:lstStyle>
              <a:lvl1pPr lvl="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 algn="ctr"/>
              <a:endParaRPr lang="zh-CN" sz="2000">
                <a:solidFill>
                  <a:srgbClr val="FFFFFF"/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12" name="文本框 8"/>
            <p:cNvSpPr txBox="1">
              <a:spLocks noChangeArrowheads="1"/>
            </p:cNvSpPr>
            <p:nvPr/>
          </p:nvSpPr>
          <p:spPr>
            <a:xfrm>
              <a:off x="5680070" y="1681790"/>
              <a:ext cx="49538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lvl="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charset="0"/>
                  <a:ea typeface="思源黑体" panose="020B0400000000000000" charset="-122"/>
                </a:rPr>
                <a:t>望远镜下的新世界</a:t>
              </a:r>
              <a:endParaRPr lang="zh-CN" sz="2800" b="1" dirty="0">
                <a:solidFill>
                  <a:schemeClr val="bg1"/>
                </a:solidFill>
                <a:latin typeface="Times New Roman" panose="02020603050405020304" charset="0"/>
                <a:ea typeface="思源黑体" panose="020B0400000000000000" charset="-122"/>
              </a:endParaRPr>
            </a:p>
          </p:txBody>
        </p:sp>
      </p:grpSp>
      <p:sp>
        <p:nvSpPr>
          <p:cNvPr id="15" name="平行四边形 14"/>
          <p:cNvSpPr/>
          <p:nvPr/>
        </p:nvSpPr>
        <p:spPr>
          <a:xfrm>
            <a:off x="8855234" y="0"/>
            <a:ext cx="396160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17" name="平行四边形 16"/>
          <p:cNvSpPr/>
          <p:nvPr/>
        </p:nvSpPr>
        <p:spPr>
          <a:xfrm>
            <a:off x="-487680" y="0"/>
            <a:ext cx="136475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9"/>
          <p:cNvSpPr txBox="1"/>
          <p:nvPr/>
        </p:nvSpPr>
        <p:spPr>
          <a:xfrm>
            <a:off x="877076" y="109657"/>
            <a:ext cx="5444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/>
              </a:defRPr>
            </a:lvl1pPr>
          </a:lstStyle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地心说</a:t>
            </a:r>
            <a:r>
              <a:rPr lang="en-US" altLang="zh-CN" sz="4000" b="1" dirty="0"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vs</a:t>
            </a:r>
            <a:r>
              <a:rPr lang="zh-CN" altLang="en-US" sz="4000" b="1" dirty="0"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日心说</a:t>
            </a:r>
            <a:endParaRPr lang="zh-CN" sz="4000" b="1" u="none" strike="noStrike" kern="1200" spc="0" baseline="0" dirty="0">
              <a:ln>
                <a:noFill/>
              </a:ln>
              <a:solidFill>
                <a:srgbClr val="AF5819"/>
              </a:solidFill>
              <a:latin typeface="Times New Roman" panose="02020603050405020304" charset="0"/>
              <a:ea typeface="思源黑体" panose="020B0400000000000000" charset="-122"/>
            </a:endParaRPr>
          </a:p>
        </p:txBody>
      </p:sp>
      <p:sp>
        <p:nvSpPr>
          <p:cNvPr id="29" name="矩形 28"/>
          <p:cNvSpPr/>
          <p:nvPr/>
        </p:nvSpPr>
        <p:spPr>
          <a:xfrm flipV="1">
            <a:off x="0" y="6748343"/>
            <a:ext cx="4682001" cy="12874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C65C39E-193B-083D-FE7D-3402EF305108}"/>
              </a:ext>
            </a:extLst>
          </p:cNvPr>
          <p:cNvGrpSpPr/>
          <p:nvPr/>
        </p:nvGrpSpPr>
        <p:grpSpPr>
          <a:xfrm>
            <a:off x="293738" y="1087186"/>
            <a:ext cx="4083169" cy="5050736"/>
            <a:chOff x="293738" y="1087186"/>
            <a:chExt cx="4083169" cy="5050736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62230" y="1087186"/>
              <a:ext cx="3255978" cy="4673546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46A0B8E-8EB6-DD48-F43D-E32272E891F1}"/>
                </a:ext>
              </a:extLst>
            </p:cNvPr>
            <p:cNvSpPr txBox="1"/>
            <p:nvPr/>
          </p:nvSpPr>
          <p:spPr>
            <a:xfrm>
              <a:off x="293738" y="5799368"/>
              <a:ext cx="40831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Times New Roman" panose="02020603050405020304" charset="0"/>
                  <a:ea typeface="思源黑体" panose="020B0400000000000000" charset="-122"/>
                </a:rPr>
                <a:t>伽利略手绘的他在望远镜中看到的月球表面</a:t>
              </a: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53FFCD83-044B-6F72-3F14-61D06284BE8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1" t="15114" r="3162"/>
          <a:stretch/>
        </p:blipFill>
        <p:spPr>
          <a:xfrm>
            <a:off x="5680068" y="4344702"/>
            <a:ext cx="4953808" cy="197837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858C759-E696-D1E6-454C-5A653D85F37F}"/>
              </a:ext>
            </a:extLst>
          </p:cNvPr>
          <p:cNvSpPr txBox="1"/>
          <p:nvPr/>
        </p:nvSpPr>
        <p:spPr>
          <a:xfrm>
            <a:off x="7141309" y="6348837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Times New Roman" panose="02020603050405020304" charset="0"/>
                <a:ea typeface="思源黑体" panose="020B0400000000000000" charset="-122"/>
              </a:rPr>
              <a:t>伽利略自制的望远镜</a:t>
            </a:r>
          </a:p>
        </p:txBody>
      </p:sp>
    </p:spTree>
    <p:extLst>
      <p:ext uri="{BB962C8B-B14F-4D97-AF65-F5344CB8AC3E}">
        <p14:creationId xmlns:p14="http://schemas.microsoft.com/office/powerpoint/2010/main" val="1895749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边形 14"/>
          <p:cNvSpPr/>
          <p:nvPr/>
        </p:nvSpPr>
        <p:spPr>
          <a:xfrm>
            <a:off x="8855234" y="0"/>
            <a:ext cx="396160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17" name="平行四边形 16"/>
          <p:cNvSpPr/>
          <p:nvPr/>
        </p:nvSpPr>
        <p:spPr>
          <a:xfrm>
            <a:off x="-487680" y="0"/>
            <a:ext cx="136475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9"/>
          <p:cNvSpPr txBox="1"/>
          <p:nvPr/>
        </p:nvSpPr>
        <p:spPr>
          <a:xfrm>
            <a:off x="877076" y="109657"/>
            <a:ext cx="5444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/>
              </a:defRPr>
            </a:lvl1pPr>
          </a:lstStyle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 u="none" strike="noStrike" kern="1200" spc="0" baseline="0" dirty="0">
                <a:ln>
                  <a:noFill/>
                </a:ln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伽利略事件</a:t>
            </a:r>
            <a:endParaRPr lang="zh-CN" sz="4000" b="1" u="none" strike="noStrike" kern="1200" spc="0" baseline="0" dirty="0">
              <a:ln>
                <a:noFill/>
              </a:ln>
              <a:solidFill>
                <a:srgbClr val="AF5819"/>
              </a:solidFill>
              <a:latin typeface="Times New Roman" panose="02020603050405020304" charset="0"/>
              <a:ea typeface="思源黑体" panose="020B0400000000000000" charset="-122"/>
            </a:endParaRPr>
          </a:p>
        </p:txBody>
      </p:sp>
      <p:sp>
        <p:nvSpPr>
          <p:cNvPr id="29" name="矩形 28"/>
          <p:cNvSpPr/>
          <p:nvPr/>
        </p:nvSpPr>
        <p:spPr>
          <a:xfrm flipV="1">
            <a:off x="0" y="6748343"/>
            <a:ext cx="4682001" cy="12874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0EC8057-5382-D29C-60ED-8043DE16AB75}"/>
              </a:ext>
            </a:extLst>
          </p:cNvPr>
          <p:cNvGrpSpPr/>
          <p:nvPr/>
        </p:nvGrpSpPr>
        <p:grpSpPr>
          <a:xfrm>
            <a:off x="508418" y="3095416"/>
            <a:ext cx="2892361" cy="2068295"/>
            <a:chOff x="508418" y="3095416"/>
            <a:chExt cx="2892361" cy="2068295"/>
          </a:xfrm>
        </p:grpSpPr>
        <p:sp>
          <p:nvSpPr>
            <p:cNvPr id="6" name="Shape 332">
              <a:extLst>
                <a:ext uri="{FF2B5EF4-FFF2-40B4-BE49-F238E27FC236}">
                  <a16:creationId xmlns:a16="http://schemas.microsoft.com/office/drawing/2014/main" id="{564D231D-119B-B98F-5A00-AF8C7F9545BE}"/>
                </a:ext>
              </a:extLst>
            </p:cNvPr>
            <p:cNvSpPr/>
            <p:nvPr/>
          </p:nvSpPr>
          <p:spPr>
            <a:xfrm>
              <a:off x="508418" y="3095416"/>
              <a:ext cx="2892361" cy="723679"/>
            </a:xfrm>
            <a:custGeom>
              <a:avLst/>
              <a:gdLst/>
              <a:ahLst/>
              <a:cxnLst/>
              <a:rect l="0" t="0" r="r" b="b"/>
              <a:pathLst>
                <a:path w="2776294" h="635001">
                  <a:moveTo>
                    <a:pt x="2470189" y="635001"/>
                  </a:moveTo>
                  <a:cubicBezTo>
                    <a:pt x="29324" y="635001"/>
                    <a:pt x="29324" y="635001"/>
                    <a:pt x="29324" y="635001"/>
                  </a:cubicBezTo>
                  <a:cubicBezTo>
                    <a:pt x="14662" y="635001"/>
                    <a:pt x="0" y="623977"/>
                    <a:pt x="0" y="612982"/>
                  </a:cubicBezTo>
                  <a:cubicBezTo>
                    <a:pt x="0" y="18344"/>
                    <a:pt x="0" y="18344"/>
                    <a:pt x="0" y="18344"/>
                  </a:cubicBezTo>
                  <a:cubicBezTo>
                    <a:pt x="0" y="7350"/>
                    <a:pt x="14662" y="0"/>
                    <a:pt x="29324" y="0"/>
                  </a:cubicBezTo>
                  <a:cubicBezTo>
                    <a:pt x="2470189" y="0"/>
                    <a:pt x="2470189" y="0"/>
                    <a:pt x="2470189" y="0"/>
                  </a:cubicBezTo>
                  <a:cubicBezTo>
                    <a:pt x="2481250" y="0"/>
                    <a:pt x="2488581" y="3675"/>
                    <a:pt x="2492182" y="7350"/>
                  </a:cubicBezTo>
                  <a:cubicBezTo>
                    <a:pt x="2770764" y="304653"/>
                    <a:pt x="2770764" y="304653"/>
                    <a:pt x="2770764" y="304653"/>
                  </a:cubicBezTo>
                  <a:cubicBezTo>
                    <a:pt x="2778095" y="312003"/>
                    <a:pt x="2778095" y="319323"/>
                    <a:pt x="2770764" y="326673"/>
                  </a:cubicBezTo>
                  <a:cubicBezTo>
                    <a:pt x="2492182" y="623977"/>
                    <a:pt x="2492182" y="623977"/>
                    <a:pt x="2492182" y="623977"/>
                  </a:cubicBezTo>
                  <a:cubicBezTo>
                    <a:pt x="2488581" y="631326"/>
                    <a:pt x="2481250" y="635001"/>
                    <a:pt x="2470189" y="635001"/>
                  </a:cubicBezTo>
                  <a:close/>
                </a:path>
              </a:pathLst>
            </a:custGeom>
            <a:solidFill>
              <a:srgbClr val="AF5819"/>
            </a:solidFill>
            <a:ln w="12700">
              <a:miter/>
            </a:ln>
          </p:spPr>
          <p:txBody>
            <a:bodyPr lIns="45719" rIns="45719"/>
            <a:lstStyle/>
            <a:p>
              <a:endParaRPr sz="1100">
                <a:solidFill>
                  <a:schemeClr val="tx1">
                    <a:lumMod val="50000"/>
                    <a:lumOff val="50000"/>
                  </a:schemeClr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10" name="TextBox 27">
              <a:extLst>
                <a:ext uri="{FF2B5EF4-FFF2-40B4-BE49-F238E27FC236}">
                  <a16:creationId xmlns:a16="http://schemas.microsoft.com/office/drawing/2014/main" id="{18C6D8E9-FFE9-82AF-9241-7BFCBC64E67B}"/>
                </a:ext>
              </a:extLst>
            </p:cNvPr>
            <p:cNvSpPr txBox="1"/>
            <p:nvPr/>
          </p:nvSpPr>
          <p:spPr>
            <a:xfrm>
              <a:off x="1342648" y="3248914"/>
              <a:ext cx="904053" cy="5418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1828165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dirty="0">
                  <a:solidFill>
                    <a:schemeClr val="bg1"/>
                  </a:solidFill>
                  <a:latin typeface="华光标题宋_CNKI" panose="02000500000000000000" pitchFamily="2" charset="-122"/>
                  <a:ea typeface="华光标题宋_CNKI" panose="02000500000000000000" pitchFamily="2" charset="-122"/>
                </a:rPr>
                <a:t>1610</a:t>
              </a:r>
              <a:endParaRPr lang="id-ID" sz="2400" b="1" dirty="0">
                <a:solidFill>
                  <a:schemeClr val="bg1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endParaRPr>
            </a:p>
          </p:txBody>
        </p:sp>
        <p:cxnSp>
          <p:nvCxnSpPr>
            <p:cNvPr id="14" name="Straight Connector 34">
              <a:extLst>
                <a:ext uri="{FF2B5EF4-FFF2-40B4-BE49-F238E27FC236}">
                  <a16:creationId xmlns:a16="http://schemas.microsoft.com/office/drawing/2014/main" id="{BC0F0C62-F690-ACD9-4485-F73C48C069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8144" y="3854686"/>
              <a:ext cx="0" cy="693429"/>
            </a:xfrm>
            <a:prstGeom prst="line">
              <a:avLst/>
            </a:prstGeom>
            <a:ln w="38100">
              <a:solidFill>
                <a:srgbClr val="AF5819"/>
              </a:solidFill>
              <a:prstDash val="sysDash"/>
              <a:miter/>
              <a:headEnd type="arrow"/>
            </a:ln>
          </p:spPr>
        </p:cxn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D88BDFE-AEA2-CB3C-387A-2608AEFAFF66}"/>
                </a:ext>
              </a:extLst>
            </p:cNvPr>
            <p:cNvGrpSpPr/>
            <p:nvPr/>
          </p:nvGrpSpPr>
          <p:grpSpPr>
            <a:xfrm>
              <a:off x="511620" y="4658434"/>
              <a:ext cx="2546515" cy="505277"/>
              <a:chOff x="2345506" y="4519984"/>
              <a:chExt cx="2272100" cy="430509"/>
            </a:xfrm>
          </p:grpSpPr>
          <p:sp>
            <p:nvSpPr>
              <p:cNvPr id="32" name="矩形: 圆角 35">
                <a:extLst>
                  <a:ext uri="{FF2B5EF4-FFF2-40B4-BE49-F238E27FC236}">
                    <a16:creationId xmlns:a16="http://schemas.microsoft.com/office/drawing/2014/main" id="{984B7ECF-0B09-91DA-570C-0B5159B4D4EB}"/>
                  </a:ext>
                </a:extLst>
              </p:cNvPr>
              <p:cNvSpPr/>
              <p:nvPr/>
            </p:nvSpPr>
            <p:spPr>
              <a:xfrm>
                <a:off x="2420401" y="4519984"/>
                <a:ext cx="2197205" cy="430509"/>
              </a:xfrm>
              <a:prstGeom prst="roundRect">
                <a:avLst>
                  <a:gd name="adj" fmla="val 50000"/>
                </a:avLst>
              </a:prstGeom>
              <a:solidFill>
                <a:srgbClr val="AF58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Box 66">
                <a:extLst>
                  <a:ext uri="{FF2B5EF4-FFF2-40B4-BE49-F238E27FC236}">
                    <a16:creationId xmlns:a16="http://schemas.microsoft.com/office/drawing/2014/main" id="{054DCA45-9E1E-3F20-08B7-CE5D684E38DD}"/>
                  </a:ext>
                </a:extLst>
              </p:cNvPr>
              <p:cNvSpPr txBox="1"/>
              <p:nvPr/>
            </p:nvSpPr>
            <p:spPr>
              <a:xfrm>
                <a:off x="2345506" y="4535183"/>
                <a:ext cx="2236510" cy="400110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algn="r"/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出版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《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星际使者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》</a:t>
                </a:r>
                <a:endParaRPr lang="zh-CN" sz="2000" b="1" dirty="0">
                  <a:solidFill>
                    <a:schemeClr val="bg1"/>
                  </a:solidFill>
                  <a:latin typeface="Times New Roman" panose="02020603050405020304" charset="0"/>
                  <a:ea typeface="思源黑体" panose="020B0400000000000000" charset="-122"/>
                </a:endParaRPr>
              </a:p>
            </p:txBody>
          </p:sp>
        </p:grpSp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446DB858-491A-DC59-272A-1E3F9609B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796" y="1457579"/>
            <a:ext cx="2588790" cy="4124513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10AEF9F5-D4AD-D3D1-7D26-E8F5025D4B90}"/>
              </a:ext>
            </a:extLst>
          </p:cNvPr>
          <p:cNvGrpSpPr/>
          <p:nvPr/>
        </p:nvGrpSpPr>
        <p:grpSpPr>
          <a:xfrm>
            <a:off x="3720074" y="2689147"/>
            <a:ext cx="4084261" cy="2294977"/>
            <a:chOff x="7043085" y="2640169"/>
            <a:chExt cx="4090091" cy="1849227"/>
          </a:xfrm>
        </p:grpSpPr>
        <p:sp>
          <p:nvSpPr>
            <p:cNvPr id="3" name="圆角矩形 3">
              <a:extLst>
                <a:ext uri="{FF2B5EF4-FFF2-40B4-BE49-F238E27FC236}">
                  <a16:creationId xmlns:a16="http://schemas.microsoft.com/office/drawing/2014/main" id="{7F4DB85F-1BCD-5A27-41D6-3E9094C30617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043085" y="2640169"/>
              <a:ext cx="4090091" cy="1661376"/>
            </a:xfrm>
            <a:prstGeom prst="roundRect">
              <a:avLst>
                <a:gd name="adj" fmla="val 9083"/>
              </a:avLst>
            </a:prstGeom>
            <a:solidFill>
              <a:srgbClr val="FFFFFF"/>
            </a:solidFill>
            <a:ln w="12700">
              <a:solidFill>
                <a:srgbClr val="9A0000"/>
              </a:solidFill>
              <a:round/>
            </a:ln>
          </p:spPr>
          <p:txBody>
            <a:bodyPr anchor="ctr"/>
            <a:lstStyle>
              <a:lvl1pPr lvl="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 algn="ctr"/>
              <a:endParaRPr lang="zh-CN" sz="2000">
                <a:solidFill>
                  <a:srgbClr val="FFFFFF"/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2" name="矩形 4">
              <a:extLst>
                <a:ext uri="{FF2B5EF4-FFF2-40B4-BE49-F238E27FC236}">
                  <a16:creationId xmlns:a16="http://schemas.microsoft.com/office/drawing/2014/main" id="{54552E3B-F0C4-797D-7221-4D22C0CCF86B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120053" y="2758538"/>
              <a:ext cx="3961606" cy="17308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lvl="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>
                <a:lnSpc>
                  <a:spcPts val="2560"/>
                </a:lnSpc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        给当时的神学家和自然哲学家带来了极大困扰，这些事实都与罗马天主教会支持并认可的托勒密地心说模型相矛盾，反而支持了哥白尼日心说模型。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037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边形 14"/>
          <p:cNvSpPr/>
          <p:nvPr/>
        </p:nvSpPr>
        <p:spPr>
          <a:xfrm>
            <a:off x="8855234" y="0"/>
            <a:ext cx="396160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17" name="平行四边形 16"/>
          <p:cNvSpPr/>
          <p:nvPr/>
        </p:nvSpPr>
        <p:spPr>
          <a:xfrm>
            <a:off x="-487680" y="0"/>
            <a:ext cx="136475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9"/>
          <p:cNvSpPr txBox="1"/>
          <p:nvPr/>
        </p:nvSpPr>
        <p:spPr>
          <a:xfrm>
            <a:off x="877076" y="109657"/>
            <a:ext cx="5444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/>
              </a:defRPr>
            </a:lvl1pPr>
          </a:lstStyle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 u="none" strike="noStrike" kern="1200" spc="0" baseline="0" dirty="0">
                <a:ln>
                  <a:noFill/>
                </a:ln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伽利略事件</a:t>
            </a:r>
            <a:endParaRPr lang="zh-CN" sz="4000" b="1" u="none" strike="noStrike" kern="1200" spc="0" baseline="0" dirty="0">
              <a:ln>
                <a:noFill/>
              </a:ln>
              <a:solidFill>
                <a:srgbClr val="AF5819"/>
              </a:solidFill>
              <a:latin typeface="Times New Roman" panose="02020603050405020304" charset="0"/>
              <a:ea typeface="思源黑体" panose="020B0400000000000000" charset="-122"/>
            </a:endParaRPr>
          </a:p>
        </p:txBody>
      </p:sp>
      <p:sp>
        <p:nvSpPr>
          <p:cNvPr id="29" name="矩形 28"/>
          <p:cNvSpPr/>
          <p:nvPr/>
        </p:nvSpPr>
        <p:spPr>
          <a:xfrm flipV="1">
            <a:off x="0" y="6748343"/>
            <a:ext cx="4682001" cy="12874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D66BD42-C440-AD0A-4883-C966597E4790}"/>
              </a:ext>
            </a:extLst>
          </p:cNvPr>
          <p:cNvGrpSpPr/>
          <p:nvPr/>
        </p:nvGrpSpPr>
        <p:grpSpPr>
          <a:xfrm>
            <a:off x="3260873" y="1694288"/>
            <a:ext cx="2867134" cy="2124807"/>
            <a:chOff x="3260873" y="1694288"/>
            <a:chExt cx="2867134" cy="2124807"/>
          </a:xfrm>
        </p:grpSpPr>
        <p:sp>
          <p:nvSpPr>
            <p:cNvPr id="7" name="Shape 333">
              <a:extLst>
                <a:ext uri="{FF2B5EF4-FFF2-40B4-BE49-F238E27FC236}">
                  <a16:creationId xmlns:a16="http://schemas.microsoft.com/office/drawing/2014/main" id="{4533310E-5663-B4A5-4B02-E59B422AB4FC}"/>
                </a:ext>
              </a:extLst>
            </p:cNvPr>
            <p:cNvSpPr/>
            <p:nvPr/>
          </p:nvSpPr>
          <p:spPr>
            <a:xfrm>
              <a:off x="3260873" y="3095416"/>
              <a:ext cx="2867134" cy="723679"/>
            </a:xfrm>
            <a:custGeom>
              <a:avLst/>
              <a:gdLst/>
              <a:ahLst/>
              <a:cxnLst/>
              <a:rect l="0" t="0" r="r" b="b"/>
              <a:pathLst>
                <a:path w="2752079" h="635001">
                  <a:moveTo>
                    <a:pt x="2445852" y="635001"/>
                  </a:moveTo>
                  <a:cubicBezTo>
                    <a:pt x="29907" y="635001"/>
                    <a:pt x="29907" y="635001"/>
                    <a:pt x="29907" y="635001"/>
                  </a:cubicBezTo>
                  <a:cubicBezTo>
                    <a:pt x="4218" y="635001"/>
                    <a:pt x="-6774" y="616657"/>
                    <a:pt x="4218" y="601957"/>
                  </a:cubicBezTo>
                  <a:cubicBezTo>
                    <a:pt x="260855" y="326673"/>
                    <a:pt x="260855" y="326673"/>
                    <a:pt x="260855" y="326673"/>
                  </a:cubicBezTo>
                  <a:cubicBezTo>
                    <a:pt x="268140" y="319323"/>
                    <a:pt x="268140" y="312003"/>
                    <a:pt x="260855" y="304653"/>
                  </a:cubicBezTo>
                  <a:cubicBezTo>
                    <a:pt x="4218" y="29369"/>
                    <a:pt x="4218" y="29369"/>
                    <a:pt x="4218" y="29369"/>
                  </a:cubicBezTo>
                  <a:cubicBezTo>
                    <a:pt x="-6774" y="14670"/>
                    <a:pt x="4218" y="0"/>
                    <a:pt x="29907" y="0"/>
                  </a:cubicBezTo>
                  <a:cubicBezTo>
                    <a:pt x="2445852" y="0"/>
                    <a:pt x="2445852" y="0"/>
                    <a:pt x="2445852" y="0"/>
                  </a:cubicBezTo>
                  <a:cubicBezTo>
                    <a:pt x="2453265" y="0"/>
                    <a:pt x="2464256" y="3675"/>
                    <a:pt x="2467963" y="7350"/>
                  </a:cubicBezTo>
                  <a:cubicBezTo>
                    <a:pt x="2746583" y="304653"/>
                    <a:pt x="2746583" y="304653"/>
                    <a:pt x="2746583" y="304653"/>
                  </a:cubicBezTo>
                  <a:cubicBezTo>
                    <a:pt x="2753868" y="312003"/>
                    <a:pt x="2753868" y="319323"/>
                    <a:pt x="2746583" y="326673"/>
                  </a:cubicBezTo>
                  <a:cubicBezTo>
                    <a:pt x="2467963" y="623977"/>
                    <a:pt x="2467963" y="623977"/>
                    <a:pt x="2467963" y="623977"/>
                  </a:cubicBezTo>
                  <a:cubicBezTo>
                    <a:pt x="2464256" y="631326"/>
                    <a:pt x="2453265" y="635001"/>
                    <a:pt x="2445852" y="635001"/>
                  </a:cubicBezTo>
                  <a:close/>
                </a:path>
              </a:pathLst>
            </a:custGeom>
            <a:solidFill>
              <a:srgbClr val="E38239"/>
            </a:solidFill>
            <a:ln w="12700">
              <a:miter/>
            </a:ln>
          </p:spPr>
          <p:txBody>
            <a:bodyPr lIns="45719" rIns="45719"/>
            <a:lstStyle/>
            <a:p>
              <a:endParaRPr sz="1100">
                <a:solidFill>
                  <a:schemeClr val="tx1">
                    <a:lumMod val="50000"/>
                    <a:lumOff val="50000"/>
                  </a:schemeClr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11" name="TextBox 28">
              <a:extLst>
                <a:ext uri="{FF2B5EF4-FFF2-40B4-BE49-F238E27FC236}">
                  <a16:creationId xmlns:a16="http://schemas.microsoft.com/office/drawing/2014/main" id="{45D4C6FD-B00E-AA03-E5BB-12584D87B430}"/>
                </a:ext>
              </a:extLst>
            </p:cNvPr>
            <p:cNvSpPr txBox="1"/>
            <p:nvPr/>
          </p:nvSpPr>
          <p:spPr>
            <a:xfrm>
              <a:off x="4224495" y="3248914"/>
              <a:ext cx="904053" cy="5418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1828165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dirty="0">
                  <a:solidFill>
                    <a:schemeClr val="bg1"/>
                  </a:solidFill>
                  <a:latin typeface="华光标题宋_CNKI" panose="02000500000000000000" pitchFamily="2" charset="-122"/>
                  <a:ea typeface="华光标题宋_CNKI" panose="02000500000000000000" pitchFamily="2" charset="-122"/>
                </a:rPr>
                <a:t>1613</a:t>
              </a:r>
              <a:endParaRPr lang="id-ID" sz="2400" b="1" dirty="0">
                <a:solidFill>
                  <a:schemeClr val="bg1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endParaRPr>
            </a:p>
          </p:txBody>
        </p:sp>
        <p:cxnSp>
          <p:nvCxnSpPr>
            <p:cNvPr id="19" name="Straight Connector 37">
              <a:extLst>
                <a:ext uri="{FF2B5EF4-FFF2-40B4-BE49-F238E27FC236}">
                  <a16:creationId xmlns:a16="http://schemas.microsoft.com/office/drawing/2014/main" id="{CDD46A20-CF88-77D1-242F-5F9D4E4DFB3B}"/>
                </a:ext>
              </a:extLst>
            </p:cNvPr>
            <p:cNvCxnSpPr/>
            <p:nvPr/>
          </p:nvCxnSpPr>
          <p:spPr>
            <a:xfrm>
              <a:off x="4623851" y="2341486"/>
              <a:ext cx="0" cy="693429"/>
            </a:xfrm>
            <a:prstGeom prst="line">
              <a:avLst/>
            </a:prstGeom>
            <a:ln w="38100">
              <a:solidFill>
                <a:srgbClr val="AF5819"/>
              </a:solidFill>
              <a:prstDash val="sysDash"/>
              <a:miter/>
              <a:headEnd type="arrow"/>
            </a:ln>
          </p:spPr>
        </p:cxn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810E37D4-018B-B5B0-0448-899E3A6064D7}"/>
                </a:ext>
              </a:extLst>
            </p:cNvPr>
            <p:cNvGrpSpPr/>
            <p:nvPr/>
          </p:nvGrpSpPr>
          <p:grpSpPr>
            <a:xfrm>
              <a:off x="3278699" y="1694288"/>
              <a:ext cx="2611211" cy="505277"/>
              <a:chOff x="4775765" y="1517930"/>
              <a:chExt cx="2329824" cy="430509"/>
            </a:xfrm>
          </p:grpSpPr>
          <p:sp>
            <p:nvSpPr>
              <p:cNvPr id="4" name="矩形: 圆角 30">
                <a:extLst>
                  <a:ext uri="{FF2B5EF4-FFF2-40B4-BE49-F238E27FC236}">
                    <a16:creationId xmlns:a16="http://schemas.microsoft.com/office/drawing/2014/main" id="{F88E9021-1EF9-06EC-B86D-00E16F6A6413}"/>
                  </a:ext>
                </a:extLst>
              </p:cNvPr>
              <p:cNvSpPr/>
              <p:nvPr/>
            </p:nvSpPr>
            <p:spPr>
              <a:xfrm>
                <a:off x="4869078" y="1517930"/>
                <a:ext cx="2236511" cy="430509"/>
              </a:xfrm>
              <a:prstGeom prst="roundRect">
                <a:avLst>
                  <a:gd name="adj" fmla="val 50000"/>
                </a:avLst>
              </a:prstGeom>
              <a:solidFill>
                <a:srgbClr val="AF58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TextBox 66">
                <a:extLst>
                  <a:ext uri="{FF2B5EF4-FFF2-40B4-BE49-F238E27FC236}">
                    <a16:creationId xmlns:a16="http://schemas.microsoft.com/office/drawing/2014/main" id="{B08016B2-30FF-DF28-4BA8-C161CEDFBCCB}"/>
                  </a:ext>
                </a:extLst>
              </p:cNvPr>
              <p:cNvSpPr txBox="1"/>
              <p:nvPr/>
            </p:nvSpPr>
            <p:spPr>
              <a:xfrm>
                <a:off x="4775765" y="1533129"/>
                <a:ext cx="2236511" cy="400110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algn="r"/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给卡斯泰利的信件</a:t>
                </a:r>
                <a:endParaRPr lang="zh-CN" sz="2000" b="1" dirty="0">
                  <a:solidFill>
                    <a:schemeClr val="bg1"/>
                  </a:solidFill>
                  <a:latin typeface="Times New Roman" panose="02020603050405020304" charset="0"/>
                  <a:ea typeface="思源黑体" panose="020B0400000000000000" charset="-122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0EC8057-5382-D29C-60ED-8043DE16AB75}"/>
              </a:ext>
            </a:extLst>
          </p:cNvPr>
          <p:cNvGrpSpPr/>
          <p:nvPr/>
        </p:nvGrpSpPr>
        <p:grpSpPr>
          <a:xfrm>
            <a:off x="508418" y="3095416"/>
            <a:ext cx="2892361" cy="2068295"/>
            <a:chOff x="508418" y="3095416"/>
            <a:chExt cx="2892361" cy="2068295"/>
          </a:xfrm>
        </p:grpSpPr>
        <p:sp>
          <p:nvSpPr>
            <p:cNvPr id="6" name="Shape 332">
              <a:extLst>
                <a:ext uri="{FF2B5EF4-FFF2-40B4-BE49-F238E27FC236}">
                  <a16:creationId xmlns:a16="http://schemas.microsoft.com/office/drawing/2014/main" id="{564D231D-119B-B98F-5A00-AF8C7F9545BE}"/>
                </a:ext>
              </a:extLst>
            </p:cNvPr>
            <p:cNvSpPr/>
            <p:nvPr/>
          </p:nvSpPr>
          <p:spPr>
            <a:xfrm>
              <a:off x="508418" y="3095416"/>
              <a:ext cx="2892361" cy="723679"/>
            </a:xfrm>
            <a:custGeom>
              <a:avLst/>
              <a:gdLst/>
              <a:ahLst/>
              <a:cxnLst/>
              <a:rect l="0" t="0" r="r" b="b"/>
              <a:pathLst>
                <a:path w="2776294" h="635001">
                  <a:moveTo>
                    <a:pt x="2470189" y="635001"/>
                  </a:moveTo>
                  <a:cubicBezTo>
                    <a:pt x="29324" y="635001"/>
                    <a:pt x="29324" y="635001"/>
                    <a:pt x="29324" y="635001"/>
                  </a:cubicBezTo>
                  <a:cubicBezTo>
                    <a:pt x="14662" y="635001"/>
                    <a:pt x="0" y="623977"/>
                    <a:pt x="0" y="612982"/>
                  </a:cubicBezTo>
                  <a:cubicBezTo>
                    <a:pt x="0" y="18344"/>
                    <a:pt x="0" y="18344"/>
                    <a:pt x="0" y="18344"/>
                  </a:cubicBezTo>
                  <a:cubicBezTo>
                    <a:pt x="0" y="7350"/>
                    <a:pt x="14662" y="0"/>
                    <a:pt x="29324" y="0"/>
                  </a:cubicBezTo>
                  <a:cubicBezTo>
                    <a:pt x="2470189" y="0"/>
                    <a:pt x="2470189" y="0"/>
                    <a:pt x="2470189" y="0"/>
                  </a:cubicBezTo>
                  <a:cubicBezTo>
                    <a:pt x="2481250" y="0"/>
                    <a:pt x="2488581" y="3675"/>
                    <a:pt x="2492182" y="7350"/>
                  </a:cubicBezTo>
                  <a:cubicBezTo>
                    <a:pt x="2770764" y="304653"/>
                    <a:pt x="2770764" y="304653"/>
                    <a:pt x="2770764" y="304653"/>
                  </a:cubicBezTo>
                  <a:cubicBezTo>
                    <a:pt x="2778095" y="312003"/>
                    <a:pt x="2778095" y="319323"/>
                    <a:pt x="2770764" y="326673"/>
                  </a:cubicBezTo>
                  <a:cubicBezTo>
                    <a:pt x="2492182" y="623977"/>
                    <a:pt x="2492182" y="623977"/>
                    <a:pt x="2492182" y="623977"/>
                  </a:cubicBezTo>
                  <a:cubicBezTo>
                    <a:pt x="2488581" y="631326"/>
                    <a:pt x="2481250" y="635001"/>
                    <a:pt x="2470189" y="635001"/>
                  </a:cubicBezTo>
                  <a:close/>
                </a:path>
              </a:pathLst>
            </a:custGeom>
            <a:solidFill>
              <a:srgbClr val="AF5819"/>
            </a:solidFill>
            <a:ln w="12700">
              <a:miter/>
            </a:ln>
          </p:spPr>
          <p:txBody>
            <a:bodyPr lIns="45719" rIns="45719"/>
            <a:lstStyle/>
            <a:p>
              <a:endParaRPr sz="1100">
                <a:solidFill>
                  <a:schemeClr val="tx1">
                    <a:lumMod val="50000"/>
                    <a:lumOff val="50000"/>
                  </a:schemeClr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10" name="TextBox 27">
              <a:extLst>
                <a:ext uri="{FF2B5EF4-FFF2-40B4-BE49-F238E27FC236}">
                  <a16:creationId xmlns:a16="http://schemas.microsoft.com/office/drawing/2014/main" id="{18C6D8E9-FFE9-82AF-9241-7BFCBC64E67B}"/>
                </a:ext>
              </a:extLst>
            </p:cNvPr>
            <p:cNvSpPr txBox="1"/>
            <p:nvPr/>
          </p:nvSpPr>
          <p:spPr>
            <a:xfrm>
              <a:off x="1342648" y="3248914"/>
              <a:ext cx="904053" cy="5418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1828165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dirty="0">
                  <a:solidFill>
                    <a:schemeClr val="bg1"/>
                  </a:solidFill>
                  <a:latin typeface="华光标题宋_CNKI" panose="02000500000000000000" pitchFamily="2" charset="-122"/>
                  <a:ea typeface="华光标题宋_CNKI" panose="02000500000000000000" pitchFamily="2" charset="-122"/>
                </a:rPr>
                <a:t>1610</a:t>
              </a:r>
              <a:endParaRPr lang="id-ID" sz="2400" b="1" dirty="0">
                <a:solidFill>
                  <a:schemeClr val="bg1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endParaRPr>
            </a:p>
          </p:txBody>
        </p:sp>
        <p:cxnSp>
          <p:nvCxnSpPr>
            <p:cNvPr id="14" name="Straight Connector 34">
              <a:extLst>
                <a:ext uri="{FF2B5EF4-FFF2-40B4-BE49-F238E27FC236}">
                  <a16:creationId xmlns:a16="http://schemas.microsoft.com/office/drawing/2014/main" id="{BC0F0C62-F690-ACD9-4485-F73C48C06928}"/>
                </a:ext>
              </a:extLst>
            </p:cNvPr>
            <p:cNvCxnSpPr/>
            <p:nvPr/>
          </p:nvCxnSpPr>
          <p:spPr>
            <a:xfrm flipV="1">
              <a:off x="1748144" y="3854686"/>
              <a:ext cx="0" cy="693429"/>
            </a:xfrm>
            <a:prstGeom prst="line">
              <a:avLst/>
            </a:prstGeom>
            <a:ln w="38100">
              <a:solidFill>
                <a:srgbClr val="AF5819"/>
              </a:solidFill>
              <a:prstDash val="sysDash"/>
              <a:miter/>
              <a:headEnd type="arrow"/>
            </a:ln>
          </p:spPr>
        </p:cxn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D88BDFE-AEA2-CB3C-387A-2608AEFAFF66}"/>
                </a:ext>
              </a:extLst>
            </p:cNvPr>
            <p:cNvGrpSpPr/>
            <p:nvPr/>
          </p:nvGrpSpPr>
          <p:grpSpPr>
            <a:xfrm>
              <a:off x="511620" y="4658434"/>
              <a:ext cx="2546515" cy="505277"/>
              <a:chOff x="2345506" y="4519984"/>
              <a:chExt cx="2272100" cy="430509"/>
            </a:xfrm>
          </p:grpSpPr>
          <p:sp>
            <p:nvSpPr>
              <p:cNvPr id="32" name="矩形: 圆角 35">
                <a:extLst>
                  <a:ext uri="{FF2B5EF4-FFF2-40B4-BE49-F238E27FC236}">
                    <a16:creationId xmlns:a16="http://schemas.microsoft.com/office/drawing/2014/main" id="{984B7ECF-0B09-91DA-570C-0B5159B4D4EB}"/>
                  </a:ext>
                </a:extLst>
              </p:cNvPr>
              <p:cNvSpPr/>
              <p:nvPr/>
            </p:nvSpPr>
            <p:spPr>
              <a:xfrm>
                <a:off x="2420401" y="4519984"/>
                <a:ext cx="2197205" cy="430509"/>
              </a:xfrm>
              <a:prstGeom prst="roundRect">
                <a:avLst>
                  <a:gd name="adj" fmla="val 50000"/>
                </a:avLst>
              </a:prstGeom>
              <a:solidFill>
                <a:srgbClr val="AF58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Box 66">
                <a:extLst>
                  <a:ext uri="{FF2B5EF4-FFF2-40B4-BE49-F238E27FC236}">
                    <a16:creationId xmlns:a16="http://schemas.microsoft.com/office/drawing/2014/main" id="{054DCA45-9E1E-3F20-08B7-CE5D684E38DD}"/>
                  </a:ext>
                </a:extLst>
              </p:cNvPr>
              <p:cNvSpPr txBox="1"/>
              <p:nvPr/>
            </p:nvSpPr>
            <p:spPr>
              <a:xfrm>
                <a:off x="2345506" y="4535183"/>
                <a:ext cx="2236510" cy="400110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algn="r"/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出版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《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星际使者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》</a:t>
                </a:r>
                <a:endParaRPr lang="zh-CN" sz="2000" b="1" dirty="0">
                  <a:solidFill>
                    <a:schemeClr val="bg1"/>
                  </a:solidFill>
                  <a:latin typeface="Times New Roman" panose="02020603050405020304" charset="0"/>
                  <a:ea typeface="思源黑体" panose="020B0400000000000000" charset="-122"/>
                </a:endParaRPr>
              </a:p>
            </p:txBody>
          </p:sp>
        </p:grpSp>
      </p:grpSp>
      <p:sp>
        <p:nvSpPr>
          <p:cNvPr id="37" name="矩形 4">
            <a:extLst>
              <a:ext uri="{FF2B5EF4-FFF2-40B4-BE49-F238E27FC236}">
                <a16:creationId xmlns:a16="http://schemas.microsoft.com/office/drawing/2014/main" id="{7DA90E57-561E-A1F0-F5A4-13EA5266206F}"/>
              </a:ext>
            </a:extLst>
          </p:cNvPr>
          <p:cNvSpPr>
            <a:spLocks noChangeArrowheads="1"/>
          </p:cNvSpPr>
          <p:nvPr/>
        </p:nvSpPr>
        <p:spPr>
          <a:xfrm>
            <a:off x="6128006" y="1487871"/>
            <a:ext cx="5555576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lvl="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1pPr>
            <a:lvl2pPr marL="742950" lvl="1" indent="-28575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2pPr>
            <a:lvl3pPr marL="1143000" lvl="2" indent="-22860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3pPr>
            <a:lvl4pPr marL="1600200" lvl="3" indent="-22860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4pPr>
            <a:lvl5pPr marL="2057400" lvl="4" indent="-22860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5pPr>
            <a:lvl6pPr marL="2514600" lvl="5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6pPr>
            <a:lvl7pPr marL="2971800" lvl="6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7pPr>
            <a:lvl8pPr marL="3429000" lvl="7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8pPr>
            <a:lvl9pPr marL="3886200" lvl="8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9pPr>
          </a:lstStyle>
          <a:p>
            <a:r>
              <a:rPr lang="zh-CN" altLang="en-US" sz="1800" dirty="0">
                <a:effectLst/>
                <a:latin typeface="HiddenHorzOCR"/>
              </a:rPr>
              <a:t>“我相信，</a:t>
            </a:r>
            <a:r>
              <a:rPr lang="en-US" altLang="zh-CN" sz="1800" dirty="0">
                <a:effectLst/>
                <a:latin typeface="HiddenHorzOCR"/>
              </a:rPr>
              <a:t>《</a:t>
            </a:r>
            <a:r>
              <a:rPr lang="zh-CN" altLang="en-US" sz="1800" dirty="0">
                <a:effectLst/>
                <a:latin typeface="HiddenHorzOCR"/>
              </a:rPr>
              <a:t>圣经</a:t>
            </a:r>
            <a:r>
              <a:rPr lang="en-US" altLang="zh-CN" sz="1800" dirty="0">
                <a:effectLst/>
                <a:latin typeface="HiddenHorzOCR"/>
              </a:rPr>
              <a:t>》 </a:t>
            </a:r>
            <a:r>
              <a:rPr lang="zh-CN" altLang="en-US" sz="1800" dirty="0">
                <a:effectLst/>
                <a:latin typeface="HiddenHorzOCR"/>
              </a:rPr>
              <a:t>的权威只有一个目的， 即说服人们相信那些对我们的救赎是必需的，而且高于所有人类理性的信条与论点，但这些信条和论点无法用科学证明 。” </a:t>
            </a:r>
            <a:endParaRPr lang="en-US" altLang="zh-CN" sz="1800" dirty="0">
              <a:effectLst/>
              <a:latin typeface="HiddenHorzOCR"/>
            </a:endParaRPr>
          </a:p>
          <a:p>
            <a:r>
              <a:rPr lang="en-US" altLang="zh-CN" dirty="0">
                <a:latin typeface="HiddenHorzOCR"/>
              </a:rPr>
              <a:t>	</a:t>
            </a:r>
            <a:r>
              <a:rPr lang="zh-CN" altLang="en-US" dirty="0">
                <a:latin typeface="HiddenHorzOCR"/>
              </a:rPr>
              <a:t>                     </a:t>
            </a:r>
            <a:r>
              <a:rPr lang="en-US" altLang="zh-CN" dirty="0">
                <a:latin typeface="HiddenHorzOCR"/>
              </a:rPr>
              <a:t>——</a:t>
            </a:r>
            <a:r>
              <a:rPr lang="zh-CN" altLang="en-US" dirty="0">
                <a:latin typeface="HiddenHorzOCR"/>
              </a:rPr>
              <a:t> 伽利略致卡斯泰利之信</a:t>
            </a:r>
            <a:endParaRPr lang="zh-CN" altLang="en-US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14C157D0-43D4-7BDF-2F38-1E6AFB0730F3}"/>
              </a:ext>
            </a:extLst>
          </p:cNvPr>
          <p:cNvGrpSpPr/>
          <p:nvPr/>
        </p:nvGrpSpPr>
        <p:grpSpPr>
          <a:xfrm>
            <a:off x="7142179" y="3294214"/>
            <a:ext cx="4084261" cy="1229765"/>
            <a:chOff x="7043085" y="2640169"/>
            <a:chExt cx="4090091" cy="1661376"/>
          </a:xfrm>
        </p:grpSpPr>
        <p:sp>
          <p:nvSpPr>
            <p:cNvPr id="49" name="圆角矩形 3">
              <a:extLst>
                <a:ext uri="{FF2B5EF4-FFF2-40B4-BE49-F238E27FC236}">
                  <a16:creationId xmlns:a16="http://schemas.microsoft.com/office/drawing/2014/main" id="{EF5D5787-3129-D723-66F4-EAD41193E857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043085" y="2640169"/>
              <a:ext cx="4090091" cy="1661376"/>
            </a:xfrm>
            <a:prstGeom prst="roundRect">
              <a:avLst>
                <a:gd name="adj" fmla="val 9083"/>
              </a:avLst>
            </a:prstGeom>
            <a:solidFill>
              <a:srgbClr val="FFFFFF"/>
            </a:solidFill>
            <a:ln w="12700">
              <a:solidFill>
                <a:srgbClr val="9A0000"/>
              </a:solidFill>
              <a:round/>
            </a:ln>
          </p:spPr>
          <p:txBody>
            <a:bodyPr anchor="ctr"/>
            <a:lstStyle>
              <a:lvl1pPr lvl="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 algn="ctr"/>
              <a:endParaRPr lang="zh-CN" sz="2000">
                <a:solidFill>
                  <a:srgbClr val="FFFFFF"/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50" name="矩形 4">
              <a:extLst>
                <a:ext uri="{FF2B5EF4-FFF2-40B4-BE49-F238E27FC236}">
                  <a16:creationId xmlns:a16="http://schemas.microsoft.com/office/drawing/2014/main" id="{F47DA51E-2B03-2EB5-182D-D2AA98A67437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120053" y="2758538"/>
              <a:ext cx="3961606" cy="10640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lvl="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>
                <a:lnSpc>
                  <a:spcPts val="2560"/>
                </a:lnSpc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        在这封信中，伽利略强调，圣经的语言往往是通俗而象征性的，不应被用作对自然科学真理的权威裁判。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</p:txBody>
        </p:sp>
      </p:grpSp>
      <p:sp>
        <p:nvSpPr>
          <p:cNvPr id="55" name="矩形 4">
            <a:extLst>
              <a:ext uri="{FF2B5EF4-FFF2-40B4-BE49-F238E27FC236}">
                <a16:creationId xmlns:a16="http://schemas.microsoft.com/office/drawing/2014/main" id="{EED81441-36BF-F233-A1DB-A526C902DCA6}"/>
              </a:ext>
            </a:extLst>
          </p:cNvPr>
          <p:cNvSpPr>
            <a:spLocks noChangeArrowheads="1"/>
          </p:cNvSpPr>
          <p:nvPr/>
        </p:nvSpPr>
        <p:spPr>
          <a:xfrm>
            <a:off x="3498190" y="4846355"/>
            <a:ext cx="6986760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lvl="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1pPr>
            <a:lvl2pPr marL="742950" lvl="1" indent="-28575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2pPr>
            <a:lvl3pPr marL="1143000" lvl="2" indent="-22860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3pPr>
            <a:lvl4pPr marL="1600200" lvl="3" indent="-22860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4pPr>
            <a:lvl5pPr marL="2057400" lvl="4" indent="-228600" defTabSz="1216025"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5pPr>
            <a:lvl6pPr marL="2514600" lvl="5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6pPr>
            <a:lvl7pPr marL="2971800" lvl="6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7pPr>
            <a:lvl8pPr marL="3429000" lvl="7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8pPr>
            <a:lvl9pPr marL="3886200" lvl="8" indent="-228600" defTabSz="1216025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/>
                <a:ea typeface="宋体" pitchFamily="2" charset="-122"/>
              </a:defRPr>
            </a:lvl9pPr>
          </a:lstStyle>
          <a:p>
            <a:r>
              <a:rPr lang="zh-CN" altLang="en-US" sz="1800" dirty="0">
                <a:effectLst/>
                <a:latin typeface="HiddenHorzOCR"/>
              </a:rPr>
              <a:t>“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我们圣马可修道院的所有神父都认为，这封信包含了许多显得自负或令人怀疑的言论，比如其中说到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《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圣经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》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的话语并非其字面之意；在关于自然现象的讨论中，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《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圣经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》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的权威应当排在最后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……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（伽利略的追随者们）竟自作主张地依靠自己的理解来解释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《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圣经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》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，其方式也有悖于教父们一贯的共同诠释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……</a:t>
            </a:r>
            <a:r>
              <a:rPr lang="zh-CN" altLang="en-US" sz="1800" dirty="0">
                <a:effectLst/>
                <a:latin typeface="HiddenHorzOCR"/>
              </a:rPr>
              <a:t>” </a:t>
            </a:r>
            <a:endParaRPr lang="en-US" altLang="zh-CN" sz="1800" dirty="0">
              <a:effectLst/>
              <a:latin typeface="HiddenHorzOCR"/>
            </a:endParaRPr>
          </a:p>
          <a:p>
            <a:r>
              <a:rPr lang="en-US" altLang="zh-CN" dirty="0">
                <a:latin typeface="HiddenHorzOCR"/>
              </a:rPr>
              <a:t>	</a:t>
            </a:r>
            <a:r>
              <a:rPr lang="zh-CN" altLang="en-US" dirty="0">
                <a:latin typeface="HiddenHorzOCR"/>
              </a:rPr>
              <a:t>           </a:t>
            </a:r>
            <a:r>
              <a:rPr lang="en-US" altLang="zh-CN" dirty="0">
                <a:latin typeface="HiddenHorzOCR"/>
              </a:rPr>
              <a:t>——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洛里尼致宗教裁判所红衣主教斯丰德拉蒂之信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424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边形 14"/>
          <p:cNvSpPr/>
          <p:nvPr/>
        </p:nvSpPr>
        <p:spPr>
          <a:xfrm>
            <a:off x="8855234" y="0"/>
            <a:ext cx="396160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17" name="平行四边形 16"/>
          <p:cNvSpPr/>
          <p:nvPr/>
        </p:nvSpPr>
        <p:spPr>
          <a:xfrm>
            <a:off x="-487680" y="0"/>
            <a:ext cx="136475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9"/>
          <p:cNvSpPr txBox="1"/>
          <p:nvPr/>
        </p:nvSpPr>
        <p:spPr>
          <a:xfrm>
            <a:off x="877076" y="109657"/>
            <a:ext cx="5444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/>
              </a:defRPr>
            </a:lvl1pPr>
          </a:lstStyle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 u="none" strike="noStrike" kern="1200" spc="0" baseline="0" dirty="0">
                <a:ln>
                  <a:noFill/>
                </a:ln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伽利略事件</a:t>
            </a:r>
            <a:endParaRPr lang="zh-CN" sz="4000" b="1" u="none" strike="noStrike" kern="1200" spc="0" baseline="0" dirty="0">
              <a:ln>
                <a:noFill/>
              </a:ln>
              <a:solidFill>
                <a:srgbClr val="AF5819"/>
              </a:solidFill>
              <a:latin typeface="Times New Roman" panose="02020603050405020304" charset="0"/>
              <a:ea typeface="思源黑体" panose="020B0400000000000000" charset="-122"/>
            </a:endParaRPr>
          </a:p>
        </p:txBody>
      </p:sp>
      <p:sp>
        <p:nvSpPr>
          <p:cNvPr id="29" name="矩形 28"/>
          <p:cNvSpPr/>
          <p:nvPr/>
        </p:nvSpPr>
        <p:spPr>
          <a:xfrm flipV="1">
            <a:off x="0" y="6748343"/>
            <a:ext cx="4682001" cy="12874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D66BD42-C440-AD0A-4883-C966597E4790}"/>
              </a:ext>
            </a:extLst>
          </p:cNvPr>
          <p:cNvGrpSpPr/>
          <p:nvPr/>
        </p:nvGrpSpPr>
        <p:grpSpPr>
          <a:xfrm>
            <a:off x="3260873" y="1694288"/>
            <a:ext cx="2867134" cy="2124807"/>
            <a:chOff x="3260873" y="1694288"/>
            <a:chExt cx="2867134" cy="2124807"/>
          </a:xfrm>
        </p:grpSpPr>
        <p:sp>
          <p:nvSpPr>
            <p:cNvPr id="7" name="Shape 333">
              <a:extLst>
                <a:ext uri="{FF2B5EF4-FFF2-40B4-BE49-F238E27FC236}">
                  <a16:creationId xmlns:a16="http://schemas.microsoft.com/office/drawing/2014/main" id="{4533310E-5663-B4A5-4B02-E59B422AB4FC}"/>
                </a:ext>
              </a:extLst>
            </p:cNvPr>
            <p:cNvSpPr/>
            <p:nvPr/>
          </p:nvSpPr>
          <p:spPr>
            <a:xfrm>
              <a:off x="3260873" y="3095416"/>
              <a:ext cx="2867134" cy="723679"/>
            </a:xfrm>
            <a:custGeom>
              <a:avLst/>
              <a:gdLst/>
              <a:ahLst/>
              <a:cxnLst/>
              <a:rect l="0" t="0" r="r" b="b"/>
              <a:pathLst>
                <a:path w="2752079" h="635001">
                  <a:moveTo>
                    <a:pt x="2445852" y="635001"/>
                  </a:moveTo>
                  <a:cubicBezTo>
                    <a:pt x="29907" y="635001"/>
                    <a:pt x="29907" y="635001"/>
                    <a:pt x="29907" y="635001"/>
                  </a:cubicBezTo>
                  <a:cubicBezTo>
                    <a:pt x="4218" y="635001"/>
                    <a:pt x="-6774" y="616657"/>
                    <a:pt x="4218" y="601957"/>
                  </a:cubicBezTo>
                  <a:cubicBezTo>
                    <a:pt x="260855" y="326673"/>
                    <a:pt x="260855" y="326673"/>
                    <a:pt x="260855" y="326673"/>
                  </a:cubicBezTo>
                  <a:cubicBezTo>
                    <a:pt x="268140" y="319323"/>
                    <a:pt x="268140" y="312003"/>
                    <a:pt x="260855" y="304653"/>
                  </a:cubicBezTo>
                  <a:cubicBezTo>
                    <a:pt x="4218" y="29369"/>
                    <a:pt x="4218" y="29369"/>
                    <a:pt x="4218" y="29369"/>
                  </a:cubicBezTo>
                  <a:cubicBezTo>
                    <a:pt x="-6774" y="14670"/>
                    <a:pt x="4218" y="0"/>
                    <a:pt x="29907" y="0"/>
                  </a:cubicBezTo>
                  <a:cubicBezTo>
                    <a:pt x="2445852" y="0"/>
                    <a:pt x="2445852" y="0"/>
                    <a:pt x="2445852" y="0"/>
                  </a:cubicBezTo>
                  <a:cubicBezTo>
                    <a:pt x="2453265" y="0"/>
                    <a:pt x="2464256" y="3675"/>
                    <a:pt x="2467963" y="7350"/>
                  </a:cubicBezTo>
                  <a:cubicBezTo>
                    <a:pt x="2746583" y="304653"/>
                    <a:pt x="2746583" y="304653"/>
                    <a:pt x="2746583" y="304653"/>
                  </a:cubicBezTo>
                  <a:cubicBezTo>
                    <a:pt x="2753868" y="312003"/>
                    <a:pt x="2753868" y="319323"/>
                    <a:pt x="2746583" y="326673"/>
                  </a:cubicBezTo>
                  <a:cubicBezTo>
                    <a:pt x="2467963" y="623977"/>
                    <a:pt x="2467963" y="623977"/>
                    <a:pt x="2467963" y="623977"/>
                  </a:cubicBezTo>
                  <a:cubicBezTo>
                    <a:pt x="2464256" y="631326"/>
                    <a:pt x="2453265" y="635001"/>
                    <a:pt x="2445852" y="635001"/>
                  </a:cubicBezTo>
                  <a:close/>
                </a:path>
              </a:pathLst>
            </a:custGeom>
            <a:solidFill>
              <a:srgbClr val="E38239"/>
            </a:solidFill>
            <a:ln w="12700">
              <a:miter/>
            </a:ln>
          </p:spPr>
          <p:txBody>
            <a:bodyPr lIns="45719" rIns="45719"/>
            <a:lstStyle/>
            <a:p>
              <a:endParaRPr sz="1100">
                <a:solidFill>
                  <a:schemeClr val="tx1">
                    <a:lumMod val="50000"/>
                    <a:lumOff val="50000"/>
                  </a:schemeClr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11" name="TextBox 28">
              <a:extLst>
                <a:ext uri="{FF2B5EF4-FFF2-40B4-BE49-F238E27FC236}">
                  <a16:creationId xmlns:a16="http://schemas.microsoft.com/office/drawing/2014/main" id="{45D4C6FD-B00E-AA03-E5BB-12584D87B430}"/>
                </a:ext>
              </a:extLst>
            </p:cNvPr>
            <p:cNvSpPr txBox="1"/>
            <p:nvPr/>
          </p:nvSpPr>
          <p:spPr>
            <a:xfrm>
              <a:off x="4224495" y="3248914"/>
              <a:ext cx="904053" cy="5418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1828165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dirty="0">
                  <a:solidFill>
                    <a:schemeClr val="bg1"/>
                  </a:solidFill>
                  <a:latin typeface="华光标题宋_CNKI" panose="02000500000000000000" pitchFamily="2" charset="-122"/>
                  <a:ea typeface="华光标题宋_CNKI" panose="02000500000000000000" pitchFamily="2" charset="-122"/>
                </a:rPr>
                <a:t>1613</a:t>
              </a:r>
              <a:endParaRPr lang="id-ID" sz="2400" b="1" dirty="0">
                <a:solidFill>
                  <a:schemeClr val="bg1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endParaRPr>
            </a:p>
          </p:txBody>
        </p:sp>
        <p:cxnSp>
          <p:nvCxnSpPr>
            <p:cNvPr id="19" name="Straight Connector 37">
              <a:extLst>
                <a:ext uri="{FF2B5EF4-FFF2-40B4-BE49-F238E27FC236}">
                  <a16:creationId xmlns:a16="http://schemas.microsoft.com/office/drawing/2014/main" id="{CDD46A20-CF88-77D1-242F-5F9D4E4DFB3B}"/>
                </a:ext>
              </a:extLst>
            </p:cNvPr>
            <p:cNvCxnSpPr/>
            <p:nvPr/>
          </p:nvCxnSpPr>
          <p:spPr>
            <a:xfrm>
              <a:off x="4623851" y="2341486"/>
              <a:ext cx="0" cy="693429"/>
            </a:xfrm>
            <a:prstGeom prst="line">
              <a:avLst/>
            </a:prstGeom>
            <a:ln w="38100">
              <a:solidFill>
                <a:srgbClr val="AF5819"/>
              </a:solidFill>
              <a:prstDash val="sysDash"/>
              <a:miter/>
              <a:headEnd type="arrow"/>
            </a:ln>
          </p:spPr>
        </p:cxn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810E37D4-018B-B5B0-0448-899E3A6064D7}"/>
                </a:ext>
              </a:extLst>
            </p:cNvPr>
            <p:cNvGrpSpPr/>
            <p:nvPr/>
          </p:nvGrpSpPr>
          <p:grpSpPr>
            <a:xfrm>
              <a:off x="3278699" y="1694288"/>
              <a:ext cx="2611211" cy="505277"/>
              <a:chOff x="4775765" y="1517930"/>
              <a:chExt cx="2329824" cy="430509"/>
            </a:xfrm>
          </p:grpSpPr>
          <p:sp>
            <p:nvSpPr>
              <p:cNvPr id="4" name="矩形: 圆角 30">
                <a:extLst>
                  <a:ext uri="{FF2B5EF4-FFF2-40B4-BE49-F238E27FC236}">
                    <a16:creationId xmlns:a16="http://schemas.microsoft.com/office/drawing/2014/main" id="{F88E9021-1EF9-06EC-B86D-00E16F6A6413}"/>
                  </a:ext>
                </a:extLst>
              </p:cNvPr>
              <p:cNvSpPr/>
              <p:nvPr/>
            </p:nvSpPr>
            <p:spPr>
              <a:xfrm>
                <a:off x="4869078" y="1517930"/>
                <a:ext cx="2236511" cy="430509"/>
              </a:xfrm>
              <a:prstGeom prst="roundRect">
                <a:avLst>
                  <a:gd name="adj" fmla="val 50000"/>
                </a:avLst>
              </a:prstGeom>
              <a:solidFill>
                <a:srgbClr val="AF58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TextBox 66">
                <a:extLst>
                  <a:ext uri="{FF2B5EF4-FFF2-40B4-BE49-F238E27FC236}">
                    <a16:creationId xmlns:a16="http://schemas.microsoft.com/office/drawing/2014/main" id="{B08016B2-30FF-DF28-4BA8-C161CEDFBCCB}"/>
                  </a:ext>
                </a:extLst>
              </p:cNvPr>
              <p:cNvSpPr txBox="1"/>
              <p:nvPr/>
            </p:nvSpPr>
            <p:spPr>
              <a:xfrm>
                <a:off x="4775765" y="1533129"/>
                <a:ext cx="2236511" cy="400110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algn="r"/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给卡斯泰利的信件</a:t>
                </a:r>
                <a:endParaRPr lang="zh-CN" sz="2000" b="1" dirty="0">
                  <a:solidFill>
                    <a:schemeClr val="bg1"/>
                  </a:solidFill>
                  <a:latin typeface="Times New Roman" panose="02020603050405020304" charset="0"/>
                  <a:ea typeface="思源黑体" panose="020B0400000000000000" charset="-122"/>
                </a:endParaRPr>
              </a:p>
            </p:txBody>
          </p:sp>
        </p:grp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7AA943F-C51E-9516-0763-1C272B1D4A4C}"/>
              </a:ext>
            </a:extLst>
          </p:cNvPr>
          <p:cNvGrpSpPr/>
          <p:nvPr/>
        </p:nvGrpSpPr>
        <p:grpSpPr>
          <a:xfrm>
            <a:off x="5988030" y="3095416"/>
            <a:ext cx="2931418" cy="2068295"/>
            <a:chOff x="5988030" y="3095416"/>
            <a:chExt cx="2931418" cy="2068295"/>
          </a:xfrm>
        </p:grpSpPr>
        <p:sp>
          <p:nvSpPr>
            <p:cNvPr id="8" name="Shape 334">
              <a:extLst>
                <a:ext uri="{FF2B5EF4-FFF2-40B4-BE49-F238E27FC236}">
                  <a16:creationId xmlns:a16="http://schemas.microsoft.com/office/drawing/2014/main" id="{39FA5932-802F-4231-1B0C-418074E75858}"/>
                </a:ext>
              </a:extLst>
            </p:cNvPr>
            <p:cNvSpPr/>
            <p:nvPr/>
          </p:nvSpPr>
          <p:spPr>
            <a:xfrm>
              <a:off x="5988030" y="3095416"/>
              <a:ext cx="2867204" cy="723679"/>
            </a:xfrm>
            <a:custGeom>
              <a:avLst/>
              <a:gdLst/>
              <a:ahLst/>
              <a:cxnLst/>
              <a:rect l="0" t="0" r="r" b="b"/>
              <a:pathLst>
                <a:path w="2752146" h="635001">
                  <a:moveTo>
                    <a:pt x="2446040" y="635001"/>
                  </a:moveTo>
                  <a:cubicBezTo>
                    <a:pt x="26329" y="635001"/>
                    <a:pt x="26329" y="635001"/>
                    <a:pt x="26329" y="635001"/>
                  </a:cubicBezTo>
                  <a:cubicBezTo>
                    <a:pt x="4346" y="635001"/>
                    <a:pt x="-6646" y="616657"/>
                    <a:pt x="4346" y="601957"/>
                  </a:cubicBezTo>
                  <a:cubicBezTo>
                    <a:pt x="260989" y="326673"/>
                    <a:pt x="260989" y="326673"/>
                    <a:pt x="260989" y="326673"/>
                  </a:cubicBezTo>
                  <a:cubicBezTo>
                    <a:pt x="268274" y="319323"/>
                    <a:pt x="268274" y="312003"/>
                    <a:pt x="260989" y="304653"/>
                  </a:cubicBezTo>
                  <a:cubicBezTo>
                    <a:pt x="4346" y="29369"/>
                    <a:pt x="4346" y="29369"/>
                    <a:pt x="4346" y="29369"/>
                  </a:cubicBezTo>
                  <a:cubicBezTo>
                    <a:pt x="-6646" y="14670"/>
                    <a:pt x="4346" y="0"/>
                    <a:pt x="26329" y="0"/>
                  </a:cubicBezTo>
                  <a:cubicBezTo>
                    <a:pt x="2446040" y="0"/>
                    <a:pt x="2446040" y="0"/>
                    <a:pt x="2446040" y="0"/>
                  </a:cubicBezTo>
                  <a:cubicBezTo>
                    <a:pt x="2453453" y="0"/>
                    <a:pt x="2464444" y="3675"/>
                    <a:pt x="2468151" y="7350"/>
                  </a:cubicBezTo>
                  <a:cubicBezTo>
                    <a:pt x="2746778" y="304653"/>
                    <a:pt x="2746778" y="304653"/>
                    <a:pt x="2746778" y="304653"/>
                  </a:cubicBezTo>
                  <a:cubicBezTo>
                    <a:pt x="2754063" y="312003"/>
                    <a:pt x="2754063" y="319323"/>
                    <a:pt x="2746778" y="326673"/>
                  </a:cubicBezTo>
                  <a:cubicBezTo>
                    <a:pt x="2468151" y="623977"/>
                    <a:pt x="2468151" y="623977"/>
                    <a:pt x="2468151" y="623977"/>
                  </a:cubicBezTo>
                  <a:cubicBezTo>
                    <a:pt x="2464444" y="631326"/>
                    <a:pt x="2453453" y="635001"/>
                    <a:pt x="2446040" y="635001"/>
                  </a:cubicBezTo>
                  <a:close/>
                </a:path>
              </a:pathLst>
            </a:custGeom>
            <a:solidFill>
              <a:srgbClr val="AF5819"/>
            </a:solidFill>
            <a:ln w="12700">
              <a:miter/>
            </a:ln>
          </p:spPr>
          <p:txBody>
            <a:bodyPr lIns="45719" rIns="45719"/>
            <a:lstStyle/>
            <a:p>
              <a:endParaRPr sz="1100">
                <a:solidFill>
                  <a:schemeClr val="tx1">
                    <a:lumMod val="50000"/>
                    <a:lumOff val="50000"/>
                  </a:schemeClr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12" name="TextBox 29">
              <a:extLst>
                <a:ext uri="{FF2B5EF4-FFF2-40B4-BE49-F238E27FC236}">
                  <a16:creationId xmlns:a16="http://schemas.microsoft.com/office/drawing/2014/main" id="{E3336B9B-ECCA-C48A-712E-ACDE9C35AADE}"/>
                </a:ext>
              </a:extLst>
            </p:cNvPr>
            <p:cNvSpPr txBox="1"/>
            <p:nvPr/>
          </p:nvSpPr>
          <p:spPr>
            <a:xfrm>
              <a:off x="7043085" y="3248914"/>
              <a:ext cx="904053" cy="5418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1828165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dirty="0">
                  <a:solidFill>
                    <a:schemeClr val="bg1"/>
                  </a:solidFill>
                  <a:latin typeface="华光标题宋_CNKI" panose="02000500000000000000" pitchFamily="2" charset="-122"/>
                  <a:ea typeface="华光标题宋_CNKI" panose="02000500000000000000" pitchFamily="2" charset="-122"/>
                </a:rPr>
                <a:t>1632</a:t>
              </a:r>
              <a:endParaRPr lang="id-ID" sz="2400" b="1" dirty="0">
                <a:solidFill>
                  <a:schemeClr val="bg1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endParaRPr>
            </a:p>
          </p:txBody>
        </p:sp>
        <p:cxnSp>
          <p:nvCxnSpPr>
            <p:cNvPr id="21" name="Straight Connector 39">
              <a:extLst>
                <a:ext uri="{FF2B5EF4-FFF2-40B4-BE49-F238E27FC236}">
                  <a16:creationId xmlns:a16="http://schemas.microsoft.com/office/drawing/2014/main" id="{144BC0EC-AFC3-253A-F9A9-C3007677F550}"/>
                </a:ext>
              </a:extLst>
            </p:cNvPr>
            <p:cNvCxnSpPr/>
            <p:nvPr/>
          </p:nvCxnSpPr>
          <p:spPr>
            <a:xfrm flipV="1">
              <a:off x="7615633" y="3854686"/>
              <a:ext cx="0" cy="693429"/>
            </a:xfrm>
            <a:prstGeom prst="line">
              <a:avLst/>
            </a:prstGeom>
            <a:ln w="38100">
              <a:solidFill>
                <a:srgbClr val="AF5819"/>
              </a:solidFill>
              <a:prstDash val="sysDash"/>
              <a:miter/>
              <a:headEnd type="arrow"/>
            </a:ln>
          </p:spPr>
        </p:cxn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23EAEB70-6E04-3F40-FBD6-FC9CBC9E50BA}"/>
                </a:ext>
              </a:extLst>
            </p:cNvPr>
            <p:cNvGrpSpPr/>
            <p:nvPr/>
          </p:nvGrpSpPr>
          <p:grpSpPr>
            <a:xfrm>
              <a:off x="6758625" y="4658434"/>
              <a:ext cx="2160823" cy="505277"/>
              <a:chOff x="7919324" y="4519984"/>
              <a:chExt cx="1927971" cy="430509"/>
            </a:xfrm>
          </p:grpSpPr>
          <p:sp>
            <p:nvSpPr>
              <p:cNvPr id="30" name="矩形: 圆角 33">
                <a:extLst>
                  <a:ext uri="{FF2B5EF4-FFF2-40B4-BE49-F238E27FC236}">
                    <a16:creationId xmlns:a16="http://schemas.microsoft.com/office/drawing/2014/main" id="{A3CAF92C-8DE3-97A5-502D-93A55BB6D826}"/>
                  </a:ext>
                </a:extLst>
              </p:cNvPr>
              <p:cNvSpPr/>
              <p:nvPr/>
            </p:nvSpPr>
            <p:spPr>
              <a:xfrm>
                <a:off x="7919324" y="4519984"/>
                <a:ext cx="1927971" cy="430509"/>
              </a:xfrm>
              <a:prstGeom prst="roundRect">
                <a:avLst>
                  <a:gd name="adj" fmla="val 50000"/>
                </a:avLst>
              </a:prstGeom>
              <a:solidFill>
                <a:srgbClr val="AF58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TextBox 66">
                <a:extLst>
                  <a:ext uri="{FF2B5EF4-FFF2-40B4-BE49-F238E27FC236}">
                    <a16:creationId xmlns:a16="http://schemas.microsoft.com/office/drawing/2014/main" id="{F65FBB28-4E32-6ADC-80B8-58865E6707E1}"/>
                  </a:ext>
                </a:extLst>
              </p:cNvPr>
              <p:cNvSpPr txBox="1"/>
              <p:nvPr/>
            </p:nvSpPr>
            <p:spPr>
              <a:xfrm>
                <a:off x="7959527" y="4535183"/>
                <a:ext cx="1723549" cy="400110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algn="r"/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出版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《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对话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》</a:t>
                </a:r>
                <a:endParaRPr lang="zh-CN" sz="2000" b="1" dirty="0">
                  <a:solidFill>
                    <a:schemeClr val="bg1"/>
                  </a:solidFill>
                  <a:latin typeface="Times New Roman" panose="02020603050405020304" charset="0"/>
                  <a:ea typeface="思源黑体" panose="020B0400000000000000" charset="-122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0EC8057-5382-D29C-60ED-8043DE16AB75}"/>
              </a:ext>
            </a:extLst>
          </p:cNvPr>
          <p:cNvGrpSpPr/>
          <p:nvPr/>
        </p:nvGrpSpPr>
        <p:grpSpPr>
          <a:xfrm>
            <a:off x="508418" y="3095416"/>
            <a:ext cx="2892361" cy="2068295"/>
            <a:chOff x="508418" y="3095416"/>
            <a:chExt cx="2892361" cy="2068295"/>
          </a:xfrm>
        </p:grpSpPr>
        <p:sp>
          <p:nvSpPr>
            <p:cNvPr id="6" name="Shape 332">
              <a:extLst>
                <a:ext uri="{FF2B5EF4-FFF2-40B4-BE49-F238E27FC236}">
                  <a16:creationId xmlns:a16="http://schemas.microsoft.com/office/drawing/2014/main" id="{564D231D-119B-B98F-5A00-AF8C7F9545BE}"/>
                </a:ext>
              </a:extLst>
            </p:cNvPr>
            <p:cNvSpPr/>
            <p:nvPr/>
          </p:nvSpPr>
          <p:spPr>
            <a:xfrm>
              <a:off x="508418" y="3095416"/>
              <a:ext cx="2892361" cy="723679"/>
            </a:xfrm>
            <a:custGeom>
              <a:avLst/>
              <a:gdLst/>
              <a:ahLst/>
              <a:cxnLst/>
              <a:rect l="0" t="0" r="r" b="b"/>
              <a:pathLst>
                <a:path w="2776294" h="635001">
                  <a:moveTo>
                    <a:pt x="2470189" y="635001"/>
                  </a:moveTo>
                  <a:cubicBezTo>
                    <a:pt x="29324" y="635001"/>
                    <a:pt x="29324" y="635001"/>
                    <a:pt x="29324" y="635001"/>
                  </a:cubicBezTo>
                  <a:cubicBezTo>
                    <a:pt x="14662" y="635001"/>
                    <a:pt x="0" y="623977"/>
                    <a:pt x="0" y="612982"/>
                  </a:cubicBezTo>
                  <a:cubicBezTo>
                    <a:pt x="0" y="18344"/>
                    <a:pt x="0" y="18344"/>
                    <a:pt x="0" y="18344"/>
                  </a:cubicBezTo>
                  <a:cubicBezTo>
                    <a:pt x="0" y="7350"/>
                    <a:pt x="14662" y="0"/>
                    <a:pt x="29324" y="0"/>
                  </a:cubicBezTo>
                  <a:cubicBezTo>
                    <a:pt x="2470189" y="0"/>
                    <a:pt x="2470189" y="0"/>
                    <a:pt x="2470189" y="0"/>
                  </a:cubicBezTo>
                  <a:cubicBezTo>
                    <a:pt x="2481250" y="0"/>
                    <a:pt x="2488581" y="3675"/>
                    <a:pt x="2492182" y="7350"/>
                  </a:cubicBezTo>
                  <a:cubicBezTo>
                    <a:pt x="2770764" y="304653"/>
                    <a:pt x="2770764" y="304653"/>
                    <a:pt x="2770764" y="304653"/>
                  </a:cubicBezTo>
                  <a:cubicBezTo>
                    <a:pt x="2778095" y="312003"/>
                    <a:pt x="2778095" y="319323"/>
                    <a:pt x="2770764" y="326673"/>
                  </a:cubicBezTo>
                  <a:cubicBezTo>
                    <a:pt x="2492182" y="623977"/>
                    <a:pt x="2492182" y="623977"/>
                    <a:pt x="2492182" y="623977"/>
                  </a:cubicBezTo>
                  <a:cubicBezTo>
                    <a:pt x="2488581" y="631326"/>
                    <a:pt x="2481250" y="635001"/>
                    <a:pt x="2470189" y="635001"/>
                  </a:cubicBezTo>
                  <a:close/>
                </a:path>
              </a:pathLst>
            </a:custGeom>
            <a:solidFill>
              <a:srgbClr val="AF5819"/>
            </a:solidFill>
            <a:ln w="12700">
              <a:miter/>
            </a:ln>
          </p:spPr>
          <p:txBody>
            <a:bodyPr lIns="45719" rIns="45719"/>
            <a:lstStyle/>
            <a:p>
              <a:endParaRPr sz="1100">
                <a:solidFill>
                  <a:schemeClr val="tx1">
                    <a:lumMod val="50000"/>
                    <a:lumOff val="50000"/>
                  </a:schemeClr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10" name="TextBox 27">
              <a:extLst>
                <a:ext uri="{FF2B5EF4-FFF2-40B4-BE49-F238E27FC236}">
                  <a16:creationId xmlns:a16="http://schemas.microsoft.com/office/drawing/2014/main" id="{18C6D8E9-FFE9-82AF-9241-7BFCBC64E67B}"/>
                </a:ext>
              </a:extLst>
            </p:cNvPr>
            <p:cNvSpPr txBox="1"/>
            <p:nvPr/>
          </p:nvSpPr>
          <p:spPr>
            <a:xfrm>
              <a:off x="1342648" y="3248914"/>
              <a:ext cx="904053" cy="5418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1828165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dirty="0">
                  <a:solidFill>
                    <a:schemeClr val="bg1"/>
                  </a:solidFill>
                  <a:latin typeface="华光标题宋_CNKI" panose="02000500000000000000" pitchFamily="2" charset="-122"/>
                  <a:ea typeface="华光标题宋_CNKI" panose="02000500000000000000" pitchFamily="2" charset="-122"/>
                </a:rPr>
                <a:t>1610</a:t>
              </a:r>
              <a:endParaRPr lang="id-ID" sz="2400" b="1" dirty="0">
                <a:solidFill>
                  <a:schemeClr val="bg1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endParaRPr>
            </a:p>
          </p:txBody>
        </p:sp>
        <p:cxnSp>
          <p:nvCxnSpPr>
            <p:cNvPr id="14" name="Straight Connector 34">
              <a:extLst>
                <a:ext uri="{FF2B5EF4-FFF2-40B4-BE49-F238E27FC236}">
                  <a16:creationId xmlns:a16="http://schemas.microsoft.com/office/drawing/2014/main" id="{BC0F0C62-F690-ACD9-4485-F73C48C06928}"/>
                </a:ext>
              </a:extLst>
            </p:cNvPr>
            <p:cNvCxnSpPr/>
            <p:nvPr/>
          </p:nvCxnSpPr>
          <p:spPr>
            <a:xfrm flipV="1">
              <a:off x="1748144" y="3854686"/>
              <a:ext cx="0" cy="693429"/>
            </a:xfrm>
            <a:prstGeom prst="line">
              <a:avLst/>
            </a:prstGeom>
            <a:ln w="38100">
              <a:solidFill>
                <a:srgbClr val="AF5819"/>
              </a:solidFill>
              <a:prstDash val="sysDash"/>
              <a:miter/>
              <a:headEnd type="arrow"/>
            </a:ln>
          </p:spPr>
        </p:cxn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D88BDFE-AEA2-CB3C-387A-2608AEFAFF66}"/>
                </a:ext>
              </a:extLst>
            </p:cNvPr>
            <p:cNvGrpSpPr/>
            <p:nvPr/>
          </p:nvGrpSpPr>
          <p:grpSpPr>
            <a:xfrm>
              <a:off x="511620" y="4658434"/>
              <a:ext cx="2546515" cy="505277"/>
              <a:chOff x="2345506" y="4519984"/>
              <a:chExt cx="2272100" cy="430509"/>
            </a:xfrm>
          </p:grpSpPr>
          <p:sp>
            <p:nvSpPr>
              <p:cNvPr id="32" name="矩形: 圆角 35">
                <a:extLst>
                  <a:ext uri="{FF2B5EF4-FFF2-40B4-BE49-F238E27FC236}">
                    <a16:creationId xmlns:a16="http://schemas.microsoft.com/office/drawing/2014/main" id="{984B7ECF-0B09-91DA-570C-0B5159B4D4EB}"/>
                  </a:ext>
                </a:extLst>
              </p:cNvPr>
              <p:cNvSpPr/>
              <p:nvPr/>
            </p:nvSpPr>
            <p:spPr>
              <a:xfrm>
                <a:off x="2420401" y="4519984"/>
                <a:ext cx="2197205" cy="430509"/>
              </a:xfrm>
              <a:prstGeom prst="roundRect">
                <a:avLst>
                  <a:gd name="adj" fmla="val 50000"/>
                </a:avLst>
              </a:prstGeom>
              <a:solidFill>
                <a:srgbClr val="AF58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Box 66">
                <a:extLst>
                  <a:ext uri="{FF2B5EF4-FFF2-40B4-BE49-F238E27FC236}">
                    <a16:creationId xmlns:a16="http://schemas.microsoft.com/office/drawing/2014/main" id="{054DCA45-9E1E-3F20-08B7-CE5D684E38DD}"/>
                  </a:ext>
                </a:extLst>
              </p:cNvPr>
              <p:cNvSpPr txBox="1"/>
              <p:nvPr/>
            </p:nvSpPr>
            <p:spPr>
              <a:xfrm>
                <a:off x="2345506" y="4535183"/>
                <a:ext cx="2236510" cy="400110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algn="r"/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出版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《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星际使者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Times New Roman" panose="02020603050405020304" charset="0"/>
                    <a:ea typeface="思源黑体" panose="020B0400000000000000" charset="-122"/>
                  </a:rPr>
                  <a:t>》</a:t>
                </a:r>
                <a:endParaRPr lang="zh-CN" sz="2000" b="1" dirty="0">
                  <a:solidFill>
                    <a:schemeClr val="bg1"/>
                  </a:solidFill>
                  <a:latin typeface="Times New Roman" panose="02020603050405020304" charset="0"/>
                  <a:ea typeface="思源黑体" panose="020B0400000000000000" charset="-122"/>
                </a:endParaRPr>
              </a:p>
            </p:txBody>
          </p:sp>
        </p:grpSp>
      </p:grpSp>
      <p:pic>
        <p:nvPicPr>
          <p:cNvPr id="42" name="图片 41">
            <a:extLst>
              <a:ext uri="{FF2B5EF4-FFF2-40B4-BE49-F238E27FC236}">
                <a16:creationId xmlns:a16="http://schemas.microsoft.com/office/drawing/2014/main" id="{F9161919-BFEB-1614-E38E-FC1534700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179" y="3930766"/>
            <a:ext cx="3562518" cy="2594702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451975CD-515A-C171-F473-CB4BFA005499}"/>
              </a:ext>
            </a:extLst>
          </p:cNvPr>
          <p:cNvGrpSpPr/>
          <p:nvPr/>
        </p:nvGrpSpPr>
        <p:grpSpPr>
          <a:xfrm>
            <a:off x="7421632" y="1225052"/>
            <a:ext cx="4084261" cy="1912191"/>
            <a:chOff x="7043085" y="2640169"/>
            <a:chExt cx="4090091" cy="2006261"/>
          </a:xfrm>
        </p:grpSpPr>
        <p:sp>
          <p:nvSpPr>
            <p:cNvPr id="3" name="圆角矩形 3">
              <a:extLst>
                <a:ext uri="{FF2B5EF4-FFF2-40B4-BE49-F238E27FC236}">
                  <a16:creationId xmlns:a16="http://schemas.microsoft.com/office/drawing/2014/main" id="{C70E9631-7EEA-EF31-F972-D3B8029C23F3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043085" y="2640169"/>
              <a:ext cx="4090091" cy="1661376"/>
            </a:xfrm>
            <a:prstGeom prst="roundRect">
              <a:avLst>
                <a:gd name="adj" fmla="val 9083"/>
              </a:avLst>
            </a:prstGeom>
            <a:solidFill>
              <a:srgbClr val="FFFFFF"/>
            </a:solidFill>
            <a:ln w="12700">
              <a:solidFill>
                <a:srgbClr val="9A0000"/>
              </a:solidFill>
              <a:round/>
            </a:ln>
          </p:spPr>
          <p:txBody>
            <a:bodyPr anchor="ctr"/>
            <a:lstStyle>
              <a:lvl1pPr lvl="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 algn="ctr"/>
              <a:endParaRPr lang="zh-CN" sz="2000">
                <a:solidFill>
                  <a:srgbClr val="FFFFFF"/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78F4B03-CCB9-FF68-8230-B85CBE1E2059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120053" y="2758538"/>
              <a:ext cx="3961606" cy="18878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lvl="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>
                <a:lnSpc>
                  <a:spcPts val="2560"/>
                </a:lnSpc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        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《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关于托勒密和哥白尼两大世界体系的对话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》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一书使伽利略失去了教廷内的大量支持者，他被命令接受宗教裁判所的审判。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4079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边形 14"/>
          <p:cNvSpPr/>
          <p:nvPr/>
        </p:nvSpPr>
        <p:spPr>
          <a:xfrm>
            <a:off x="8855234" y="0"/>
            <a:ext cx="396160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91" y="171769"/>
            <a:ext cx="2497769" cy="527052"/>
          </a:xfrm>
          <a:prstGeom prst="rect">
            <a:avLst/>
          </a:prstGeom>
        </p:spPr>
      </p:pic>
      <p:sp>
        <p:nvSpPr>
          <p:cNvPr id="17" name="平行四边形 16"/>
          <p:cNvSpPr/>
          <p:nvPr/>
        </p:nvSpPr>
        <p:spPr>
          <a:xfrm>
            <a:off x="-487680" y="0"/>
            <a:ext cx="1364756" cy="817543"/>
          </a:xfrm>
          <a:prstGeom prst="parallelogram">
            <a:avLst/>
          </a:prstGeom>
          <a:solidFill>
            <a:srgbClr val="AF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9"/>
          <p:cNvSpPr txBox="1"/>
          <p:nvPr/>
        </p:nvSpPr>
        <p:spPr>
          <a:xfrm>
            <a:off x="877076" y="109657"/>
            <a:ext cx="5444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/>
              </a:defRPr>
            </a:lvl1pPr>
          </a:lstStyle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 u="none" strike="noStrike" kern="1200" spc="0" baseline="0" dirty="0">
                <a:ln>
                  <a:noFill/>
                </a:ln>
                <a:solidFill>
                  <a:srgbClr val="AF5819"/>
                </a:solidFill>
                <a:latin typeface="Times New Roman" panose="02020603050405020304" charset="0"/>
                <a:ea typeface="思源黑体" panose="020B0400000000000000" charset="-122"/>
              </a:rPr>
              <a:t>伽利略事件</a:t>
            </a:r>
            <a:endParaRPr lang="zh-CN" sz="4000" b="1" u="none" strike="noStrike" kern="1200" spc="0" baseline="0" dirty="0">
              <a:ln>
                <a:noFill/>
              </a:ln>
              <a:solidFill>
                <a:srgbClr val="AF5819"/>
              </a:solidFill>
              <a:latin typeface="Times New Roman" panose="02020603050405020304" charset="0"/>
              <a:ea typeface="思源黑体" panose="020B0400000000000000" charset="-122"/>
            </a:endParaRPr>
          </a:p>
        </p:txBody>
      </p:sp>
      <p:sp>
        <p:nvSpPr>
          <p:cNvPr id="29" name="矩形 28"/>
          <p:cNvSpPr/>
          <p:nvPr/>
        </p:nvSpPr>
        <p:spPr>
          <a:xfrm flipV="1">
            <a:off x="0" y="6748343"/>
            <a:ext cx="4682001" cy="128741"/>
          </a:xfrm>
          <a:prstGeom prst="rect">
            <a:avLst/>
          </a:prstGeom>
          <a:solidFill>
            <a:srgbClr val="AF5819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51975CD-515A-C171-F473-CB4BFA005499}"/>
              </a:ext>
            </a:extLst>
          </p:cNvPr>
          <p:cNvGrpSpPr/>
          <p:nvPr/>
        </p:nvGrpSpPr>
        <p:grpSpPr>
          <a:xfrm>
            <a:off x="1197734" y="1867436"/>
            <a:ext cx="8538693" cy="3618964"/>
            <a:chOff x="7043085" y="2640169"/>
            <a:chExt cx="4090091" cy="3317808"/>
          </a:xfrm>
        </p:grpSpPr>
        <p:sp>
          <p:nvSpPr>
            <p:cNvPr id="3" name="圆角矩形 3">
              <a:extLst>
                <a:ext uri="{FF2B5EF4-FFF2-40B4-BE49-F238E27FC236}">
                  <a16:creationId xmlns:a16="http://schemas.microsoft.com/office/drawing/2014/main" id="{C70E9631-7EEA-EF31-F972-D3B8029C23F3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043085" y="2640169"/>
              <a:ext cx="4090091" cy="3317808"/>
            </a:xfrm>
            <a:prstGeom prst="roundRect">
              <a:avLst>
                <a:gd name="adj" fmla="val 9083"/>
              </a:avLst>
            </a:prstGeom>
            <a:solidFill>
              <a:srgbClr val="FFFFFF"/>
            </a:solidFill>
            <a:ln w="12700">
              <a:solidFill>
                <a:srgbClr val="9A0000"/>
              </a:solidFill>
              <a:round/>
            </a:ln>
          </p:spPr>
          <p:txBody>
            <a:bodyPr anchor="ctr"/>
            <a:lstStyle>
              <a:lvl1pPr lvl="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 algn="ctr"/>
              <a:endParaRPr lang="zh-CN" sz="2000">
                <a:solidFill>
                  <a:srgbClr val="FFFFFF"/>
                </a:solidFill>
                <a:latin typeface="FZShengShiKaiShuS-EB-GB"/>
                <a:ea typeface="FZShengShiKaiShuS-EB-GB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78F4B03-CCB9-FF68-8230-B85CBE1E2059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120053" y="2758538"/>
              <a:ext cx="3961606" cy="31152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lvl="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1pPr>
              <a:lvl2pPr marL="742950" lvl="1" indent="-28575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2pPr>
              <a:lvl3pPr marL="1143000" lvl="2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3pPr>
              <a:lvl4pPr marL="1600200" lvl="3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4pPr>
              <a:lvl5pPr marL="2057400" lvl="4" indent="-228600" defTabSz="1216025"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5pPr>
              <a:lvl6pPr marL="2514600" lvl="5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6pPr>
              <a:lvl7pPr marL="2971800" lvl="6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7pPr>
              <a:lvl8pPr marL="3429000" lvl="7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8pPr>
              <a:lvl9pPr marL="3886200" lvl="8" indent="-228600" defTabSz="1216025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/>
                  <a:ea typeface="宋体" pitchFamily="2" charset="-122"/>
                </a:defRPr>
              </a:lvl9pPr>
            </a:lstStyle>
            <a:p>
              <a:pPr>
                <a:lnSpc>
                  <a:spcPts val="2560"/>
                </a:lnSpc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        伽利略被判有罪，宗教裁判所于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1633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年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6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月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22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日颁布的判决书包含三个主要内容：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  <a:p>
              <a:pPr marL="1028700" lvl="1">
                <a:lnSpc>
                  <a:spcPts val="256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伽利略被认定为“极其可疑的异端”，具体指他持有以下观点：太阳静止不动，位于宇宙中心；地球并非宇宙中心且在运动；在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《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圣经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》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明确反对的情况下，仍持有并为某种观点辩护，认为其可能为真。他被要求“放弃、诅咒并厌恶”这些观点。</a:t>
              </a:r>
              <a:endParaRPr lang="en-US" altLang="zh-CN" dirty="0">
                <a:latin typeface="Times New Roman" panose="02020603050405020304" charset="0"/>
                <a:ea typeface="思源黑体" panose="020B0400000000000000" charset="-122"/>
              </a:endParaRPr>
            </a:p>
            <a:p>
              <a:pPr marL="1028700" lvl="1">
                <a:lnSpc>
                  <a:spcPts val="256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他被判处由宗教裁判所决定期限的正式监禁。但次日此刑罚被减为软禁，伽利略在余生中都处于软禁状态。</a:t>
              </a:r>
            </a:p>
            <a:p>
              <a:pPr marL="1028700" lvl="1">
                <a:lnSpc>
                  <a:spcPts val="256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他的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《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对话</a:t>
              </a:r>
              <a:r>
                <a:rPr lang="en-US" altLang="zh-CN" dirty="0">
                  <a:latin typeface="Times New Roman" panose="02020603050405020304" charset="0"/>
                  <a:ea typeface="思源黑体" panose="020B0400000000000000" charset="-122"/>
                </a:rPr>
                <a:t>》</a:t>
              </a:r>
              <a:r>
                <a:rPr lang="zh-CN" altLang="en-US" dirty="0">
                  <a:latin typeface="Times New Roman" panose="02020603050405020304" charset="0"/>
                  <a:ea typeface="思源黑体" panose="020B0400000000000000" charset="-122"/>
                </a:rPr>
                <a:t>被禁止流传；且在审判中未宣布的一项决定中，他被禁止发表任何作品，包括未来可能撰写的所有著作。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1199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NmMTdiZjYwYTE0N2JiZTY2ZmQwZjRkNjc0ZWQ1ZjMifQ=="/>
</p:tagLst>
</file>

<file path=ppt/theme/theme1.xml><?xml version="1.0" encoding="utf-8"?>
<a:theme xmlns:a="http://schemas.openxmlformats.org/drawingml/2006/main" name="2023国科大融媒体编辑部出品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573</Words>
  <Application>Microsoft Macintosh PowerPoint</Application>
  <PresentationFormat>宽屏</PresentationFormat>
  <Paragraphs>39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等线</vt:lpstr>
      <vt:lpstr>等线 Light</vt:lpstr>
      <vt:lpstr>华光标题宋_CNKI</vt:lpstr>
      <vt:lpstr>FZShengShiKaiShuS-EB-GB</vt:lpstr>
      <vt:lpstr>HiddenHorzOCR</vt:lpstr>
      <vt:lpstr>Arial</vt:lpstr>
      <vt:lpstr>Calibri</vt:lpstr>
      <vt:lpstr>Times New Roman</vt:lpstr>
      <vt:lpstr>2023国科大融媒体编辑部出品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yingkx</cp:lastModifiedBy>
  <cp:revision>6</cp:revision>
  <dcterms:created xsi:type="dcterms:W3CDTF">2023-11-01T11:54:46Z</dcterms:created>
  <dcterms:modified xsi:type="dcterms:W3CDTF">2025-10-09T12:39:32Z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83F5495A32694641804D15F2DB89D9FB_12</vt:lpwstr>
  </property>
  <property fmtid="{D5CDD505-2E9C-101B-9397-08002B2CF9AE}" pid="3" name="KSOProductBuildVer">
    <vt:lpwstr>2052-5.5.0.7954</vt:lpwstr>
  </property>
</Properties>
</file>