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306" r:id="rId2"/>
    <p:sldId id="299" r:id="rId3"/>
    <p:sldId id="300" r:id="rId4"/>
    <p:sldId id="301" r:id="rId5"/>
    <p:sldId id="302" r:id="rId6"/>
    <p:sldId id="303" r:id="rId7"/>
    <p:sldId id="304" r:id="rId8"/>
    <p:sldId id="305" r:id="rId9"/>
  </p:sldIdLst>
  <p:sldSz cx="12192000" cy="6858000"/>
  <p:notesSz cx="6858000" cy="9144000"/>
  <p:embeddedFontLst>
    <p:embeddedFont>
      <p:font typeface="等线" panose="02010600030101010101" pitchFamily="2" charset="-122"/>
      <p:regular r:id="rId10"/>
      <p:bold r:id="rId11"/>
    </p:embeddedFont>
    <p:embeddedFont>
      <p:font typeface="等线 Light" panose="02010600030101010101" pitchFamily="2" charset="-122"/>
      <p:regular r:id="rId12"/>
    </p:embeddedFont>
  </p:embeddedFontLst>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4994"/>
    <a:srgbClr val="6D9FEC"/>
    <a:srgbClr val="9C1B09"/>
    <a:srgbClr val="BFE83C"/>
    <a:srgbClr val="0E65E8"/>
    <a:srgbClr val="E83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9" d="100"/>
          <a:sy n="159" d="100"/>
        </p:scale>
        <p:origin x="30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575445-028D-4A2D-98CE-E4FB7CAC4066}" type="datetimeFigureOut">
              <a:rPr lang="zh-CN" altLang="en-US" smtClean="0"/>
              <a:t>2025/11/2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1F787-F56E-4AEE-B1B4-77628CF23D5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6D62-1771-94AE-A474-E64242035834}"/>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A78FEC12-0608-3F12-9A89-61DAF9C1CEF6}"/>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B6587D0A-6314-F725-CA6E-7B277D223E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1EA8797A-514B-48FE-AF07-4F99762ADD57}"/>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4668EE9B-C6E6-339C-2E71-B8213635A8D8}"/>
              </a:ext>
            </a:extLst>
          </p:cNvPr>
          <p:cNvSpPr txBox="1"/>
          <p:nvPr/>
        </p:nvSpPr>
        <p:spPr>
          <a:xfrm>
            <a:off x="1060623" y="340272"/>
            <a:ext cx="1980029"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构建检索式</a:t>
            </a:r>
          </a:p>
        </p:txBody>
      </p:sp>
      <p:pic>
        <p:nvPicPr>
          <p:cNvPr id="3" name="图片 2">
            <a:extLst>
              <a:ext uri="{FF2B5EF4-FFF2-40B4-BE49-F238E27FC236}">
                <a16:creationId xmlns:a16="http://schemas.microsoft.com/office/drawing/2014/main" id="{92FC3319-468C-CB32-0037-232C8C0DA2B9}"/>
              </a:ext>
            </a:extLst>
          </p:cNvPr>
          <p:cNvPicPr>
            <a:picLocks noChangeAspect="1"/>
          </p:cNvPicPr>
          <p:nvPr/>
        </p:nvPicPr>
        <p:blipFill>
          <a:blip r:embed="rId3"/>
          <a:stretch>
            <a:fillRect/>
          </a:stretch>
        </p:blipFill>
        <p:spPr>
          <a:xfrm>
            <a:off x="3024821" y="1968119"/>
            <a:ext cx="6142355" cy="985025"/>
          </a:xfrm>
          <a:prstGeom prst="rect">
            <a:avLst/>
          </a:prstGeom>
        </p:spPr>
      </p:pic>
      <p:pic>
        <p:nvPicPr>
          <p:cNvPr id="5" name="图片 4">
            <a:extLst>
              <a:ext uri="{FF2B5EF4-FFF2-40B4-BE49-F238E27FC236}">
                <a16:creationId xmlns:a16="http://schemas.microsoft.com/office/drawing/2014/main" id="{BB55AAFA-B53A-1059-1E4F-357AEB4B8022}"/>
              </a:ext>
            </a:extLst>
          </p:cNvPr>
          <p:cNvPicPr>
            <a:picLocks noChangeAspect="1"/>
          </p:cNvPicPr>
          <p:nvPr/>
        </p:nvPicPr>
        <p:blipFill>
          <a:blip r:embed="rId4"/>
          <a:stretch>
            <a:fillRect/>
          </a:stretch>
        </p:blipFill>
        <p:spPr>
          <a:xfrm>
            <a:off x="3458843" y="3414808"/>
            <a:ext cx="5274310" cy="1724025"/>
          </a:xfrm>
          <a:prstGeom prst="rect">
            <a:avLst/>
          </a:prstGeom>
          <a:ln>
            <a:solidFill>
              <a:schemeClr val="tx1"/>
            </a:solidFill>
          </a:ln>
        </p:spPr>
      </p:pic>
      <p:sp>
        <p:nvSpPr>
          <p:cNvPr id="6" name="文本框 5">
            <a:extLst>
              <a:ext uri="{FF2B5EF4-FFF2-40B4-BE49-F238E27FC236}">
                <a16:creationId xmlns:a16="http://schemas.microsoft.com/office/drawing/2014/main" id="{40B1AB36-2E9E-EEB5-701D-D081F15BE6C2}"/>
              </a:ext>
            </a:extLst>
          </p:cNvPr>
          <p:cNvSpPr txBox="1"/>
          <p:nvPr/>
        </p:nvSpPr>
        <p:spPr>
          <a:xfrm>
            <a:off x="779058" y="1321788"/>
            <a:ext cx="10766230" cy="646331"/>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 搜索主题，查找一些相关主题词</a:t>
            </a:r>
            <a:r>
              <a:rPr lang="en-US" altLang="zh-CN" dirty="0">
                <a:latin typeface="Times New Roman" panose="02020603050405020304" pitchFamily="18" charset="0"/>
                <a:ea typeface="宋体" panose="02010600030101010101" pitchFamily="2" charset="-122"/>
                <a:cs typeface="Times New Roman" panose="02020603050405020304" pitchFamily="18" charset="0"/>
              </a:rPr>
              <a:t>fuzzing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industrial control systems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internet of things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iot</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ipv6</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ndp</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network security</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sdn</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vulnerabilities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vulnerability discovery</a:t>
            </a:r>
          </a:p>
        </p:txBody>
      </p:sp>
      <p:sp>
        <p:nvSpPr>
          <p:cNvPr id="8" name="文本框 7">
            <a:extLst>
              <a:ext uri="{FF2B5EF4-FFF2-40B4-BE49-F238E27FC236}">
                <a16:creationId xmlns:a16="http://schemas.microsoft.com/office/drawing/2014/main" id="{3E63F36D-C1DE-9A75-D167-733FCD0C0FF5}"/>
              </a:ext>
            </a:extLst>
          </p:cNvPr>
          <p:cNvSpPr txBox="1"/>
          <p:nvPr/>
        </p:nvSpPr>
        <p:spPr>
          <a:xfrm>
            <a:off x="779058" y="3028490"/>
            <a:ext cx="3723716"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2. </a:t>
            </a:r>
            <a:r>
              <a:rPr lang="zh-CN" altLang="zh-CN" dirty="0">
                <a:latin typeface="宋体" panose="02010600030101010101" pitchFamily="2" charset="-122"/>
                <a:ea typeface="宋体" panose="02010600030101010101" pitchFamily="2" charset="-122"/>
              </a:rPr>
              <a:t>通过</a:t>
            </a:r>
            <a:r>
              <a:rPr lang="en-US" altLang="zh-CN" dirty="0">
                <a:latin typeface="Times New Roman" panose="02020603050405020304" pitchFamily="18" charset="0"/>
                <a:ea typeface="宋体" panose="02010600030101010101" pitchFamily="2" charset="-122"/>
                <a:cs typeface="Times New Roman" panose="02020603050405020304" pitchFamily="18" charset="0"/>
              </a:rPr>
              <a:t>AI</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辅助</a:t>
            </a:r>
            <a:r>
              <a:rPr lang="zh-CN" altLang="zh-CN" dirty="0">
                <a:latin typeface="宋体" panose="02010600030101010101" pitchFamily="2" charset="-122"/>
                <a:ea typeface="宋体" panose="02010600030101010101" pitchFamily="2" charset="-122"/>
              </a:rPr>
              <a:t>，补充一些主题词</a:t>
            </a:r>
            <a:endParaRPr lang="en-US" altLang="zh-CN" dirty="0">
              <a:latin typeface="宋体" panose="02010600030101010101" pitchFamily="2" charset="-122"/>
              <a:ea typeface="宋体" panose="02010600030101010101" pitchFamily="2" charset="-122"/>
            </a:endParaRPr>
          </a:p>
        </p:txBody>
      </p:sp>
      <p:sp>
        <p:nvSpPr>
          <p:cNvPr id="9" name="文本框 8">
            <a:extLst>
              <a:ext uri="{FF2B5EF4-FFF2-40B4-BE49-F238E27FC236}">
                <a16:creationId xmlns:a16="http://schemas.microsoft.com/office/drawing/2014/main" id="{BFA32AA6-E1D6-4CEC-26A7-D87F34BA31CC}"/>
              </a:ext>
            </a:extLst>
          </p:cNvPr>
          <p:cNvSpPr txBox="1"/>
          <p:nvPr/>
        </p:nvSpPr>
        <p:spPr>
          <a:xfrm>
            <a:off x="779058" y="5155819"/>
            <a:ext cx="3126366"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3. </a:t>
            </a:r>
            <a:r>
              <a:rPr lang="zh-CN" altLang="zh-CN" dirty="0">
                <a:latin typeface="宋体" panose="02010600030101010101" pitchFamily="2" charset="-122"/>
                <a:ea typeface="宋体" panose="02010600030101010101" pitchFamily="2" charset="-122"/>
              </a:rPr>
              <a:t>构建检索式并使用通配符</a:t>
            </a:r>
            <a:endParaRPr lang="zh-CN" altLang="en-US" dirty="0">
              <a:latin typeface="宋体" panose="02010600030101010101" pitchFamily="2" charset="-122"/>
              <a:ea typeface="宋体" panose="02010600030101010101" pitchFamily="2" charset="-122"/>
            </a:endParaRPr>
          </a:p>
        </p:txBody>
      </p:sp>
      <p:sp>
        <p:nvSpPr>
          <p:cNvPr id="10" name="文本框 9">
            <a:extLst>
              <a:ext uri="{FF2B5EF4-FFF2-40B4-BE49-F238E27FC236}">
                <a16:creationId xmlns:a16="http://schemas.microsoft.com/office/drawing/2014/main" id="{8E59CD08-C3A3-304D-AFBE-958167249CA7}"/>
              </a:ext>
            </a:extLst>
          </p:cNvPr>
          <p:cNvSpPr txBox="1"/>
          <p:nvPr/>
        </p:nvSpPr>
        <p:spPr>
          <a:xfrm>
            <a:off x="513679" y="5488084"/>
            <a:ext cx="11296988" cy="1384995"/>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TS=(</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("network device*" OR "network equipment" OR router* OR switch* OR firewall* OR "embedded device*" OR "industrial control system*" OR "internet of things" OR IoT OR IPv6 OR NDP OR "software defined network*" OR SDN)</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AND</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("vulnerability discover*" OR "vulnerability mining" OR fuzz* OR "penetration test*" OR "bug finding" OR "static analysis" OR "dynamic analysis" OR </a:t>
            </a:r>
            <a:r>
              <a:rPr lang="en-US" altLang="zh-CN" sz="1200" dirty="0" err="1">
                <a:latin typeface="Times New Roman" panose="02020603050405020304" pitchFamily="18" charset="0"/>
                <a:cs typeface="Times New Roman" panose="02020603050405020304" pitchFamily="18" charset="0"/>
              </a:rPr>
              <a:t>vulnerab</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AND PY=(2015-2024)</a:t>
            </a:r>
            <a:endParaRPr lang="zh-CN" altLang="zh-C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2774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1060623" y="340272"/>
            <a:ext cx="4852610"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检索该领域的重点关注的期刊</a:t>
            </a:r>
          </a:p>
        </p:txBody>
      </p:sp>
      <p:sp>
        <p:nvSpPr>
          <p:cNvPr id="4" name="文本框 3">
            <a:extLst>
              <a:ext uri="{FF2B5EF4-FFF2-40B4-BE49-F238E27FC236}">
                <a16:creationId xmlns:a16="http://schemas.microsoft.com/office/drawing/2014/main" id="{5384AAF4-A56A-6D1C-F3B3-B47EFD4A23D7}"/>
              </a:ext>
            </a:extLst>
          </p:cNvPr>
          <p:cNvSpPr txBox="1"/>
          <p:nvPr/>
        </p:nvSpPr>
        <p:spPr>
          <a:xfrm>
            <a:off x="447506" y="1422098"/>
            <a:ext cx="11296988" cy="1384995"/>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TS=(</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("network device*" OR "network equipment" OR router* OR switch* OR firewall* OR "embedded device*" OR "industrial control system*" OR "internet of things" OR IoT OR IPv6 OR NDP OR "software defined network*" OR SDN)</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AND</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("vulnerability discover*" OR "vulnerability mining" OR </a:t>
            </a:r>
            <a:r>
              <a:rPr lang="en-US" altLang="zh-CN" sz="1200" dirty="0">
                <a:highlight>
                  <a:srgbClr val="FFFF00"/>
                </a:highlight>
                <a:latin typeface="Times New Roman" panose="02020603050405020304" pitchFamily="18" charset="0"/>
                <a:cs typeface="Times New Roman" panose="02020603050405020304" pitchFamily="18" charset="0"/>
              </a:rPr>
              <a:t>fuzz*</a:t>
            </a:r>
            <a:r>
              <a:rPr lang="en-US" altLang="zh-CN" sz="1200" dirty="0">
                <a:latin typeface="Times New Roman" panose="02020603050405020304" pitchFamily="18" charset="0"/>
                <a:cs typeface="Times New Roman" panose="02020603050405020304" pitchFamily="18" charset="0"/>
              </a:rPr>
              <a:t> OR "penetration test*" OR "bug finding" OR "static analysis" OR "dynamic analysis" OR </a:t>
            </a:r>
            <a:r>
              <a:rPr lang="en-US" altLang="zh-CN" sz="1200" dirty="0" err="1">
                <a:latin typeface="Times New Roman" panose="02020603050405020304" pitchFamily="18" charset="0"/>
                <a:cs typeface="Times New Roman" panose="02020603050405020304" pitchFamily="18" charset="0"/>
              </a:rPr>
              <a:t>vulnerab</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t>
            </a:r>
            <a:endParaRPr lang="zh-CN"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AND PY=(2015-2024)</a:t>
            </a:r>
            <a:endParaRPr lang="zh-CN" altLang="zh-CN" sz="12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137D70B-C069-483C-4A97-8A8B03753487}"/>
              </a:ext>
            </a:extLst>
          </p:cNvPr>
          <p:cNvSpPr txBox="1"/>
          <p:nvPr/>
        </p:nvSpPr>
        <p:spPr>
          <a:xfrm>
            <a:off x="799384" y="3400753"/>
            <a:ext cx="4222196" cy="2385268"/>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右图为以上搜索式检索领域重点关注的期刊</a:t>
            </a:r>
            <a:endParaRPr lang="en-US" altLang="zh-CN" sz="1600" b="1" dirty="0">
              <a:latin typeface="宋体" panose="02010600030101010101" pitchFamily="2" charset="-122"/>
              <a:ea typeface="宋体" panose="02010600030101010101" pitchFamily="2" charset="-122"/>
            </a:endParaRPr>
          </a:p>
          <a:p>
            <a:endParaRPr lang="en-US" altLang="zh-CN" sz="7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400" b="1" dirty="0">
                <a:latin typeface="宋体" panose="02010600030101010101" pitchFamily="2" charset="-122"/>
                <a:ea typeface="宋体" panose="02010600030101010101" pitchFamily="2" charset="-122"/>
              </a:rPr>
              <a:t>列表中出现了不相关期刊</a:t>
            </a:r>
            <a:r>
              <a:rPr lang="zh-CN" altLang="en-US" sz="1400" dirty="0">
                <a:latin typeface="宋体" panose="02010600030101010101" pitchFamily="2" charset="-122"/>
                <a:ea typeface="宋体" panose="02010600030101010101" pitchFamily="2" charset="-122"/>
              </a:rPr>
              <a: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IEEE TRANSACTIONS ON FUZZY SYSTEMS</a:t>
            </a:r>
            <a:r>
              <a:rPr lang="zh-CN" altLang="en-US" sz="1400" dirty="0">
                <a:latin typeface="宋体" panose="02010600030101010101" pitchFamily="2" charset="-122"/>
                <a:ea typeface="宋体" panose="02010600030101010101" pitchFamily="2" charset="-122"/>
              </a:rPr>
              <a:t>（模糊系统）和</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ENERGIES</a:t>
            </a:r>
            <a:r>
              <a:rPr lang="zh-CN" altLang="en-US" sz="1400" dirty="0">
                <a:latin typeface="宋体" panose="02010600030101010101" pitchFamily="2" charset="-122"/>
                <a:ea typeface="宋体" panose="02010600030101010101" pitchFamily="2" charset="-122"/>
              </a:rPr>
              <a:t>（能源）</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7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400" b="1" dirty="0">
                <a:latin typeface="宋体" panose="02010600030101010101" pitchFamily="2" charset="-122"/>
                <a:ea typeface="宋体" panose="02010600030101010101" pitchFamily="2" charset="-122"/>
              </a:rPr>
              <a:t>表明检索式关键词过于宽泛</a:t>
            </a:r>
            <a:r>
              <a:rPr lang="zh-CN" altLang="en-US" sz="1400" dirty="0">
                <a:latin typeface="宋体" panose="02010600030101010101" pitchFamily="2" charset="-122"/>
                <a:ea typeface="宋体" panose="02010600030101010101" pitchFamily="2" charset="-122"/>
              </a:rPr>
              <a: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a:t>
            </a:r>
            <a:r>
              <a:rPr lang="en-US" altLang="zh-CN" sz="1400" dirty="0">
                <a:latin typeface="宋体" panose="02010600030101010101" pitchFamily="2" charset="-122"/>
                <a:ea typeface="宋体" panose="02010600030101010101" pitchFamily="2" charset="-122"/>
              </a:rPr>
              <a:t> </a:t>
            </a:r>
            <a:r>
              <a:rPr lang="zh-CN" altLang="en-US" sz="1400" dirty="0">
                <a:latin typeface="宋体" panose="02010600030101010101" pitchFamily="2" charset="-122"/>
                <a:ea typeface="宋体" panose="02010600030101010101" pitchFamily="2" charset="-122"/>
              </a:rPr>
              <a:t>它虽然能匹配到 </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fuzzing</a:t>
            </a:r>
            <a:r>
              <a:rPr lang="zh-CN" altLang="en-US" sz="1400" dirty="0">
                <a:latin typeface="宋体" panose="02010600030101010101" pitchFamily="2" charset="-122"/>
                <a:ea typeface="宋体" panose="02010600030101010101" pitchFamily="2" charset="-122"/>
              </a:rPr>
              <a:t>（模糊测试），但也会匹配到 </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fuzzy</a:t>
            </a:r>
            <a:r>
              <a:rPr lang="zh-CN" altLang="en-US" sz="1400" dirty="0">
                <a:latin typeface="宋体" panose="02010600030101010101" pitchFamily="2" charset="-122"/>
                <a:ea typeface="宋体" panose="02010600030101010101" pitchFamily="2" charset="-122"/>
              </a:rPr>
              <a:t>（模糊逻辑）</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7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400" b="1" dirty="0">
                <a:latin typeface="宋体" panose="02010600030101010101" pitchFamily="2" charset="-122"/>
                <a:ea typeface="宋体" panose="02010600030101010101" pitchFamily="2" charset="-122"/>
              </a:rPr>
              <a:t>解决方法</a:t>
            </a:r>
            <a:r>
              <a:rPr lang="zh-CN" altLang="en-US" sz="1400" dirty="0">
                <a:latin typeface="宋体" panose="02010600030101010101" pitchFamily="2" charset="-122"/>
                <a:ea typeface="宋体" panose="02010600030101010101" pitchFamily="2" charset="-122"/>
              </a:rPr>
              <a:t>：将 </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 </a:t>
            </a:r>
            <a:r>
              <a:rPr lang="zh-CN" altLang="en-US" sz="1400" dirty="0">
                <a:latin typeface="宋体" panose="02010600030101010101" pitchFamily="2" charset="-122"/>
                <a:ea typeface="宋体" panose="02010600030101010101" pitchFamily="2" charset="-122"/>
              </a:rPr>
              <a:t>替换为更精确的关键词：</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 testing</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fuzzing</a:t>
            </a:r>
            <a:r>
              <a:rPr lang="zh-CN" altLang="en-US" sz="1400" dirty="0">
                <a:latin typeface="宋体" panose="02010600030101010101" pitchFamily="2" charset="-122"/>
                <a:ea typeface="宋体" panose="02010600030101010101" pitchFamily="2" charset="-122"/>
              </a:rPr>
              <a:t>（模糊测试）</a:t>
            </a:r>
          </a:p>
        </p:txBody>
      </p:sp>
      <p:grpSp>
        <p:nvGrpSpPr>
          <p:cNvPr id="9" name="组合 8">
            <a:extLst>
              <a:ext uri="{FF2B5EF4-FFF2-40B4-BE49-F238E27FC236}">
                <a16:creationId xmlns:a16="http://schemas.microsoft.com/office/drawing/2014/main" id="{D0FCC25A-7003-60EF-FB48-D3E03132AC76}"/>
              </a:ext>
            </a:extLst>
          </p:cNvPr>
          <p:cNvGrpSpPr/>
          <p:nvPr/>
        </p:nvGrpSpPr>
        <p:grpSpPr>
          <a:xfrm>
            <a:off x="5373457" y="2622427"/>
            <a:ext cx="6295250" cy="3941921"/>
            <a:chOff x="5373457" y="2622427"/>
            <a:chExt cx="6295250" cy="3941921"/>
          </a:xfrm>
        </p:grpSpPr>
        <p:pic>
          <p:nvPicPr>
            <p:cNvPr id="3" name="图片 2">
              <a:extLst>
                <a:ext uri="{FF2B5EF4-FFF2-40B4-BE49-F238E27FC236}">
                  <a16:creationId xmlns:a16="http://schemas.microsoft.com/office/drawing/2014/main" id="{2465FA8C-8318-1566-DE42-2F103C72BCF1}"/>
                </a:ext>
              </a:extLst>
            </p:cNvPr>
            <p:cNvPicPr>
              <a:picLocks noChangeAspect="1"/>
            </p:cNvPicPr>
            <p:nvPr/>
          </p:nvPicPr>
          <p:blipFill>
            <a:blip r:embed="rId3"/>
            <a:stretch>
              <a:fillRect/>
            </a:stretch>
          </p:blipFill>
          <p:spPr>
            <a:xfrm>
              <a:off x="5373457" y="2622427"/>
              <a:ext cx="6295250" cy="3941921"/>
            </a:xfrm>
            <a:prstGeom prst="rect">
              <a:avLst/>
            </a:prstGeom>
          </p:spPr>
        </p:pic>
        <p:sp>
          <p:nvSpPr>
            <p:cNvPr id="7" name="矩形: 圆角 6">
              <a:extLst>
                <a:ext uri="{FF2B5EF4-FFF2-40B4-BE49-F238E27FC236}">
                  <a16:creationId xmlns:a16="http://schemas.microsoft.com/office/drawing/2014/main" id="{66920067-DA92-FC12-5592-B8ABAF37D636}"/>
                </a:ext>
              </a:extLst>
            </p:cNvPr>
            <p:cNvSpPr/>
            <p:nvPr/>
          </p:nvSpPr>
          <p:spPr>
            <a:xfrm>
              <a:off x="5989627" y="3768064"/>
              <a:ext cx="1313299" cy="16569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4F648E97-3A3C-879A-3294-57EE1AE21F1F}"/>
                </a:ext>
              </a:extLst>
            </p:cNvPr>
            <p:cNvSpPr/>
            <p:nvPr/>
          </p:nvSpPr>
          <p:spPr>
            <a:xfrm>
              <a:off x="5995765" y="4924309"/>
              <a:ext cx="405036" cy="16569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3863-BB1F-2776-3BCC-5C6E4E846B0B}"/>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204CA2B7-E3ED-EFF6-D999-34954C0B2BF0}"/>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75E8962B-2B03-A4F3-78D3-05D4594645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6689A1E8-6BBC-57C0-5853-48E9ED70AD22}"/>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5C527441-B112-6BFC-AB94-46CC687FB3F7}"/>
              </a:ext>
            </a:extLst>
          </p:cNvPr>
          <p:cNvSpPr txBox="1"/>
          <p:nvPr/>
        </p:nvSpPr>
        <p:spPr>
          <a:xfrm>
            <a:off x="1060623" y="340272"/>
            <a:ext cx="4852610"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检索该领域的重点关注的期刊</a:t>
            </a:r>
          </a:p>
        </p:txBody>
      </p:sp>
      <p:sp>
        <p:nvSpPr>
          <p:cNvPr id="4" name="文本框 3">
            <a:extLst>
              <a:ext uri="{FF2B5EF4-FFF2-40B4-BE49-F238E27FC236}">
                <a16:creationId xmlns:a16="http://schemas.microsoft.com/office/drawing/2014/main" id="{83A5EF19-8C1D-010F-1018-ADE30AF4A915}"/>
              </a:ext>
            </a:extLst>
          </p:cNvPr>
          <p:cNvSpPr txBox="1"/>
          <p:nvPr/>
        </p:nvSpPr>
        <p:spPr>
          <a:xfrm>
            <a:off x="447506" y="1349866"/>
            <a:ext cx="11296988" cy="1569660"/>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TS=(</a:t>
            </a:r>
          </a:p>
          <a:p>
            <a:r>
              <a:rPr lang="en-US" altLang="zh-CN" sz="1200" dirty="0">
                <a:latin typeface="Times New Roman" panose="02020603050405020304" pitchFamily="18" charset="0"/>
                <a:cs typeface="Times New Roman" panose="02020603050405020304" pitchFamily="18" charset="0"/>
              </a:rPr>
              <a:t>  ("network device*" OR "network equipment" OR router* OR switch* OR firewall* OR "embedded device*" OR "industrial control system*" OR "internet of things" OR IoT OR IPv6 OR NDP OR "software defined network*" OR SDN)</a:t>
            </a:r>
          </a:p>
          <a:p>
            <a:r>
              <a:rPr lang="en-US" altLang="zh-CN" sz="1200" dirty="0">
                <a:latin typeface="Times New Roman" panose="02020603050405020304" pitchFamily="18" charset="0"/>
                <a:cs typeface="Times New Roman" panose="02020603050405020304" pitchFamily="18" charset="0"/>
              </a:rPr>
              <a:t>  AND</a:t>
            </a:r>
          </a:p>
          <a:p>
            <a:r>
              <a:rPr lang="en-US" altLang="zh-CN" sz="1200" dirty="0">
                <a:latin typeface="Times New Roman" panose="02020603050405020304" pitchFamily="18" charset="0"/>
                <a:cs typeface="Times New Roman" panose="02020603050405020304" pitchFamily="18" charset="0"/>
              </a:rPr>
              <a:t>  ("vulnerability discover*" OR "vulnerability mining" OR </a:t>
            </a:r>
            <a:r>
              <a:rPr lang="en-US" altLang="zh-CN" sz="1200" dirty="0">
                <a:highlight>
                  <a:srgbClr val="FFFF00"/>
                </a:highlight>
                <a:latin typeface="Times New Roman" panose="02020603050405020304" pitchFamily="18" charset="0"/>
                <a:cs typeface="Times New Roman" panose="02020603050405020304" pitchFamily="18" charset="0"/>
              </a:rPr>
              <a:t>"fuzzing" OR "fuzz testing" </a:t>
            </a:r>
            <a:r>
              <a:rPr lang="en-US" altLang="zh-CN" sz="1200" dirty="0">
                <a:latin typeface="Times New Roman" panose="02020603050405020304" pitchFamily="18" charset="0"/>
                <a:cs typeface="Times New Roman" panose="02020603050405020304" pitchFamily="18" charset="0"/>
              </a:rPr>
              <a:t>OR "penetration test*" OR "bug finding" OR "static analysis" OR "dynamic analysis" OR </a:t>
            </a:r>
            <a:r>
              <a:rPr lang="en-US" altLang="zh-CN" sz="1200" dirty="0" err="1">
                <a:latin typeface="Times New Roman" panose="02020603050405020304" pitchFamily="18" charset="0"/>
                <a:cs typeface="Times New Roman" panose="02020603050405020304" pitchFamily="18" charset="0"/>
              </a:rPr>
              <a:t>vulnerab</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AND PY=(2015-2024)</a:t>
            </a:r>
          </a:p>
        </p:txBody>
      </p:sp>
      <p:grpSp>
        <p:nvGrpSpPr>
          <p:cNvPr id="12" name="组合 11">
            <a:extLst>
              <a:ext uri="{FF2B5EF4-FFF2-40B4-BE49-F238E27FC236}">
                <a16:creationId xmlns:a16="http://schemas.microsoft.com/office/drawing/2014/main" id="{F11A5579-9418-6E84-9032-375DB1B38303}"/>
              </a:ext>
            </a:extLst>
          </p:cNvPr>
          <p:cNvGrpSpPr/>
          <p:nvPr/>
        </p:nvGrpSpPr>
        <p:grpSpPr>
          <a:xfrm>
            <a:off x="447506" y="3131543"/>
            <a:ext cx="5537973" cy="3102352"/>
            <a:chOff x="447506" y="3478279"/>
            <a:chExt cx="5537973" cy="3102352"/>
          </a:xfrm>
        </p:grpSpPr>
        <p:pic>
          <p:nvPicPr>
            <p:cNvPr id="2" name="图片 1">
              <a:extLst>
                <a:ext uri="{FF2B5EF4-FFF2-40B4-BE49-F238E27FC236}">
                  <a16:creationId xmlns:a16="http://schemas.microsoft.com/office/drawing/2014/main" id="{2866677B-1BBF-D002-2A19-072A3C217E60}"/>
                </a:ext>
              </a:extLst>
            </p:cNvPr>
            <p:cNvPicPr>
              <a:picLocks noChangeAspect="1"/>
            </p:cNvPicPr>
            <p:nvPr/>
          </p:nvPicPr>
          <p:blipFill>
            <a:blip r:embed="rId3"/>
            <a:srcRect r="6267"/>
            <a:stretch>
              <a:fillRect/>
            </a:stretch>
          </p:blipFill>
          <p:spPr>
            <a:xfrm>
              <a:off x="447506" y="3696206"/>
              <a:ext cx="5537973" cy="2884425"/>
            </a:xfrm>
            <a:prstGeom prst="rect">
              <a:avLst/>
            </a:prstGeom>
          </p:spPr>
        </p:pic>
        <p:sp>
          <p:nvSpPr>
            <p:cNvPr id="6" name="文本框 5">
              <a:extLst>
                <a:ext uri="{FF2B5EF4-FFF2-40B4-BE49-F238E27FC236}">
                  <a16:creationId xmlns:a16="http://schemas.microsoft.com/office/drawing/2014/main" id="{64DD288A-7C84-850E-959E-0E7D8AF0B5B3}"/>
                </a:ext>
              </a:extLst>
            </p:cNvPr>
            <p:cNvSpPr txBox="1"/>
            <p:nvPr/>
          </p:nvSpPr>
          <p:spPr>
            <a:xfrm>
              <a:off x="1474631" y="3478279"/>
              <a:ext cx="3483721" cy="338554"/>
            </a:xfrm>
            <a:prstGeom prst="rect">
              <a:avLst/>
            </a:prstGeom>
            <a:noFill/>
          </p:spPr>
          <p:txBody>
            <a:bodyPr wrap="square" rtlCol="0">
              <a:spAutoFit/>
            </a:bodyPr>
            <a:lstStyle/>
            <a:p>
              <a:pPr algn="ctr"/>
              <a:r>
                <a:rPr lang="zh-CN" altLang="en-US" sz="1600" b="1" dirty="0">
                  <a:latin typeface="宋体" panose="02010600030101010101" pitchFamily="2" charset="-122"/>
                  <a:ea typeface="宋体" panose="02010600030101010101" pitchFamily="2" charset="-122"/>
                </a:rPr>
                <a:t>搜索式检索领域重点关注的期刊</a:t>
              </a:r>
              <a:endParaRPr lang="en-US" altLang="zh-CN" sz="1600" b="1" dirty="0">
                <a:latin typeface="宋体" panose="02010600030101010101" pitchFamily="2" charset="-122"/>
                <a:ea typeface="宋体" panose="02010600030101010101" pitchFamily="2" charset="-122"/>
              </a:endParaRPr>
            </a:p>
          </p:txBody>
        </p:sp>
      </p:grpSp>
      <p:graphicFrame>
        <p:nvGraphicFramePr>
          <p:cNvPr id="10" name="表格 9">
            <a:extLst>
              <a:ext uri="{FF2B5EF4-FFF2-40B4-BE49-F238E27FC236}">
                <a16:creationId xmlns:a16="http://schemas.microsoft.com/office/drawing/2014/main" id="{EEEE8F1F-0707-B5DC-177D-3F507FCA7F43}"/>
              </a:ext>
            </a:extLst>
          </p:cNvPr>
          <p:cNvGraphicFramePr>
            <a:graphicFrameLocks noGrp="1"/>
          </p:cNvGraphicFramePr>
          <p:nvPr>
            <p:extLst>
              <p:ext uri="{D42A27DB-BD31-4B8C-83A1-F6EECF244321}">
                <p14:modId xmlns:p14="http://schemas.microsoft.com/office/powerpoint/2010/main" val="1447022223"/>
              </p:ext>
            </p:extLst>
          </p:nvPr>
        </p:nvGraphicFramePr>
        <p:xfrm>
          <a:off x="6409041" y="2864588"/>
          <a:ext cx="5267960" cy="3636263"/>
        </p:xfrm>
        <a:graphic>
          <a:graphicData uri="http://schemas.openxmlformats.org/drawingml/2006/table">
            <a:tbl>
              <a:tblPr firstRow="1" firstCol="1" bandRow="1">
                <a:tableStyleId>{5940675A-B579-460E-94D1-54222C63F5DA}</a:tableStyleId>
              </a:tblPr>
              <a:tblGrid>
                <a:gridCol w="1316990">
                  <a:extLst>
                    <a:ext uri="{9D8B030D-6E8A-4147-A177-3AD203B41FA5}">
                      <a16:colId xmlns:a16="http://schemas.microsoft.com/office/drawing/2014/main" val="2411772523"/>
                    </a:ext>
                  </a:extLst>
                </a:gridCol>
                <a:gridCol w="1316990">
                  <a:extLst>
                    <a:ext uri="{9D8B030D-6E8A-4147-A177-3AD203B41FA5}">
                      <a16:colId xmlns:a16="http://schemas.microsoft.com/office/drawing/2014/main" val="1085778504"/>
                    </a:ext>
                  </a:extLst>
                </a:gridCol>
                <a:gridCol w="1316990">
                  <a:extLst>
                    <a:ext uri="{9D8B030D-6E8A-4147-A177-3AD203B41FA5}">
                      <a16:colId xmlns:a16="http://schemas.microsoft.com/office/drawing/2014/main" val="415597243"/>
                    </a:ext>
                  </a:extLst>
                </a:gridCol>
                <a:gridCol w="1316990">
                  <a:extLst>
                    <a:ext uri="{9D8B030D-6E8A-4147-A177-3AD203B41FA5}">
                      <a16:colId xmlns:a16="http://schemas.microsoft.com/office/drawing/2014/main" val="864478129"/>
                    </a:ext>
                  </a:extLst>
                </a:gridCol>
              </a:tblGrid>
              <a:tr h="227066">
                <a:tc>
                  <a:txBody>
                    <a:bodyPr/>
                    <a:lstStyle/>
                    <a:p>
                      <a:pPr algn="ctr">
                        <a:lnSpc>
                          <a:spcPct val="115000"/>
                        </a:lnSpc>
                        <a:spcAft>
                          <a:spcPts val="800"/>
                        </a:spcAft>
                        <a:buNone/>
                      </a:pPr>
                      <a:r>
                        <a:rPr lang="zh-CN" sz="1100" kern="100" dirty="0">
                          <a:effectLst/>
                        </a:rPr>
                        <a:t>期刊名称</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zh-CN" sz="1100" kern="100" dirty="0">
                          <a:effectLst/>
                        </a:rPr>
                        <a:t>发文量</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JCR</a:t>
                      </a:r>
                      <a:r>
                        <a:rPr lang="zh-CN" sz="1100" kern="100">
                          <a:effectLst/>
                        </a:rPr>
                        <a:t>分区</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zh-CN" sz="1100" kern="100">
                          <a:effectLst/>
                        </a:rPr>
                        <a:t>影响因子</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99537331"/>
                  </a:ext>
                </a:extLst>
              </a:tr>
              <a:tr h="401771">
                <a:tc>
                  <a:txBody>
                    <a:bodyPr/>
                    <a:lstStyle/>
                    <a:p>
                      <a:pPr algn="ctr">
                        <a:lnSpc>
                          <a:spcPct val="115000"/>
                        </a:lnSpc>
                        <a:spcAft>
                          <a:spcPts val="800"/>
                        </a:spcAft>
                        <a:buNone/>
                      </a:pPr>
                      <a:r>
                        <a:rPr lang="en-US" sz="1100" kern="100" dirty="0">
                          <a:effectLst/>
                        </a:rPr>
                        <a:t>IEEE INTERNET OF THINGS JOURNAL</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141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9.9</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65219787"/>
                  </a:ext>
                </a:extLst>
              </a:tr>
              <a:tr h="815255">
                <a:tc>
                  <a:txBody>
                    <a:bodyPr/>
                    <a:lstStyle/>
                    <a:p>
                      <a:pPr algn="ctr">
                        <a:lnSpc>
                          <a:spcPct val="115000"/>
                        </a:lnSpc>
                        <a:spcAft>
                          <a:spcPts val="800"/>
                        </a:spcAft>
                        <a:buNone/>
                      </a:pPr>
                      <a:r>
                        <a:rPr lang="en-US" sz="1100" kern="100" dirty="0">
                          <a:effectLst/>
                        </a:rPr>
                        <a:t>IEEE TRANSACTIONS ON INDUSTRIAL INFORMATICS</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92</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Q1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8.9</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18447710"/>
                  </a:ext>
                </a:extLst>
              </a:tr>
              <a:tr h="401771">
                <a:tc>
                  <a:txBody>
                    <a:bodyPr/>
                    <a:lstStyle/>
                    <a:p>
                      <a:pPr algn="ctr">
                        <a:lnSpc>
                          <a:spcPct val="115000"/>
                        </a:lnSpc>
                        <a:spcAft>
                          <a:spcPts val="800"/>
                        </a:spcAft>
                        <a:buNone/>
                      </a:pPr>
                      <a:r>
                        <a:rPr lang="en-US" sz="1100" kern="100">
                          <a:effectLst/>
                        </a:rPr>
                        <a:t>INTERNET OF THINGS</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86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Q1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7.6</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63712310"/>
                  </a:ext>
                </a:extLst>
              </a:tr>
              <a:tr h="401771">
                <a:tc>
                  <a:txBody>
                    <a:bodyPr/>
                    <a:lstStyle/>
                    <a:p>
                      <a:pPr algn="ctr">
                        <a:lnSpc>
                          <a:spcPct val="115000"/>
                        </a:lnSpc>
                        <a:spcAft>
                          <a:spcPts val="800"/>
                        </a:spcAft>
                        <a:buNone/>
                      </a:pPr>
                      <a:r>
                        <a:rPr lang="en-US" sz="1100" kern="100">
                          <a:effectLst/>
                        </a:rPr>
                        <a:t>COMPUTER NETWORKS</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98</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Q1</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5.4</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48439800"/>
                  </a:ext>
                </a:extLst>
              </a:tr>
              <a:tr h="401771">
                <a:tc>
                  <a:txBody>
                    <a:bodyPr/>
                    <a:lstStyle/>
                    <a:p>
                      <a:pPr algn="ctr">
                        <a:lnSpc>
                          <a:spcPct val="115000"/>
                        </a:lnSpc>
                        <a:spcAft>
                          <a:spcPts val="800"/>
                        </a:spcAft>
                        <a:buNone/>
                      </a:pPr>
                      <a:r>
                        <a:rPr lang="en-US" sz="1100" kern="100">
                          <a:effectLst/>
                        </a:rPr>
                        <a:t>COMPUTERS &amp; SECURITY</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119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4.6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07252639"/>
                  </a:ext>
                </a:extLst>
              </a:tr>
              <a:tr h="195029">
                <a:tc>
                  <a:txBody>
                    <a:bodyPr/>
                    <a:lstStyle/>
                    <a:p>
                      <a:pPr algn="ctr">
                        <a:lnSpc>
                          <a:spcPct val="115000"/>
                        </a:lnSpc>
                        <a:spcAft>
                          <a:spcPts val="800"/>
                        </a:spcAft>
                        <a:buNone/>
                      </a:pPr>
                      <a:r>
                        <a:rPr lang="en-US" sz="1100" kern="100">
                          <a:effectLst/>
                        </a:rPr>
                        <a:t>IEEE ACCESS</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493</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3.6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55535396"/>
                  </a:ext>
                </a:extLst>
              </a:tr>
              <a:tr h="195029">
                <a:tc>
                  <a:txBody>
                    <a:bodyPr/>
                    <a:lstStyle/>
                    <a:p>
                      <a:pPr algn="ctr">
                        <a:lnSpc>
                          <a:spcPct val="115000"/>
                        </a:lnSpc>
                        <a:spcAft>
                          <a:spcPts val="800"/>
                        </a:spcAft>
                        <a:buNone/>
                      </a:pPr>
                      <a:r>
                        <a:rPr lang="en-US" sz="1100" kern="100">
                          <a:effectLst/>
                        </a:rPr>
                        <a:t>SENSORS</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329</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3.5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27553040"/>
                  </a:ext>
                </a:extLst>
              </a:tr>
              <a:tr h="401771">
                <a:tc>
                  <a:txBody>
                    <a:bodyPr/>
                    <a:lstStyle/>
                    <a:p>
                      <a:pPr algn="ctr">
                        <a:lnSpc>
                          <a:spcPct val="115000"/>
                        </a:lnSpc>
                        <a:spcAft>
                          <a:spcPts val="800"/>
                        </a:spcAft>
                        <a:buNone/>
                      </a:pPr>
                      <a:r>
                        <a:rPr lang="en-US" sz="1100" kern="100">
                          <a:effectLst/>
                        </a:rPr>
                        <a:t>APPLIED SCIENCES-BASEL</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110</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Q2</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3.5</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8363044"/>
                  </a:ext>
                </a:extLst>
              </a:tr>
              <a:tr h="195029">
                <a:tc>
                  <a:txBody>
                    <a:bodyPr/>
                    <a:lstStyle/>
                    <a:p>
                      <a:pPr algn="ctr">
                        <a:lnSpc>
                          <a:spcPct val="115000"/>
                        </a:lnSpc>
                        <a:spcAft>
                          <a:spcPts val="800"/>
                        </a:spcAft>
                        <a:buNone/>
                      </a:pPr>
                      <a:r>
                        <a:rPr lang="en-US" sz="1100" kern="100">
                          <a:effectLst/>
                        </a:rPr>
                        <a:t>ELECTRONICS</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165</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a:effectLst/>
                        </a:rPr>
                        <a:t>Q1</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US" sz="1100" kern="100" dirty="0">
                          <a:effectLst/>
                        </a:rPr>
                        <a:t>4.6</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48229142"/>
                  </a:ext>
                </a:extLst>
              </a:tr>
            </a:tbl>
          </a:graphicData>
        </a:graphic>
      </p:graphicFrame>
      <p:sp>
        <p:nvSpPr>
          <p:cNvPr id="11" name="文本框 10">
            <a:extLst>
              <a:ext uri="{FF2B5EF4-FFF2-40B4-BE49-F238E27FC236}">
                <a16:creationId xmlns:a16="http://schemas.microsoft.com/office/drawing/2014/main" id="{E4FC951F-E801-8C85-E5F0-79F824E41F3A}"/>
              </a:ext>
            </a:extLst>
          </p:cNvPr>
          <p:cNvSpPr txBox="1"/>
          <p:nvPr/>
        </p:nvSpPr>
        <p:spPr>
          <a:xfrm>
            <a:off x="7375231" y="2526034"/>
            <a:ext cx="3483721" cy="338554"/>
          </a:xfrm>
          <a:prstGeom prst="rect">
            <a:avLst/>
          </a:prstGeom>
          <a:noFill/>
        </p:spPr>
        <p:txBody>
          <a:bodyPr wrap="square" rtlCol="0">
            <a:spAutoFit/>
          </a:bodyPr>
          <a:lstStyle/>
          <a:p>
            <a:pPr algn="ctr"/>
            <a:r>
              <a:rPr lang="en-US" altLang="zh-CN" sz="1600" b="1" dirty="0">
                <a:latin typeface="宋体" panose="02010600030101010101" pitchFamily="2" charset="-122"/>
                <a:ea typeface="宋体" panose="02010600030101010101" pitchFamily="2" charset="-122"/>
              </a:rPr>
              <a:t>AI</a:t>
            </a:r>
            <a:r>
              <a:rPr lang="zh-CN" altLang="en-US" sz="1600" b="1" dirty="0">
                <a:latin typeface="宋体" panose="02010600030101010101" pitchFamily="2" charset="-122"/>
                <a:ea typeface="宋体" panose="02010600030101010101" pitchFamily="2" charset="-122"/>
              </a:rPr>
              <a:t>综合分区和影响因子的排名</a:t>
            </a:r>
            <a:endParaRPr lang="en-US" altLang="zh-CN" sz="16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7590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2EAAA-BAA2-3B71-403E-4C476F519AF6}"/>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5D46697E-23C6-3930-90EB-00EBFA040857}"/>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6176DE13-5BDA-91B8-BB8E-2E417AADC2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D8099BC8-25D1-AB27-BE93-01A47D5DF925}"/>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13D971AF-29F0-A9C9-B35C-A39B72002726}"/>
              </a:ext>
            </a:extLst>
          </p:cNvPr>
          <p:cNvSpPr txBox="1"/>
          <p:nvPr/>
        </p:nvSpPr>
        <p:spPr>
          <a:xfrm>
            <a:off x="1060623" y="340272"/>
            <a:ext cx="4852610"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检索该领域的重点关注的会议</a:t>
            </a:r>
          </a:p>
        </p:txBody>
      </p:sp>
      <p:sp>
        <p:nvSpPr>
          <p:cNvPr id="4" name="文本框 3">
            <a:extLst>
              <a:ext uri="{FF2B5EF4-FFF2-40B4-BE49-F238E27FC236}">
                <a16:creationId xmlns:a16="http://schemas.microsoft.com/office/drawing/2014/main" id="{F1757F35-3CD3-3B51-1F45-0D874B0D1347}"/>
              </a:ext>
            </a:extLst>
          </p:cNvPr>
          <p:cNvSpPr txBox="1"/>
          <p:nvPr/>
        </p:nvSpPr>
        <p:spPr>
          <a:xfrm>
            <a:off x="447506" y="1507976"/>
            <a:ext cx="11296988" cy="1569660"/>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TS=(</a:t>
            </a:r>
          </a:p>
          <a:p>
            <a:r>
              <a:rPr lang="en-US" altLang="zh-CN" sz="1200" dirty="0">
                <a:latin typeface="Times New Roman" panose="02020603050405020304" pitchFamily="18" charset="0"/>
                <a:cs typeface="Times New Roman" panose="02020603050405020304" pitchFamily="18" charset="0"/>
              </a:rPr>
              <a:t>  ("network device*" OR "network equipment" OR router* OR switch* OR firewall* OR "embedded device*" OR "industrial control system*" OR "internet of things" OR IoT OR IPv6 OR NDP OR "software defined network*" OR SDN)</a:t>
            </a:r>
          </a:p>
          <a:p>
            <a:r>
              <a:rPr lang="en-US" altLang="zh-CN" sz="1200" dirty="0">
                <a:latin typeface="Times New Roman" panose="02020603050405020304" pitchFamily="18" charset="0"/>
                <a:cs typeface="Times New Roman" panose="02020603050405020304" pitchFamily="18" charset="0"/>
              </a:rPr>
              <a:t>  AND</a:t>
            </a:r>
          </a:p>
          <a:p>
            <a:r>
              <a:rPr lang="en-US" altLang="zh-CN" sz="1200" dirty="0">
                <a:latin typeface="Times New Roman" panose="02020603050405020304" pitchFamily="18" charset="0"/>
                <a:cs typeface="Times New Roman" panose="02020603050405020304" pitchFamily="18" charset="0"/>
              </a:rPr>
              <a:t>  ("vulnerability discover*" OR "vulnerability mining" OR </a:t>
            </a:r>
            <a:r>
              <a:rPr lang="en-US" altLang="zh-CN" sz="1200" dirty="0">
                <a:highlight>
                  <a:srgbClr val="FFFF00"/>
                </a:highlight>
                <a:latin typeface="Times New Roman" panose="02020603050405020304" pitchFamily="18" charset="0"/>
                <a:cs typeface="Times New Roman" panose="02020603050405020304" pitchFamily="18" charset="0"/>
              </a:rPr>
              <a:t>"fuzzing" OR "fuzz testing" </a:t>
            </a:r>
            <a:r>
              <a:rPr lang="en-US" altLang="zh-CN" sz="1200" dirty="0">
                <a:latin typeface="Times New Roman" panose="02020603050405020304" pitchFamily="18" charset="0"/>
                <a:cs typeface="Times New Roman" panose="02020603050405020304" pitchFamily="18" charset="0"/>
              </a:rPr>
              <a:t>OR "penetration test*" OR "bug finding" OR "static analysis" OR "dynamic analysis" OR </a:t>
            </a:r>
            <a:r>
              <a:rPr lang="en-US" altLang="zh-CN" sz="1200" dirty="0" err="1">
                <a:latin typeface="Times New Roman" panose="02020603050405020304" pitchFamily="18" charset="0"/>
                <a:cs typeface="Times New Roman" panose="02020603050405020304" pitchFamily="18" charset="0"/>
              </a:rPr>
              <a:t>vulnerab</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AND PY=(2015-2024)</a:t>
            </a:r>
          </a:p>
        </p:txBody>
      </p:sp>
      <p:pic>
        <p:nvPicPr>
          <p:cNvPr id="3" name="图片 2">
            <a:extLst>
              <a:ext uri="{FF2B5EF4-FFF2-40B4-BE49-F238E27FC236}">
                <a16:creationId xmlns:a16="http://schemas.microsoft.com/office/drawing/2014/main" id="{97E4B915-E4E1-80D2-A879-F9F4959D4203}"/>
              </a:ext>
            </a:extLst>
          </p:cNvPr>
          <p:cNvPicPr>
            <a:picLocks noChangeAspect="1"/>
          </p:cNvPicPr>
          <p:nvPr/>
        </p:nvPicPr>
        <p:blipFill>
          <a:blip r:embed="rId3"/>
          <a:srcRect l="3769" t="11983" r="4157"/>
          <a:stretch>
            <a:fillRect/>
          </a:stretch>
        </p:blipFill>
        <p:spPr>
          <a:xfrm>
            <a:off x="5858001" y="3512850"/>
            <a:ext cx="5997228" cy="2553113"/>
          </a:xfrm>
          <a:prstGeom prst="rect">
            <a:avLst/>
          </a:prstGeom>
        </p:spPr>
      </p:pic>
      <p:sp>
        <p:nvSpPr>
          <p:cNvPr id="6" name="文本框 5">
            <a:extLst>
              <a:ext uri="{FF2B5EF4-FFF2-40B4-BE49-F238E27FC236}">
                <a16:creationId xmlns:a16="http://schemas.microsoft.com/office/drawing/2014/main" id="{FE725D0A-FC40-CFD1-FF0C-B9F55D85BBFD}"/>
              </a:ext>
            </a:extLst>
          </p:cNvPr>
          <p:cNvSpPr txBox="1"/>
          <p:nvPr/>
        </p:nvSpPr>
        <p:spPr>
          <a:xfrm>
            <a:off x="3983811" y="2997878"/>
            <a:ext cx="3483721" cy="338554"/>
          </a:xfrm>
          <a:prstGeom prst="rect">
            <a:avLst/>
          </a:prstGeom>
          <a:noFill/>
        </p:spPr>
        <p:txBody>
          <a:bodyPr wrap="square" rtlCol="0">
            <a:spAutoFit/>
          </a:bodyPr>
          <a:lstStyle/>
          <a:p>
            <a:pPr algn="ctr"/>
            <a:r>
              <a:rPr lang="zh-CN" altLang="en-US" sz="1600" b="1" dirty="0">
                <a:latin typeface="宋体" panose="02010600030101010101" pitchFamily="2" charset="-122"/>
                <a:ea typeface="宋体" panose="02010600030101010101" pitchFamily="2" charset="-122"/>
              </a:rPr>
              <a:t>搜索式检索领域重点关注的会议</a:t>
            </a:r>
            <a:endParaRPr lang="en-US" altLang="zh-CN" sz="1600" b="1"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AF5E6A2D-C556-28A4-BAC5-FB57B37DBD3F}"/>
              </a:ext>
            </a:extLst>
          </p:cNvPr>
          <p:cNvPicPr>
            <a:picLocks noChangeAspect="1"/>
          </p:cNvPicPr>
          <p:nvPr/>
        </p:nvPicPr>
        <p:blipFill>
          <a:blip r:embed="rId4"/>
          <a:srcRect l="5281" t="35885" r="4194"/>
          <a:stretch>
            <a:fillRect/>
          </a:stretch>
        </p:blipFill>
        <p:spPr>
          <a:xfrm>
            <a:off x="498156" y="3595229"/>
            <a:ext cx="5227516" cy="2388353"/>
          </a:xfrm>
          <a:prstGeom prst="rect">
            <a:avLst/>
          </a:prstGeom>
        </p:spPr>
      </p:pic>
    </p:spTree>
    <p:extLst>
      <p:ext uri="{BB962C8B-B14F-4D97-AF65-F5344CB8AC3E}">
        <p14:creationId xmlns:p14="http://schemas.microsoft.com/office/powerpoint/2010/main" val="1923108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02BD-970A-8102-92A9-B1C494AB9476}"/>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0EFC9899-8125-80DA-ACB3-FE0AE36CAFD7}"/>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19340518-435A-8DC2-9CB2-1B72BBD143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4C969CF9-6946-7894-15BB-114B111AF2FB}"/>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5954B558-43C2-8E5B-DBDB-1D8FCF9C4B81}"/>
              </a:ext>
            </a:extLst>
          </p:cNvPr>
          <p:cNvSpPr txBox="1"/>
          <p:nvPr/>
        </p:nvSpPr>
        <p:spPr>
          <a:xfrm>
            <a:off x="1060623" y="340272"/>
            <a:ext cx="3775393"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检索该领域的研究前沿</a:t>
            </a:r>
          </a:p>
        </p:txBody>
      </p:sp>
      <p:sp>
        <p:nvSpPr>
          <p:cNvPr id="4" name="文本框 3">
            <a:extLst>
              <a:ext uri="{FF2B5EF4-FFF2-40B4-BE49-F238E27FC236}">
                <a16:creationId xmlns:a16="http://schemas.microsoft.com/office/drawing/2014/main" id="{FF015A93-A296-F314-C9FD-16511E1503E3}"/>
              </a:ext>
            </a:extLst>
          </p:cNvPr>
          <p:cNvSpPr txBox="1"/>
          <p:nvPr/>
        </p:nvSpPr>
        <p:spPr>
          <a:xfrm>
            <a:off x="447506" y="1315992"/>
            <a:ext cx="11296988" cy="1569660"/>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TS=(</a:t>
            </a:r>
          </a:p>
          <a:p>
            <a:r>
              <a:rPr lang="en-US" altLang="zh-CN" sz="1200" dirty="0">
                <a:latin typeface="Times New Roman" panose="02020603050405020304" pitchFamily="18" charset="0"/>
                <a:cs typeface="Times New Roman" panose="02020603050405020304" pitchFamily="18" charset="0"/>
              </a:rPr>
              <a:t>  ("network device*" OR "network equipment" OR router* OR switch* OR firewall* OR "embedded device*" OR "industrial control system*" OR "internet of things" OR IoT OR IPv6 OR NDP OR "software defined network*" OR SDN)</a:t>
            </a:r>
          </a:p>
          <a:p>
            <a:r>
              <a:rPr lang="en-US" altLang="zh-CN" sz="1200" dirty="0">
                <a:latin typeface="Times New Roman" panose="02020603050405020304" pitchFamily="18" charset="0"/>
                <a:cs typeface="Times New Roman" panose="02020603050405020304" pitchFamily="18" charset="0"/>
              </a:rPr>
              <a:t>  AND</a:t>
            </a:r>
          </a:p>
          <a:p>
            <a:r>
              <a:rPr lang="en-US" altLang="zh-CN" sz="1200" dirty="0">
                <a:latin typeface="Times New Roman" panose="02020603050405020304" pitchFamily="18" charset="0"/>
                <a:cs typeface="Times New Roman" panose="02020603050405020304" pitchFamily="18" charset="0"/>
              </a:rPr>
              <a:t>  ("vulnerability discover*" OR "vulnerability mining" OR "fuzzing" OR "fuzz testing" OR "penetration test*" OR "bug finding" OR "static analysis" OR "dynamic analysis" OR </a:t>
            </a:r>
            <a:r>
              <a:rPr lang="en-US" altLang="zh-CN" sz="1200" dirty="0" err="1">
                <a:latin typeface="Times New Roman" panose="02020603050405020304" pitchFamily="18" charset="0"/>
                <a:cs typeface="Times New Roman" panose="02020603050405020304" pitchFamily="18" charset="0"/>
              </a:rPr>
              <a:t>vulnerab</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AND PY=(</a:t>
            </a:r>
            <a:r>
              <a:rPr lang="en-US" altLang="zh-CN" sz="1200" dirty="0">
                <a:highlight>
                  <a:srgbClr val="FFFF00"/>
                </a:highlight>
                <a:latin typeface="Times New Roman" panose="02020603050405020304" pitchFamily="18" charset="0"/>
                <a:cs typeface="Times New Roman" panose="02020603050405020304" pitchFamily="18" charset="0"/>
              </a:rPr>
              <a:t>2020-2025</a:t>
            </a:r>
            <a:r>
              <a:rPr lang="en-US" altLang="zh-CN" sz="1200" dirty="0">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8E0DE26F-02C7-3627-220B-C436F4B4656F}"/>
              </a:ext>
            </a:extLst>
          </p:cNvPr>
          <p:cNvSpPr txBox="1"/>
          <p:nvPr/>
        </p:nvSpPr>
        <p:spPr>
          <a:xfrm>
            <a:off x="3529359" y="2716375"/>
            <a:ext cx="5133281" cy="338554"/>
          </a:xfrm>
          <a:prstGeom prst="rect">
            <a:avLst/>
          </a:prstGeom>
          <a:noFill/>
        </p:spPr>
        <p:txBody>
          <a:bodyPr wrap="square" rtlCol="0">
            <a:spAutoFit/>
          </a:bodyPr>
          <a:lstStyle/>
          <a:p>
            <a:pPr algn="ctr"/>
            <a:r>
              <a:rPr lang="zh-CN" altLang="en-US" sz="1600" b="1" dirty="0">
                <a:latin typeface="宋体" panose="02010600030101010101" pitchFamily="2" charset="-122"/>
                <a:ea typeface="宋体" panose="02010600030101010101" pitchFamily="2" charset="-122"/>
              </a:rPr>
              <a:t>通过“被引频次”排序</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快速定位高影响力前沿工作</a:t>
            </a:r>
            <a:endParaRPr lang="en-US" altLang="zh-CN" sz="1600" b="1" dirty="0">
              <a:latin typeface="宋体" panose="02010600030101010101" pitchFamily="2" charset="-122"/>
              <a:ea typeface="宋体" panose="02010600030101010101" pitchFamily="2" charset="-122"/>
            </a:endParaRPr>
          </a:p>
        </p:txBody>
      </p:sp>
      <p:pic>
        <p:nvPicPr>
          <p:cNvPr id="2" name="图片 1">
            <a:extLst>
              <a:ext uri="{FF2B5EF4-FFF2-40B4-BE49-F238E27FC236}">
                <a16:creationId xmlns:a16="http://schemas.microsoft.com/office/drawing/2014/main" id="{D3E945EC-5CFF-7BD7-9951-5A307F672AE0}"/>
              </a:ext>
            </a:extLst>
          </p:cNvPr>
          <p:cNvPicPr>
            <a:picLocks noChangeAspect="1"/>
          </p:cNvPicPr>
          <p:nvPr/>
        </p:nvPicPr>
        <p:blipFill>
          <a:blip r:embed="rId3"/>
          <a:srcRect l="5303" t="-24" r="5562" b="-1"/>
          <a:stretch>
            <a:fillRect/>
          </a:stretch>
        </p:blipFill>
        <p:spPr>
          <a:xfrm>
            <a:off x="97508" y="3202569"/>
            <a:ext cx="3938837" cy="3221591"/>
          </a:xfrm>
          <a:prstGeom prst="rect">
            <a:avLst/>
          </a:prstGeom>
          <a:ln>
            <a:solidFill>
              <a:schemeClr val="tx1"/>
            </a:solidFill>
          </a:ln>
        </p:spPr>
      </p:pic>
      <p:pic>
        <p:nvPicPr>
          <p:cNvPr id="5" name="图片 4">
            <a:extLst>
              <a:ext uri="{FF2B5EF4-FFF2-40B4-BE49-F238E27FC236}">
                <a16:creationId xmlns:a16="http://schemas.microsoft.com/office/drawing/2014/main" id="{6299ADBD-6D3C-4064-0DF8-F332EFB813FA}"/>
              </a:ext>
            </a:extLst>
          </p:cNvPr>
          <p:cNvPicPr>
            <a:picLocks noChangeAspect="1"/>
          </p:cNvPicPr>
          <p:nvPr/>
        </p:nvPicPr>
        <p:blipFill>
          <a:blip r:embed="rId4"/>
          <a:srcRect l="3990" r="1710"/>
          <a:stretch>
            <a:fillRect/>
          </a:stretch>
        </p:blipFill>
        <p:spPr>
          <a:xfrm>
            <a:off x="4036345" y="3202568"/>
            <a:ext cx="4222788" cy="3221592"/>
          </a:xfrm>
          <a:prstGeom prst="rect">
            <a:avLst/>
          </a:prstGeom>
          <a:ln>
            <a:solidFill>
              <a:schemeClr val="tx1"/>
            </a:solidFill>
          </a:ln>
        </p:spPr>
      </p:pic>
      <p:pic>
        <p:nvPicPr>
          <p:cNvPr id="8" name="图片 7">
            <a:extLst>
              <a:ext uri="{FF2B5EF4-FFF2-40B4-BE49-F238E27FC236}">
                <a16:creationId xmlns:a16="http://schemas.microsoft.com/office/drawing/2014/main" id="{AACD3393-01FA-11D1-3F30-76C98040DF33}"/>
              </a:ext>
            </a:extLst>
          </p:cNvPr>
          <p:cNvPicPr>
            <a:picLocks noChangeAspect="1"/>
          </p:cNvPicPr>
          <p:nvPr/>
        </p:nvPicPr>
        <p:blipFill>
          <a:blip r:embed="rId5"/>
          <a:srcRect l="6921" r="8345"/>
          <a:stretch>
            <a:fillRect/>
          </a:stretch>
        </p:blipFill>
        <p:spPr>
          <a:xfrm>
            <a:off x="8259133" y="3202568"/>
            <a:ext cx="3835359" cy="3221592"/>
          </a:xfrm>
          <a:prstGeom prst="rect">
            <a:avLst/>
          </a:prstGeom>
          <a:ln>
            <a:solidFill>
              <a:schemeClr val="tx1"/>
            </a:solidFill>
          </a:ln>
        </p:spPr>
      </p:pic>
    </p:spTree>
    <p:extLst>
      <p:ext uri="{BB962C8B-B14F-4D97-AF65-F5344CB8AC3E}">
        <p14:creationId xmlns:p14="http://schemas.microsoft.com/office/powerpoint/2010/main" val="1240372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F116D-CFE6-0875-F926-79E9E11C09D2}"/>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EC164CE9-1C1A-4201-ED48-567C02CE96EC}"/>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B92C2E43-A61C-68E8-B143-5C1B8154E2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D44614F6-02AD-C7F1-3D01-16A310414B43}"/>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CD61B08E-AAC7-1A9B-CAEF-2E905DBB071D}"/>
              </a:ext>
            </a:extLst>
          </p:cNvPr>
          <p:cNvSpPr txBox="1"/>
          <p:nvPr/>
        </p:nvSpPr>
        <p:spPr>
          <a:xfrm>
            <a:off x="1060623" y="340272"/>
            <a:ext cx="3775393"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检索该领域的研究前沿</a:t>
            </a:r>
          </a:p>
        </p:txBody>
      </p:sp>
      <p:sp>
        <p:nvSpPr>
          <p:cNvPr id="6" name="文本框 5">
            <a:extLst>
              <a:ext uri="{FF2B5EF4-FFF2-40B4-BE49-F238E27FC236}">
                <a16:creationId xmlns:a16="http://schemas.microsoft.com/office/drawing/2014/main" id="{207FCA6C-2E4B-7D61-9383-32CEEF6C54A2}"/>
              </a:ext>
            </a:extLst>
          </p:cNvPr>
          <p:cNvSpPr txBox="1"/>
          <p:nvPr/>
        </p:nvSpPr>
        <p:spPr>
          <a:xfrm>
            <a:off x="263888" y="1802068"/>
            <a:ext cx="5133281" cy="369332"/>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rPr>
              <a:t>使用“分析检索结果”功能</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发现热点主题</a:t>
            </a:r>
            <a:endParaRPr lang="en-US" altLang="zh-CN" b="1"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D3613B80-CF23-6601-03A8-F6EC7B46EBC5}"/>
              </a:ext>
            </a:extLst>
          </p:cNvPr>
          <p:cNvPicPr>
            <a:picLocks noChangeAspect="1"/>
          </p:cNvPicPr>
          <p:nvPr/>
        </p:nvPicPr>
        <p:blipFill>
          <a:blip r:embed="rId3"/>
          <a:srcRect l="4558" t="13411" r="3723"/>
          <a:stretch>
            <a:fillRect/>
          </a:stretch>
        </p:blipFill>
        <p:spPr>
          <a:xfrm>
            <a:off x="7227672" y="1496179"/>
            <a:ext cx="4837497" cy="2581498"/>
          </a:xfrm>
          <a:prstGeom prst="rect">
            <a:avLst/>
          </a:prstGeom>
        </p:spPr>
      </p:pic>
      <p:pic>
        <p:nvPicPr>
          <p:cNvPr id="7" name="图片 6">
            <a:extLst>
              <a:ext uri="{FF2B5EF4-FFF2-40B4-BE49-F238E27FC236}">
                <a16:creationId xmlns:a16="http://schemas.microsoft.com/office/drawing/2014/main" id="{C8F82DAF-37E6-4F78-C539-2E15CDBA0B9E}"/>
              </a:ext>
            </a:extLst>
          </p:cNvPr>
          <p:cNvPicPr>
            <a:picLocks noChangeAspect="1"/>
          </p:cNvPicPr>
          <p:nvPr/>
        </p:nvPicPr>
        <p:blipFill>
          <a:blip r:embed="rId4"/>
          <a:srcRect l="5514" t="10872" r="1682" b="2150"/>
          <a:stretch>
            <a:fillRect/>
          </a:stretch>
        </p:blipFill>
        <p:spPr>
          <a:xfrm>
            <a:off x="7227673" y="4149162"/>
            <a:ext cx="4837497" cy="2581499"/>
          </a:xfrm>
          <a:prstGeom prst="rect">
            <a:avLst/>
          </a:prstGeom>
        </p:spPr>
      </p:pic>
      <p:sp>
        <p:nvSpPr>
          <p:cNvPr id="9" name="文本框 8">
            <a:extLst>
              <a:ext uri="{FF2B5EF4-FFF2-40B4-BE49-F238E27FC236}">
                <a16:creationId xmlns:a16="http://schemas.microsoft.com/office/drawing/2014/main" id="{1108B2F9-BB59-DC09-8285-C3DE3848FEE8}"/>
              </a:ext>
            </a:extLst>
          </p:cNvPr>
          <p:cNvSpPr txBox="1"/>
          <p:nvPr/>
        </p:nvSpPr>
        <p:spPr>
          <a:xfrm>
            <a:off x="871442" y="2387141"/>
            <a:ext cx="5371844" cy="3524042"/>
          </a:xfrm>
          <a:prstGeom prst="rect">
            <a:avLst/>
          </a:prstGeom>
          <a:noFill/>
        </p:spPr>
        <p:txBody>
          <a:bodyPr wrap="square" rtlCol="0">
            <a:spAutoFit/>
          </a:body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AI</a:t>
            </a:r>
            <a:r>
              <a:rPr lang="zh-CN" altLang="zh-CN" sz="1600" dirty="0">
                <a:latin typeface="宋体" panose="02010600030101010101" pitchFamily="2" charset="-122"/>
                <a:ea typeface="宋体" panose="02010600030101010101" pitchFamily="2" charset="-122"/>
              </a:rPr>
              <a:t>总结前</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a:t>
            </a:r>
            <a:r>
              <a:rPr lang="zh-CN" altLang="zh-CN" sz="1600" dirty="0">
                <a:latin typeface="宋体" panose="02010600030101010101" pitchFamily="2" charset="-122"/>
                <a:ea typeface="宋体" panose="02010600030101010101" pitchFamily="2" charset="-122"/>
              </a:rPr>
              <a:t>被引论文</a:t>
            </a:r>
            <a:r>
              <a:rPr lang="zh-CN" altLang="en-US" sz="1600" dirty="0">
                <a:latin typeface="宋体" panose="02010600030101010101" pitchFamily="2" charset="-122"/>
                <a:ea typeface="宋体" panose="02010600030101010101" pitchFamily="2" charset="-122"/>
              </a:rPr>
              <a:t>、</a:t>
            </a:r>
            <a:r>
              <a:rPr lang="zh-CN" altLang="zh-CN" sz="1600" dirty="0">
                <a:latin typeface="宋体" panose="02010600030101010101" pitchFamily="2" charset="-122"/>
                <a:ea typeface="宋体" panose="02010600030101010101" pitchFamily="2" charset="-122"/>
              </a:rPr>
              <a:t>分析结果中的主题</a:t>
            </a:r>
            <a:r>
              <a:rPr lang="zh-CN" altLang="en-US" sz="1600" dirty="0">
                <a:latin typeface="宋体" panose="02010600030101010101" pitchFamily="2" charset="-122"/>
                <a:ea typeface="宋体" panose="02010600030101010101" pitchFamily="2" charset="-122"/>
              </a:rPr>
              <a:t>：</a:t>
            </a:r>
            <a:endParaRPr lang="en-US" altLang="zh-CN" sz="1600" dirty="0">
              <a:latin typeface="宋体" panose="02010600030101010101" pitchFamily="2" charset="-122"/>
              <a:ea typeface="宋体" panose="02010600030101010101" pitchFamily="2" charset="-122"/>
            </a:endParaRPr>
          </a:p>
          <a:p>
            <a:endParaRPr lang="en-US" altLang="zh-CN" sz="700" dirty="0">
              <a:latin typeface="宋体" panose="02010600030101010101" pitchFamily="2" charset="-122"/>
              <a:ea typeface="宋体" panose="02010600030101010101" pitchFamily="2" charset="-122"/>
            </a:endParaRPr>
          </a:p>
          <a:p>
            <a:pPr marL="342900" indent="-342900">
              <a:buFont typeface="+mj-lt"/>
              <a:buAutoNum type="arabicPeriod"/>
            </a:pPr>
            <a:r>
              <a:rPr lang="zh-CN" altLang="en-US" sz="1400" b="1" dirty="0">
                <a:latin typeface="宋体" panose="02010600030101010101" pitchFamily="2" charset="-122"/>
                <a:ea typeface="宋体" panose="02010600030101010101" pitchFamily="2" charset="-122"/>
              </a:rPr>
              <a:t>能化的漏洞挖掘与威胁检测</a:t>
            </a:r>
            <a:r>
              <a:rPr lang="zh-CN" altLang="en-US" sz="1400" dirty="0">
                <a:latin typeface="宋体" panose="02010600030101010101" pitchFamily="2" charset="-122"/>
                <a:ea typeface="宋体" panose="02010600030101010101" pitchFamily="2" charset="-122"/>
              </a:rPr>
              <a:t>：研究如何利用联邦学习在保护隐私的前提下协同训练更强大的威胁检测模型，以及如何防御针对</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AI</a:t>
            </a:r>
            <a:r>
              <a:rPr lang="zh-CN" altLang="en-US" sz="1400" dirty="0">
                <a:latin typeface="宋体" panose="02010600030101010101" pitchFamily="2" charset="-122"/>
                <a:ea typeface="宋体" panose="02010600030101010101" pitchFamily="2" charset="-122"/>
              </a:rPr>
              <a:t>模型本身的攻击（如数据投毒、后门攻击），是当下的尖端前沿</a:t>
            </a:r>
            <a:endParaRPr lang="en-US" altLang="zh-CN" sz="1400" dirty="0">
              <a:latin typeface="宋体" panose="02010600030101010101" pitchFamily="2" charset="-122"/>
              <a:ea typeface="宋体" panose="02010600030101010101" pitchFamily="2" charset="-122"/>
            </a:endParaRPr>
          </a:p>
          <a:p>
            <a:pPr marL="342900" indent="-342900">
              <a:buFont typeface="+mj-lt"/>
              <a:buAutoNum type="arabicPeriod"/>
            </a:pPr>
            <a:endParaRPr lang="zh-CN" altLang="en-US" sz="600" dirty="0">
              <a:latin typeface="宋体" panose="02010600030101010101" pitchFamily="2" charset="-122"/>
              <a:ea typeface="宋体" panose="02010600030101010101" pitchFamily="2" charset="-122"/>
            </a:endParaRPr>
          </a:p>
          <a:p>
            <a:pPr marL="342900" indent="-342900">
              <a:buFont typeface="+mj-lt"/>
              <a:buAutoNum type="arabicPeriod"/>
            </a:pPr>
            <a:r>
              <a:rPr lang="zh-CN" altLang="en-US" sz="1400" b="1" dirty="0">
                <a:latin typeface="宋体" panose="02010600030101010101" pitchFamily="2" charset="-122"/>
                <a:ea typeface="宋体" panose="02010600030101010101" pitchFamily="2" charset="-122"/>
              </a:rPr>
              <a:t>面向特定垂直领域的高可信安全架构</a:t>
            </a:r>
            <a:r>
              <a:rPr lang="zh-CN" altLang="en-US" sz="1400" dirty="0">
                <a:latin typeface="宋体" panose="02010600030101010101" pitchFamily="2" charset="-122"/>
                <a:ea typeface="宋体" panose="02010600030101010101" pitchFamily="2" charset="-122"/>
              </a:rPr>
              <a:t>：在车联网、工控系统、智能电网等场景下，设计兼顾实时性、可靠性和安全性的解决方案，特别是基于区块链的可信身份管理和数据溯源</a:t>
            </a:r>
            <a:endParaRPr lang="en-US" altLang="zh-CN" sz="1400" dirty="0">
              <a:latin typeface="宋体" panose="02010600030101010101" pitchFamily="2" charset="-122"/>
              <a:ea typeface="宋体" panose="02010600030101010101" pitchFamily="2" charset="-122"/>
            </a:endParaRPr>
          </a:p>
          <a:p>
            <a:pPr marL="342900" indent="-342900">
              <a:buFont typeface="+mj-lt"/>
              <a:buAutoNum type="arabicPeriod"/>
            </a:pPr>
            <a:endParaRPr lang="zh-CN" altLang="en-US" sz="600" dirty="0">
              <a:latin typeface="宋体" panose="02010600030101010101" pitchFamily="2" charset="-122"/>
              <a:ea typeface="宋体" panose="02010600030101010101" pitchFamily="2" charset="-122"/>
            </a:endParaRPr>
          </a:p>
          <a:p>
            <a:pPr marL="342900" indent="-342900">
              <a:buFont typeface="+mj-lt"/>
              <a:buAutoNum type="arabicPeriod"/>
            </a:pPr>
            <a:r>
              <a:rPr lang="zh-CN" altLang="en-US" sz="1400" b="1" dirty="0">
                <a:latin typeface="宋体" panose="02010600030101010101" pitchFamily="2" charset="-122"/>
                <a:ea typeface="宋体" panose="02010600030101010101" pitchFamily="2" charset="-122"/>
              </a:rPr>
              <a:t>边缘环境下的数据安全与隐私保护</a:t>
            </a:r>
            <a:r>
              <a:rPr lang="zh-CN" altLang="en-US" sz="1400" dirty="0">
                <a:latin typeface="宋体" panose="02010600030101010101" pitchFamily="2" charset="-122"/>
                <a:ea typeface="宋体" panose="02010600030101010101" pitchFamily="2" charset="-122"/>
              </a:rPr>
              <a:t>：随着计算向边缘迁移，研究如何在资源受限的边缘设备上实现高效的同态加密、差分隐私和安全的联邦学习，成为紧迫课题</a:t>
            </a:r>
            <a:endParaRPr lang="en-US" altLang="zh-CN" sz="1400" dirty="0">
              <a:latin typeface="宋体" panose="02010600030101010101" pitchFamily="2" charset="-122"/>
              <a:ea typeface="宋体" panose="02010600030101010101" pitchFamily="2" charset="-122"/>
            </a:endParaRPr>
          </a:p>
          <a:p>
            <a:pPr marL="342900" indent="-342900">
              <a:buFont typeface="+mj-lt"/>
              <a:buAutoNum type="arabicPeriod"/>
            </a:pPr>
            <a:endParaRPr lang="zh-CN" altLang="en-US" sz="600" dirty="0">
              <a:latin typeface="宋体" panose="02010600030101010101" pitchFamily="2" charset="-122"/>
              <a:ea typeface="宋体" panose="02010600030101010101" pitchFamily="2" charset="-122"/>
            </a:endParaRPr>
          </a:p>
          <a:p>
            <a:pPr marL="342900" indent="-342900">
              <a:buFont typeface="+mj-lt"/>
              <a:buAutoNum type="arabicPeriod"/>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6G</a:t>
            </a:r>
            <a:r>
              <a:rPr lang="zh-CN" altLang="en-US" sz="1400" b="1" dirty="0">
                <a:latin typeface="宋体" panose="02010600030101010101" pitchFamily="2" charset="-122"/>
                <a:ea typeface="宋体" panose="02010600030101010101" pitchFamily="2" charset="-122"/>
              </a:rPr>
              <a:t>与新型网络架构的主动安全</a:t>
            </a:r>
            <a:r>
              <a:rPr lang="zh-CN" altLang="en-US" sz="1400" dirty="0">
                <a:latin typeface="宋体" panose="02010600030101010101" pitchFamily="2" charset="-122"/>
                <a:ea typeface="宋体" panose="02010600030101010101" pitchFamily="2" charset="-122"/>
              </a:rPr>
              <a:t>：在标准制定初期就深度融入安全设计，研究针对太赫兹通信、内生</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AI</a:t>
            </a:r>
            <a:r>
              <a:rPr lang="zh-CN" altLang="en-US" sz="1400" dirty="0">
                <a:latin typeface="宋体" panose="02010600030101010101" pitchFamily="2" charset="-122"/>
                <a:ea typeface="宋体" panose="02010600030101010101" pitchFamily="2" charset="-122"/>
              </a:rPr>
              <a:t>等新技术的漏洞挖掘与防御方案</a:t>
            </a:r>
          </a:p>
        </p:txBody>
      </p:sp>
    </p:spTree>
    <p:extLst>
      <p:ext uri="{BB962C8B-B14F-4D97-AF65-F5344CB8AC3E}">
        <p14:creationId xmlns:p14="http://schemas.microsoft.com/office/powerpoint/2010/main" val="2689703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EB368-38BE-90A0-A40E-68F168D33BB3}"/>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E00E9015-23A1-57F2-7A01-D3F7B1A2D9B9}"/>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2EE83181-0BB0-4DB7-0D55-268E900885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56310168-B00F-8D57-1677-872DB3C33998}"/>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A5164C9A-C430-AC23-B9FC-98B8456A1ACC}"/>
              </a:ext>
            </a:extLst>
          </p:cNvPr>
          <p:cNvSpPr txBox="1"/>
          <p:nvPr/>
        </p:nvSpPr>
        <p:spPr>
          <a:xfrm>
            <a:off x="1060623" y="340272"/>
            <a:ext cx="4134465"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检索该领域的相关预印本</a:t>
            </a:r>
          </a:p>
        </p:txBody>
      </p:sp>
      <p:pic>
        <p:nvPicPr>
          <p:cNvPr id="2" name="图片 1">
            <a:extLst>
              <a:ext uri="{FF2B5EF4-FFF2-40B4-BE49-F238E27FC236}">
                <a16:creationId xmlns:a16="http://schemas.microsoft.com/office/drawing/2014/main" id="{EB36AE3A-74FA-54D7-93D6-1A6F5EBE0F61}"/>
              </a:ext>
            </a:extLst>
          </p:cNvPr>
          <p:cNvPicPr>
            <a:picLocks noChangeAspect="1"/>
          </p:cNvPicPr>
          <p:nvPr/>
        </p:nvPicPr>
        <p:blipFill>
          <a:blip r:embed="rId3"/>
          <a:srcRect l="12208" t="92" r="6924" b="2858"/>
          <a:stretch>
            <a:fillRect/>
          </a:stretch>
        </p:blipFill>
        <p:spPr>
          <a:xfrm>
            <a:off x="884379" y="2604504"/>
            <a:ext cx="4265195" cy="2655486"/>
          </a:xfrm>
          <a:prstGeom prst="rect">
            <a:avLst/>
          </a:prstGeom>
          <a:ln>
            <a:solidFill>
              <a:schemeClr val="tx1"/>
            </a:solidFill>
          </a:ln>
        </p:spPr>
      </p:pic>
      <p:pic>
        <p:nvPicPr>
          <p:cNvPr id="4" name="图片 3">
            <a:extLst>
              <a:ext uri="{FF2B5EF4-FFF2-40B4-BE49-F238E27FC236}">
                <a16:creationId xmlns:a16="http://schemas.microsoft.com/office/drawing/2014/main" id="{0A63A572-5F4D-621A-DBD8-41B776C0E3F8}"/>
              </a:ext>
            </a:extLst>
          </p:cNvPr>
          <p:cNvPicPr>
            <a:picLocks noChangeAspect="1"/>
          </p:cNvPicPr>
          <p:nvPr/>
        </p:nvPicPr>
        <p:blipFill>
          <a:blip r:embed="rId4"/>
          <a:srcRect l="3426" r="2703"/>
          <a:stretch>
            <a:fillRect/>
          </a:stretch>
        </p:blipFill>
        <p:spPr>
          <a:xfrm>
            <a:off x="5578627" y="2776886"/>
            <a:ext cx="5819231" cy="2310723"/>
          </a:xfrm>
          <a:prstGeom prst="rect">
            <a:avLst/>
          </a:prstGeom>
          <a:ln>
            <a:solidFill>
              <a:schemeClr val="tx1"/>
            </a:solidFill>
          </a:ln>
        </p:spPr>
      </p:pic>
      <p:sp>
        <p:nvSpPr>
          <p:cNvPr id="5" name="矩形: 圆角 4">
            <a:extLst>
              <a:ext uri="{FF2B5EF4-FFF2-40B4-BE49-F238E27FC236}">
                <a16:creationId xmlns:a16="http://schemas.microsoft.com/office/drawing/2014/main" id="{961724FF-9DEE-D4D8-0138-90F062A41A76}"/>
              </a:ext>
            </a:extLst>
          </p:cNvPr>
          <p:cNvSpPr/>
          <p:nvPr/>
        </p:nvSpPr>
        <p:spPr>
          <a:xfrm>
            <a:off x="1521995" y="2695074"/>
            <a:ext cx="770021" cy="20453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77210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85CB8-5C95-031C-B7AE-21FB7CAA150A}"/>
            </a:ext>
          </a:extLst>
        </p:cNvPr>
        <p:cNvGrpSpPr/>
        <p:nvPr/>
      </p:nvGrpSpPr>
      <p:grpSpPr>
        <a:xfrm>
          <a:off x="0" y="0"/>
          <a:ext cx="0" cy="0"/>
          <a:chOff x="0" y="0"/>
          <a:chExt cx="0" cy="0"/>
        </a:xfrm>
      </p:grpSpPr>
      <p:sp>
        <p:nvSpPr>
          <p:cNvPr id="81" name="矩形 80">
            <a:extLst>
              <a:ext uri="{FF2B5EF4-FFF2-40B4-BE49-F238E27FC236}">
                <a16:creationId xmlns:a16="http://schemas.microsoft.com/office/drawing/2014/main" id="{88CCF1F2-1DFA-5308-C315-427807537BF5}"/>
              </a:ext>
            </a:extLst>
          </p:cNvPr>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8" name="图片 87">
            <a:extLst>
              <a:ext uri="{FF2B5EF4-FFF2-40B4-BE49-F238E27FC236}">
                <a16:creationId xmlns:a16="http://schemas.microsoft.com/office/drawing/2014/main" id="{DDD31383-412A-D702-5D30-D20D3EA0DA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sp>
        <p:nvSpPr>
          <p:cNvPr id="93" name="等腰三角形 92">
            <a:extLst>
              <a:ext uri="{FF2B5EF4-FFF2-40B4-BE49-F238E27FC236}">
                <a16:creationId xmlns:a16="http://schemas.microsoft.com/office/drawing/2014/main" id="{1B900F31-C740-0C92-043E-9E5290D7EFB4}"/>
              </a:ext>
            </a:extLst>
          </p:cNvPr>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a:extLst>
              <a:ext uri="{FF2B5EF4-FFF2-40B4-BE49-F238E27FC236}">
                <a16:creationId xmlns:a16="http://schemas.microsoft.com/office/drawing/2014/main" id="{0C511AE4-2A04-D883-45B3-E7F79317A396}"/>
              </a:ext>
            </a:extLst>
          </p:cNvPr>
          <p:cNvSpPr txBox="1"/>
          <p:nvPr/>
        </p:nvSpPr>
        <p:spPr>
          <a:xfrm>
            <a:off x="1060623" y="340272"/>
            <a:ext cx="4493538" cy="523220"/>
          </a:xfrm>
          <a:prstGeom prst="rect">
            <a:avLst/>
          </a:prstGeom>
          <a:noFill/>
        </p:spPr>
        <p:txBody>
          <a:bodyPr wrap="none" rtlCol="0">
            <a:spAutoFit/>
          </a:bodyPr>
          <a:lstStyle/>
          <a:p>
            <a:r>
              <a:rPr lang="zh-CN" altLang="en-US" sz="2800" b="1" dirty="0">
                <a:solidFill>
                  <a:schemeClr val="bg1"/>
                </a:solidFill>
                <a:latin typeface="Times New Roman" panose="02020603050405020304" charset="0"/>
                <a:ea typeface="思源黑体" panose="020B0400000000000000" charset="-122"/>
              </a:rPr>
              <a:t>检索该领域的相关学位论文</a:t>
            </a:r>
          </a:p>
        </p:txBody>
      </p:sp>
      <p:pic>
        <p:nvPicPr>
          <p:cNvPr id="2" name="图片 1">
            <a:extLst>
              <a:ext uri="{FF2B5EF4-FFF2-40B4-BE49-F238E27FC236}">
                <a16:creationId xmlns:a16="http://schemas.microsoft.com/office/drawing/2014/main" id="{FAC9E30D-ABF1-D315-447B-17C098E1697E}"/>
              </a:ext>
            </a:extLst>
          </p:cNvPr>
          <p:cNvPicPr>
            <a:picLocks noChangeAspect="1"/>
          </p:cNvPicPr>
          <p:nvPr/>
        </p:nvPicPr>
        <p:blipFill>
          <a:blip r:embed="rId3"/>
          <a:srcRect l="2834" r="4239"/>
          <a:stretch>
            <a:fillRect/>
          </a:stretch>
        </p:blipFill>
        <p:spPr>
          <a:xfrm>
            <a:off x="1015665" y="2364589"/>
            <a:ext cx="10160669" cy="1411170"/>
          </a:xfrm>
          <a:prstGeom prst="rect">
            <a:avLst/>
          </a:prstGeom>
        </p:spPr>
      </p:pic>
      <p:sp>
        <p:nvSpPr>
          <p:cNvPr id="4" name="文本框 3">
            <a:extLst>
              <a:ext uri="{FF2B5EF4-FFF2-40B4-BE49-F238E27FC236}">
                <a16:creationId xmlns:a16="http://schemas.microsoft.com/office/drawing/2014/main" id="{414267C6-8FA5-B097-7DB9-E81E46FAFE21}"/>
              </a:ext>
            </a:extLst>
          </p:cNvPr>
          <p:cNvSpPr txBox="1"/>
          <p:nvPr/>
        </p:nvSpPr>
        <p:spPr>
          <a:xfrm>
            <a:off x="2261322" y="4110016"/>
            <a:ext cx="7669354" cy="130805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以上</a:t>
            </a:r>
            <a:r>
              <a:rPr lang="zh-CN" altLang="zh-CN" dirty="0">
                <a:latin typeface="宋体" panose="02010600030101010101" pitchFamily="2" charset="-122"/>
                <a:ea typeface="宋体" panose="02010600030101010101" pitchFamily="2" charset="-122"/>
              </a:rPr>
              <a:t>文献类型里面没有学位论文</a:t>
            </a:r>
            <a:endParaRPr lang="en-US" altLang="zh-CN"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endParaRPr lang="en-US" altLang="zh-CN" sz="7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Web of Science (WOS) </a:t>
            </a:r>
            <a:r>
              <a:rPr lang="zh-CN" altLang="zh-CN" dirty="0">
                <a:latin typeface="宋体" panose="02010600030101010101" pitchFamily="2" charset="-122"/>
                <a:ea typeface="宋体" panose="02010600030101010101" pitchFamily="2" charset="-122"/>
              </a:rPr>
              <a:t>的核心数据库主要收录高质量的学术期刊、会议</a:t>
            </a:r>
            <a:r>
              <a:rPr lang="zh-CN" altLang="en-US" dirty="0">
                <a:latin typeface="宋体" panose="02010600030101010101" pitchFamily="2" charset="-122"/>
                <a:ea typeface="宋体" panose="02010600030101010101" pitchFamily="2" charset="-122"/>
              </a:rPr>
              <a:t>录</a:t>
            </a:r>
            <a:r>
              <a:rPr lang="zh-CN" altLang="zh-CN" dirty="0">
                <a:latin typeface="宋体" panose="02010600030101010101" pitchFamily="2" charset="-122"/>
                <a:ea typeface="宋体" panose="02010600030101010101" pitchFamily="2" charset="-122"/>
              </a:rPr>
              <a:t>和部分书籍</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学位论文（博士、硕士论文）通常不在其核心收录范围之内</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350173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NmMTdiZjYwYTE0N2JiZTY2ZmQwZjRkNjc0ZWQ1ZjMifQ=="/>
</p:tagLst>
</file>

<file path=ppt/theme/theme1.xml><?xml version="1.0" encoding="utf-8"?>
<a:theme xmlns:a="http://schemas.openxmlformats.org/drawingml/2006/main" name="2023国科大融媒体编辑部出品">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83C25"/>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1078</TotalTime>
  <Words>1022</Words>
  <Application>Microsoft Office PowerPoint</Application>
  <PresentationFormat>宽屏</PresentationFormat>
  <Paragraphs>105</Paragraphs>
  <Slides>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vt:i4>
      </vt:variant>
    </vt:vector>
  </HeadingPairs>
  <TitlesOfParts>
    <vt:vector size="14" baseType="lpstr">
      <vt:lpstr>宋体</vt:lpstr>
      <vt:lpstr>Arial</vt:lpstr>
      <vt:lpstr>等线 Light</vt:lpstr>
      <vt:lpstr>等线</vt:lpstr>
      <vt:lpstr>Times New Roman</vt:lpstr>
      <vt:lpstr>2023国科大融媒体编辑部出品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John li</dc:creator>
  <cp:lastModifiedBy>John li</cp:lastModifiedBy>
  <cp:revision>16</cp:revision>
  <dcterms:created xsi:type="dcterms:W3CDTF">2023-11-01T11:45:10Z</dcterms:created>
  <dcterms:modified xsi:type="dcterms:W3CDTF">2025-11-03T06:40:37Z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EDE6118D48D44CE9A3860662E9472E6E_12</vt:lpwstr>
  </property>
  <property fmtid="{D5CDD505-2E9C-101B-9397-08002B2CF9AE}" pid="3" name="KSOProductBuildVer">
    <vt:lpwstr>2052-5.5.0.7954</vt:lpwstr>
  </property>
</Properties>
</file>